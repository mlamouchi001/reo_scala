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Présentation du projet BSY_REO : la migration en Scala et Spark des trois chaînes Talend REO : AJUST, MYREO et COVID. Déroulé : le contexte, l’architecture commune, chaque chaîne en détail, la conception transverse, le lancement et l’exploitation, puis les points ouverts.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trois chaînes viennent du projet Talend BSY_A2918. Pour COVID, dont l’export ne contenait que des jars, le code Java a été décompilé. La migration reprend la conception déjà utilisée par le template FDA et par le projet EXP_ENG_FRG_SUV, pour que les équipes retrouvent la même organisation du code. La règle de base est la parité avec Talend : on reproduit d’abord le comportement existant, et chaque écart volontaire est listé dans la documentation du projet.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gain principal est structurel. Côté AJUST, Talend lançait trois applications YARN pour chaque type de données actif, avec des fichiers Parquet relus d’un job à l’autre. Côté MYREO, chaque nouveau fichier lançait une JVM et une connexion Kerberos. Côté COVID, 20 jobs s’appelaient en cascade, et le bloc MyREO était rejoué pour chaque ligne active du fichier de pilotage. Chaque chaîne devient une seule application Spark, découpée en étapes que l’on peut activer ou désactiver.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AJUST traite les fichiers d’ajustement REO déposés dans le work place : historique en raw, derniers fichiers en SV et BV, conso par type de données, enrichissement GTS, puis fait UV. MYREO détecte les nouvelles extractions de l’outil MyREO déposées en raw et produit un fichier SV. COVID ventile les ajustements saisis dans l’outil REOMAKER et dans SQL Server, les renvoie dans SQL Server et alimente le dépôt lu par AJUST. Les trois chaînes partagent le référentiel des types de données ERK SV.</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trois chaînes suivent le découpage du template FDA et d’EXP_ENG_FRG_SUV. Le driver lit la configuration et enchaîne les étapes. Le FetchSource déclare une lecture paresseuse par source, avec un schéma imposé. Le runner fournit ses entrées à chaque mapper. Le mapper enregistre ses vues temporaires et exécute les requêtes Spark SQL de l’objet Views. Le DataWriter écrit les sorties. Chaque couche a sa classe par chaîne : AJUST, MYREO et COVID.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 classes sont partagées par les trois drivers. COVID réutilise aussi le plan des types, le filtre d’années et la résolution des 14 clés du fait UV. ReoConf résout chaque chemin à partir de la racine de l’environnement et du chemin relatif de la table. DataWriter centralise les écritures et refuse d’écrire dans un référentiel partagé. StepRunner trace chaque étape et arrête la chaîne à la première erreur, comme le faisaient les tRunJob Talend. Les lecteurs d’Utils reproduisent la lecture Talend : découpe brute sans guillemets, et lecture ligne à ligne pour les jobs Standard. Le référentiel des types de données ERK SV et son schéma sont aussi dans le socle.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Talend enchaînait un orchestrateur, un job de dispatch et quatre jobs Spark, relancés pour chaque type de données actif. Comme la conso BV ne filtre pas par type, tous les dossiers actifs recevaient le même contenu : la cible calcule la conso et l’enrichissement une seule fois et écrit le résultat dans le dossier de chaque type actif. Le fait UV, que Talend réécrivait à chaque type dans le même dossier, est écrit une fois.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dispatch copie les fichiers déposés : tous les fichiers détail en historique RD, le dernier détail en SV et le dernier agrégé en BV. Le plan des types lit le référentiel ERK SV et sépare les types actifs des types archivés. La conso, l’enrichissement GTS et le fait UV ne concernent que les types actifs. Le dépôt n’est supprimé que si toute la chaîne, du dispatch au fait UV, a tourné dans le même run. L’archivage traite ensuite les types inactifs.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dépôt contient deux sortes de fichiers : le détail des ajustements et leur agrégat. Le dernier agrégé alimente la conso BV, filtrée sur les années A0 à A2 grâce au year_mapping. L’enrichissement ajoute le type de CA, les codes GTS Skipper et la classification à partir du PCI et des tables GTS. Le fait UV dc_conso ne garde que les identifiants techniques de 14 dimensions et le montant : c’est la table de faits de l’étoile UV, dont les dimensions viennent des chaînes ERE, ERK, GZH et USG.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L’orchestrateur Talend listait le dépôt, comparait la liste à l’historique des fichiers lus, puis appelait le job enfant pour chaque nouveau fichier, chaque fois dans une nouvelle JVM. Chaque appel écrasait le même fichier SV. La cible produit directement cet état final : elle transforme le dernier nouveau fichier et marque tous les nouveaux fichiers comme lus, en une seule fois et seulement si le SV a bien été écrit.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listing reprend l’ordre exact de Talend : les dossiers du dépôt triés par nom, puis dans chaque dossier tous les fichiers .RECU, puis tous les fichiers .PRET. Le delta compare cette liste à l’historique des fichiers déjà lus. La transformation ne lit que le dernier nouveau fichier, puisque c’est le seul qui restait dans le SV chez Talend. L’historique n’est complété que si le fichier SV a bien été écrit dans le run.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L’outil MyREO entoure chaque valeur de guillemets : la règle Talend retire le premier et le dernier caractère. La période concatène l’année et le mois, et la source est toujours MYREO_TOOL. Le référentiel des types n’a pas de clé de jointure : chaque ligne sort une fois par type actif. Le montant passe par la conversion Talend, qui donne 0.0 pour une valeur non numérique ; la chaîne le signale désormais dans les logs. TYPE_ACTIF_1 et TYPE_ACTIF_2 sont des exemples de codes.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L’orchestrateur Talend LUD_FLOW_AJUSTEMENT_REO_COVID appelle 19 jobs : 7 jobs Spark et 12 jobs Standard, dont 7 échangent avec SQL Server. Chaque tRunJob lance une JVM. Le bloc MyREO est rejoué pour chaque ligne active du fichier de pilotage reomaker_active.csv, et la table de correspondance NRG vers PCI est recalculée dans chaque conso MyREO. Comme ces répétitions produisent le même contenu, la cible les exécute une seule fois. Côté SQL Server, plusieurs jobs Talend sortaient en succès malgré une erreur, et les tables étaient vidées avant de contrôler les données : la cible contrôle d’abord et s’arrête à la première erreur.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chaîne commence par la table de correspondance NRG vers PCI, lue ensuite par la conso MyREO et par la ventilation des ajustements SQL Server. Le fichier de pilotage reomaker_active.csv décide si le bloc MyREO tourne : il faut au moins une ligne dont is_active vaut exactement 1. Le bloc MyREO produit le fichier SV REOMAKER, le ventile, construit la conso, l’enrichissement GTS et le fait UV, archive les types inactifs, puis charge le fait dans dc_conso_delta et lance le traitement delta. Le bloc SQL Server extrait les ajustements saisis, les ventile, les renvoie enrichis dans SQL Server et alimente le dépôt lu par la chaîne AJUST. Chaque étape a son interrupteur, sauf la lecture du pilotage et le plan des types.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L’ajustement saisi est un cumul annuel à fin de mois. La ventilation le répartit sur les autres cumuls : le cumul mensuel se calcule avec un facteur plus un sur le mois et moins un sur le mois suivant, puis il est reporté sur les mois cibles du trimestre, du trimestre glissant et de l’année. Les effectifs, codés GD, sont des stocks : ils sont recopiés, et l’effectif GD2 est dérivé de GD1 par un taux. Talend arrondit chaque produit ligne par ligne, à 16 chiffres significatifs pour la ventilation et à 7 pour les effectifs : la cible reproduit ces arrondis. Les deux jobs Talend, J1 et J2, ont la même topologie : un seul mapper les remplace, paramétré par la disposition des colonnes. Le taux appliqué ou non en FQ et FY reste un point à faire trancher.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Sept jobs Talend échangeaient avec SQL Server par le pilote jTDS : quatre procédures stockées, une lecture et deux insertions par lots. La cible les regroupe derrière une seule interface, simulée dans les tests de bout en bout. Le serveur et le compte sont à reporter au déploiement dans le fichier de configuration déposé sur HDFS, car le dépôt Git est public. Le mot de passe est lu dans un magasin Hadoop jceks au moment de la connexion. Talend ne testait jamais le code retour des procédures : la cible le signale par défaut et peut arrêter la chaîne avec le réglage FAIL, en attendant le contrat des procédures auprès du DBA.</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lookups Talend en correspondance unique gardaient une ligne arbitraire en cas de doublon : la cible dédoublonne de façon déterministe, par le plus petit identifiant, avant la jointure. Les lookups sans clé, comme le référentiel des types de MYREO, deviennent un produit cartésien sur les lignes filtrées. Les tSqlRow sont recopiés tels quels. Les routines Java sans équivalent exact en SQL, comme la conversion des montants, sont exposées en UDF Scala. COVID ajoute l’égalité de SG_StringUtils, qui accepte null, et les arrondis ligne par ligne des multiplications Talend. Les requêtes sont dans ViewsAjustReo, ViewsMyReo et ViewsCovidReo. La sémantique a été vérifiée dans le code Java généré par Talend.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Chaque driver lit son propre fichier HOCON, déposé sur HDFS et passé en deuxième argument. Les trois fichiers ont la même structure : les racines par environnement, reprises des contextes Talend, les racines protégées, les paramètres Spark SQL, les interrupteurs d’étapes, puis un bloc par table avec sa racine et son chemin relatif. Une table peut surcharger son chemin pour un environnement donné. Comme des racines et des tables sont déclarées dans plusieurs fichiers, un test vérifie qu’elles restent identiques. Le fichier COVID porte aussi la connexion SQL Server de chaque environnement, sans serveur, compte ni mot de passe : ils sont renseignés au déploiement.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build Maven produit le fat jar et un bundle zip qui contient le jar, les trois fichiers de configuration et le script de lancement. Le script prend la chaîne, l’environnement et le chemin HDFS du fichier de configuration de la chaîne. Il choisit la classe du driver et les ressources : AJUST et COVID gardent les ressources de leurs jobs Spark Talend, MYREO tourne avec un petit driver. Avant le premier lancement de COVID, il faut renseigner le serveur et le compte SQL Server dans le fichier déposé, et créer le magasin jceks du mot de passe. Le principal et le keytab Kerberos passent par deux variables d’environnement. Spark 3.3 et Scala 2.12 sont fournis par le cluster.</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Chaque étape a un interrupteur dans le fichier de configuration du driver. Par exemple, en désactivant toutes les étapes AJUST sauf le fait UV, on rejoue seulement le fait UV à partir de la conso enrichie déjà sur disque. Les garde-fous évitent de perdre des données en reprise partielle : le dépôt AJUST n’est supprimé qu’après un run complet, et un fichier MyREO n’est marqué lu que si le SV a été écrit. Côté COVID, les étapes SQL Server peuvent être désactivées : la chaîne relit alors la dernière extraction sur disque, sans se connecter. Aucune chaîne n’écrit dans une racine protégée. Chaque étape écrit une ligne STEP dans les logs, ce qui donne le récapitulatif du run.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couverture est mesurée avec scoverage, drivers compris : 92,2 % des instructions et 78,6 % des branches. Seules la lecture et l’insertion JDBC réelles ne sont pas couvertes, faute de base SQL Server de test. Les tests de bout en bout couvrent la chaîne complète, les reprises partielles et les cas limites, comme un historique MyREO absent ou un run sans nouveau fichier. Un test dédié vérifie aussi que chaque fichier de configuration suffit à son driver dans les quatre environnements. Les pipelines Jenkins reprennent ceux du template : build, tests et couverture, analyse Sonar et quality gate, publication Nexus et déploiement par Ansible Tower.</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 points viennent de l’analyse du code Talend. Les points de la chaîne COVID sont sur la diapositive suivante. La migration les reproduit à l’identique pour garantir la parité, mais ils ressemblent à des choix à confirmer plutôt qu’à des règles voulues. Côté MYREO, garder seulement le dernier fichier n’a de sens que si chaque extraction est un instantané complet. Le produit cartésien avec tous les types actifs double les montants dès que deux types sont actifs. Les écarts volontaires, eux, sont listés dans le document de conception du projet.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premier point est le plus urgent : dans la configuration Talend, J1 lit un chemin terminé par deux tabulations, qui ne devrait pas exister. Les logs YARN de production diront si la chaîne Talend tourne vraiment. Le fichier SV MyREO est partagé avec la chaîne MYREO, chacune écrasant le contenu de l’autre. Talend lisait les montants de la conso MyREO dans un format trop étroit. Le taux des effectifs n’est pas appliqué de la même façon par les deux jobs de calcul. Les autres points concernent le contrat des procédures SQL Server, l’encodage du dépôt lu par AJUST, une clé de jointure différente de celle d’AJUST, et deux effets de bord de Talend que la cible ne reproduit pas, parce qu’ils entrent en conflit avec la chaîne MYREO.</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recette parallèle fait tourner Talend et Spark sur les mêmes entrées dans un bac à sable HOM, puis compare chaque sortie dans les deux sens avec les requêtes de recette fournies dans le projet. Les points métier de la slide précédente doivent être tranchés avant la bascule. L’équipe CI doit confirmer que le modèle Ansible Tower accepte le déploiement des trois fichiers de configuration. Pour COVID, il faut aussi les paramètres de connexion SQL Server, le magasin du mot de passe et, auprès du DBA, le contrat des procédures stockées. La bascule peut se faire chaîne par chaîne, puisque les trois applications sont indépendantes.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2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6858000"/>
          </a:xfrm>
          <a:prstGeom prst="rect">
            <a:avLst/>
          </a:prstGeom>
          <a:solidFill>
            <a:srgbClr val="12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12800" y="1621789"/>
            <a:ext cx="10566400" cy="190500"/>
          </a:xfrm>
          <a:prstGeom prst="rect">
            <a:avLst/>
          </a:prstGeom>
          <a:noFill/>
        </p:spPr>
        <p:txBody>
          <a:bodyPr wrap="square" lIns="0" rIns="0" tIns="0" bIns="0" anchor="t"/>
          <a:lstStyle/>
          <a:p>
            <a:pPr>
              <a:lnSpc>
                <a:spcPct val="125000"/>
              </a:lnSpc>
            </a:pPr>
            <a:r>
              <a:rPr sz="1200" b="1" spc="200">
                <a:solidFill>
                  <a:srgbClr val="E9A06A"/>
                </a:solidFill>
                <a:latin typeface="Arial"/>
              </a:rPr>
              <a:t>PROJET BSY_REO · MIGRATION TALEND VERS SPARK</a:t>
            </a:r>
          </a:p>
        </p:txBody>
      </p:sp>
      <p:sp>
        <p:nvSpPr>
          <p:cNvPr id="5" name="TextBox 4"/>
          <p:cNvSpPr txBox="1"/>
          <p:nvPr/>
        </p:nvSpPr>
        <p:spPr>
          <a:xfrm>
            <a:off x="812800" y="2066289"/>
            <a:ext cx="10566400" cy="1493520"/>
          </a:xfrm>
          <a:prstGeom prst="rect">
            <a:avLst/>
          </a:prstGeom>
          <a:noFill/>
        </p:spPr>
        <p:txBody>
          <a:bodyPr wrap="square" lIns="0" rIns="0" tIns="0" bIns="0" anchor="t"/>
          <a:lstStyle/>
          <a:p>
            <a:pPr>
              <a:lnSpc>
                <a:spcPct val="105000"/>
              </a:lnSpc>
            </a:pPr>
            <a:r>
              <a:rPr sz="5600" b="1">
                <a:solidFill>
                  <a:srgbClr val="F5F3EE"/>
                </a:solidFill>
                <a:latin typeface="Arial"/>
              </a:rPr>
              <a:t>Trois chaînes REO</a:t>
            </a:r>
          </a:p>
          <a:p>
            <a:pPr>
              <a:lnSpc>
                <a:spcPct val="105000"/>
              </a:lnSpc>
            </a:pPr>
            <a:r>
              <a:rPr sz="5600" b="1">
                <a:solidFill>
                  <a:srgbClr val="F5F3EE"/>
                </a:solidFill>
                <a:latin typeface="Arial"/>
              </a:rPr>
              <a:t>en Scala et Spark</a:t>
            </a:r>
          </a:p>
        </p:txBody>
      </p:sp>
      <p:sp>
        <p:nvSpPr>
          <p:cNvPr id="6" name="TextBox 5"/>
          <p:cNvSpPr txBox="1"/>
          <p:nvPr/>
        </p:nvSpPr>
        <p:spPr>
          <a:xfrm>
            <a:off x="812800" y="3813810"/>
            <a:ext cx="10566400" cy="330200"/>
          </a:xfrm>
          <a:prstGeom prst="rect">
            <a:avLst/>
          </a:prstGeom>
          <a:noFill/>
        </p:spPr>
        <p:txBody>
          <a:bodyPr wrap="square" lIns="0" rIns="0" tIns="0" bIns="0" anchor="t"/>
          <a:lstStyle/>
          <a:p>
            <a:pPr>
              <a:lnSpc>
                <a:spcPct val="130000"/>
              </a:lnSpc>
            </a:pPr>
            <a:r>
              <a:rPr sz="2000" b="0">
                <a:solidFill>
                  <a:srgbClr val="B8C4D3"/>
                </a:solidFill>
                <a:latin typeface="Arial"/>
              </a:rPr>
              <a:t>Architecture, conception, logique et lancement des chaînes AJUST, MYREO et COVID</a:t>
            </a:r>
          </a:p>
        </p:txBody>
      </p:sp>
      <p:sp>
        <p:nvSpPr>
          <p:cNvPr id="7" name="Rounded Rectangle 6"/>
          <p:cNvSpPr/>
          <p:nvPr/>
        </p:nvSpPr>
        <p:spPr>
          <a:xfrm>
            <a:off x="812800" y="4398010"/>
            <a:ext cx="4057054" cy="342900"/>
          </a:xfrm>
          <a:prstGeom prst="roundRect">
            <a:avLst>
              <a:gd name="adj" fmla="val 14814"/>
            </a:avLst>
          </a:prstGeom>
          <a:solidFill>
            <a:srgbClr val="7FB0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5200" y="4474210"/>
            <a:ext cx="3752254" cy="190500"/>
          </a:xfrm>
          <a:prstGeom prst="rect">
            <a:avLst/>
          </a:prstGeom>
          <a:noFill/>
        </p:spPr>
        <p:txBody>
          <a:bodyPr wrap="square" lIns="0" rIns="0" tIns="0" bIns="0" anchor="ctr"/>
          <a:lstStyle/>
          <a:p>
            <a:pPr>
              <a:lnSpc>
                <a:spcPct val="125000"/>
              </a:lnSpc>
            </a:pPr>
            <a:r>
              <a:rPr sz="1200" b="1">
                <a:solidFill>
                  <a:srgbClr val="12233B"/>
                </a:solidFill>
                <a:latin typeface="Arial"/>
              </a:rPr>
              <a:t>AJUST · LUD_AJU_ORCHESTRATION_DELTA_REO</a:t>
            </a:r>
          </a:p>
        </p:txBody>
      </p:sp>
      <p:sp>
        <p:nvSpPr>
          <p:cNvPr id="9" name="Rounded Rectangle 8"/>
          <p:cNvSpPr/>
          <p:nvPr/>
        </p:nvSpPr>
        <p:spPr>
          <a:xfrm>
            <a:off x="5022254" y="4398010"/>
            <a:ext cx="4463454" cy="342900"/>
          </a:xfrm>
          <a:prstGeom prst="roundRect">
            <a:avLst>
              <a:gd name="adj" fmla="val 14814"/>
            </a:avLst>
          </a:prstGeom>
          <a:solidFill>
            <a:srgbClr val="E9A0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174654" y="4474210"/>
            <a:ext cx="4158654" cy="190500"/>
          </a:xfrm>
          <a:prstGeom prst="rect">
            <a:avLst/>
          </a:prstGeom>
          <a:noFill/>
        </p:spPr>
        <p:txBody>
          <a:bodyPr wrap="square" lIns="0" rIns="0" tIns="0" bIns="0" anchor="ctr"/>
          <a:lstStyle/>
          <a:p>
            <a:pPr>
              <a:lnSpc>
                <a:spcPct val="125000"/>
              </a:lnSpc>
            </a:pPr>
            <a:r>
              <a:rPr sz="1200" b="1">
                <a:solidFill>
                  <a:srgbClr val="12233B"/>
                </a:solidFill>
                <a:latin typeface="Arial"/>
              </a:rPr>
              <a:t>MYREO · LUD_MYREO_ORCHESTRATION_DATA_TO_SV</a:t>
            </a:r>
          </a:p>
        </p:txBody>
      </p:sp>
      <p:sp>
        <p:nvSpPr>
          <p:cNvPr id="11" name="Rounded Rectangle 10"/>
          <p:cNvSpPr/>
          <p:nvPr/>
        </p:nvSpPr>
        <p:spPr>
          <a:xfrm>
            <a:off x="812800" y="4893310"/>
            <a:ext cx="3879850" cy="342900"/>
          </a:xfrm>
          <a:prstGeom prst="roundRect">
            <a:avLst>
              <a:gd name="adj" fmla="val 14814"/>
            </a:avLst>
          </a:prstGeom>
          <a:solidFill>
            <a:srgbClr val="8CCB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5200" y="4969510"/>
            <a:ext cx="3575050" cy="190500"/>
          </a:xfrm>
          <a:prstGeom prst="rect">
            <a:avLst/>
          </a:prstGeom>
          <a:noFill/>
        </p:spPr>
        <p:txBody>
          <a:bodyPr wrap="square" lIns="0" rIns="0" tIns="0" bIns="0" anchor="ctr"/>
          <a:lstStyle/>
          <a:p>
            <a:pPr>
              <a:lnSpc>
                <a:spcPct val="125000"/>
              </a:lnSpc>
            </a:pPr>
            <a:r>
              <a:rPr sz="1200" b="1">
                <a:solidFill>
                  <a:srgbClr val="12233B"/>
                </a:solidFill>
                <a:latin typeface="Arial"/>
              </a:rPr>
              <a:t>COVID · LUD_FLOW_AJUSTEMENT_REO_COVID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6858000"/>
          </a:xfrm>
          <a:prstGeom prst="rect">
            <a:avLst/>
          </a:prstGeom>
          <a:solidFill>
            <a:srgbClr val="F5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12800" y="812800"/>
            <a:ext cx="10566400" cy="190500"/>
          </a:xfrm>
          <a:prstGeom prst="rect">
            <a:avLst/>
          </a:prstGeom>
          <a:noFill/>
        </p:spPr>
        <p:txBody>
          <a:bodyPr wrap="square" lIns="0" rIns="0" tIns="0" bIns="0" anchor="t"/>
          <a:lstStyle/>
          <a:p>
            <a:pPr>
              <a:lnSpc>
                <a:spcPct val="125000"/>
              </a:lnSpc>
            </a:pPr>
            <a:r>
              <a:rPr sz="1200" b="1" spc="150">
                <a:solidFill>
                  <a:srgbClr val="46556A"/>
                </a:solidFill>
                <a:latin typeface="Arial"/>
              </a:rPr>
              <a:t>CONTEXTE</a:t>
            </a:r>
          </a:p>
        </p:txBody>
      </p:sp>
      <p:sp>
        <p:nvSpPr>
          <p:cNvPr id="5" name="TextBox 4"/>
          <p:cNvSpPr txBox="1"/>
          <p:nvPr/>
        </p:nvSpPr>
        <p:spPr>
          <a:xfrm>
            <a:off x="812800" y="1079500"/>
            <a:ext cx="10566400" cy="447040"/>
          </a:xfrm>
          <a:prstGeom prst="rect">
            <a:avLst/>
          </a:prstGeom>
          <a:noFill/>
        </p:spPr>
        <p:txBody>
          <a:bodyPr wrap="square" lIns="0" rIns="0" tIns="0" bIns="0" anchor="t"/>
          <a:lstStyle/>
          <a:p>
            <a:pPr>
              <a:lnSpc>
                <a:spcPct val="110000"/>
              </a:lnSpc>
            </a:pPr>
            <a:r>
              <a:rPr sz="3200" b="1">
                <a:solidFill>
                  <a:srgbClr val="12233B"/>
                </a:solidFill>
                <a:latin typeface="Arial"/>
              </a:rPr>
              <a:t>Contexte et principes de la migration</a:t>
            </a:r>
          </a:p>
        </p:txBody>
      </p:sp>
      <p:sp>
        <p:nvSpPr>
          <p:cNvPr id="6" name="Rounded Rectangle 5"/>
          <p:cNvSpPr/>
          <p:nvPr/>
        </p:nvSpPr>
        <p:spPr>
          <a:xfrm>
            <a:off x="812800" y="1831339"/>
            <a:ext cx="3386666" cy="2247900"/>
          </a:xfrm>
          <a:prstGeom prst="roundRect">
            <a:avLst>
              <a:gd name="adj" fmla="val 4519"/>
            </a:avLst>
          </a:prstGeom>
          <a:solidFill>
            <a:srgbClr val="FBFAF6"/>
          </a:solidFill>
          <a:ln w="6350">
            <a:solidFill>
              <a:srgbClr val="E2DE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66800" y="2085339"/>
            <a:ext cx="2878666" cy="304800"/>
          </a:xfrm>
          <a:prstGeom prst="rect">
            <a:avLst/>
          </a:prstGeom>
          <a:noFill/>
        </p:spPr>
        <p:txBody>
          <a:bodyPr wrap="square" lIns="0" rIns="0" tIns="0" bIns="0" anchor="t"/>
          <a:lstStyle/>
          <a:p>
            <a:pPr>
              <a:lnSpc>
                <a:spcPct val="120000"/>
              </a:lnSpc>
            </a:pPr>
            <a:r>
              <a:rPr sz="2000" b="1">
                <a:solidFill>
                  <a:srgbClr val="12233B"/>
                </a:solidFill>
                <a:latin typeface="Arial"/>
              </a:rPr>
              <a:t>Point de départ</a:t>
            </a:r>
          </a:p>
        </p:txBody>
      </p:sp>
      <p:sp>
        <p:nvSpPr>
          <p:cNvPr id="8" name="TextBox 7"/>
          <p:cNvSpPr txBox="1"/>
          <p:nvPr/>
        </p:nvSpPr>
        <p:spPr>
          <a:xfrm>
            <a:off x="1066800" y="2491740"/>
            <a:ext cx="2878666" cy="800099"/>
          </a:xfrm>
          <a:prstGeom prst="rect">
            <a:avLst/>
          </a:prstGeom>
          <a:noFill/>
        </p:spPr>
        <p:txBody>
          <a:bodyPr wrap="square" lIns="0" rIns="0" tIns="0" bIns="0" anchor="t"/>
          <a:lstStyle/>
          <a:p>
            <a:pPr>
              <a:lnSpc>
                <a:spcPct val="140000"/>
              </a:lnSpc>
            </a:pPr>
            <a:r>
              <a:rPr sz="1500" b="0">
                <a:solidFill>
                  <a:srgbClr val="46556A"/>
                </a:solidFill>
                <a:latin typeface="Arial"/>
              </a:rPr>
              <a:t>Trois chaînes Talend du projet BSY_A2918 : 6 jobs pour AJUST, 2 pour MYREO, 20 pour COVID.</a:t>
            </a:r>
          </a:p>
        </p:txBody>
      </p:sp>
      <p:sp>
        <p:nvSpPr>
          <p:cNvPr id="9" name="Rounded Rectangle 8"/>
          <p:cNvSpPr/>
          <p:nvPr/>
        </p:nvSpPr>
        <p:spPr>
          <a:xfrm>
            <a:off x="4402666" y="1831339"/>
            <a:ext cx="3386666" cy="2247900"/>
          </a:xfrm>
          <a:prstGeom prst="roundRect">
            <a:avLst>
              <a:gd name="adj" fmla="val 4519"/>
            </a:avLst>
          </a:prstGeom>
          <a:solidFill>
            <a:srgbClr val="FBFAF6"/>
          </a:solidFill>
          <a:ln w="6350">
            <a:solidFill>
              <a:srgbClr val="E2DE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56666" y="2085339"/>
            <a:ext cx="2878666" cy="304800"/>
          </a:xfrm>
          <a:prstGeom prst="rect">
            <a:avLst/>
          </a:prstGeom>
          <a:noFill/>
        </p:spPr>
        <p:txBody>
          <a:bodyPr wrap="square" lIns="0" rIns="0" tIns="0" bIns="0" anchor="t"/>
          <a:lstStyle/>
          <a:p>
            <a:pPr>
              <a:lnSpc>
                <a:spcPct val="120000"/>
              </a:lnSpc>
            </a:pPr>
            <a:r>
              <a:rPr sz="2000" b="1">
                <a:solidFill>
                  <a:srgbClr val="12233B"/>
                </a:solidFill>
                <a:latin typeface="Arial"/>
              </a:rPr>
              <a:t>Cible</a:t>
            </a:r>
          </a:p>
        </p:txBody>
      </p:sp>
      <p:sp>
        <p:nvSpPr>
          <p:cNvPr id="11" name="TextBox 10"/>
          <p:cNvSpPr txBox="1"/>
          <p:nvPr/>
        </p:nvSpPr>
        <p:spPr>
          <a:xfrm>
            <a:off x="4656666" y="2491740"/>
            <a:ext cx="2878666" cy="800099"/>
          </a:xfrm>
          <a:prstGeom prst="rect">
            <a:avLst/>
          </a:prstGeom>
          <a:noFill/>
        </p:spPr>
        <p:txBody>
          <a:bodyPr wrap="square" lIns="0" rIns="0" tIns="0" bIns="0" anchor="t"/>
          <a:lstStyle/>
          <a:p>
            <a:pPr>
              <a:lnSpc>
                <a:spcPct val="140000"/>
              </a:lnSpc>
            </a:pPr>
            <a:r>
              <a:rPr sz="1500" b="0">
                <a:solidFill>
                  <a:srgbClr val="46556A"/>
                </a:solidFill>
                <a:latin typeface="Arial"/>
              </a:rPr>
              <a:t>Un projet Scala 2.12 et Spark 3.3, bsy_reo : un driver par chaîne et un socle commun.</a:t>
            </a:r>
          </a:p>
        </p:txBody>
      </p:sp>
      <p:sp>
        <p:nvSpPr>
          <p:cNvPr id="12" name="Rounded Rectangle 11"/>
          <p:cNvSpPr/>
          <p:nvPr/>
        </p:nvSpPr>
        <p:spPr>
          <a:xfrm>
            <a:off x="7992533" y="1831339"/>
            <a:ext cx="3386666" cy="2247900"/>
          </a:xfrm>
          <a:prstGeom prst="roundRect">
            <a:avLst>
              <a:gd name="adj" fmla="val 4519"/>
            </a:avLst>
          </a:prstGeom>
          <a:solidFill>
            <a:srgbClr val="FBFAF6"/>
          </a:solidFill>
          <a:ln w="6350">
            <a:solidFill>
              <a:srgbClr val="E2DE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46533" y="2085339"/>
            <a:ext cx="2878666" cy="304800"/>
          </a:xfrm>
          <a:prstGeom prst="rect">
            <a:avLst/>
          </a:prstGeom>
          <a:noFill/>
        </p:spPr>
        <p:txBody>
          <a:bodyPr wrap="square" lIns="0" rIns="0" tIns="0" bIns="0" anchor="t"/>
          <a:lstStyle/>
          <a:p>
            <a:pPr>
              <a:lnSpc>
                <a:spcPct val="120000"/>
              </a:lnSpc>
            </a:pPr>
            <a:r>
              <a:rPr sz="2000" b="1">
                <a:solidFill>
                  <a:srgbClr val="12233B"/>
                </a:solidFill>
                <a:latin typeface="Arial"/>
              </a:rPr>
              <a:t>Principes</a:t>
            </a:r>
          </a:p>
        </p:txBody>
      </p:sp>
      <p:sp>
        <p:nvSpPr>
          <p:cNvPr id="14" name="TextBox 13"/>
          <p:cNvSpPr txBox="1"/>
          <p:nvPr/>
        </p:nvSpPr>
        <p:spPr>
          <a:xfrm>
            <a:off x="8246533" y="2491740"/>
            <a:ext cx="2878666" cy="1333500"/>
          </a:xfrm>
          <a:prstGeom prst="rect">
            <a:avLst/>
          </a:prstGeom>
          <a:noFill/>
        </p:spPr>
        <p:txBody>
          <a:bodyPr wrap="square" lIns="0" rIns="0" tIns="0" bIns="0" anchor="t"/>
          <a:lstStyle/>
          <a:p>
            <a:pPr>
              <a:lnSpc>
                <a:spcPct val="140000"/>
              </a:lnSpc>
            </a:pPr>
            <a:r>
              <a:rPr sz="1500" b="0">
                <a:solidFill>
                  <a:srgbClr val="46556A"/>
                </a:solidFill>
                <a:latin typeface="Arial"/>
              </a:rPr>
              <a:t>Même conception que le template FDA et EXP_ENG_FRG_SUV. Parité avec Talend d’abord, chaque écart documenté.</a:t>
            </a:r>
          </a:p>
        </p:txBody>
      </p:sp>
      <p:sp>
        <p:nvSpPr>
          <p:cNvPr id="15" name="TextBox 14"/>
          <p:cNvSpPr txBox="1"/>
          <p:nvPr/>
        </p:nvSpPr>
        <p:spPr>
          <a:xfrm>
            <a:off x="812800" y="4384040"/>
            <a:ext cx="10566400" cy="266700"/>
          </a:xfrm>
          <a:prstGeom prst="rect">
            <a:avLst/>
          </a:prstGeom>
          <a:noFill/>
        </p:spPr>
        <p:txBody>
          <a:bodyPr wrap="square" lIns="0" rIns="0" tIns="0" bIns="0" anchor="t"/>
          <a:lstStyle/>
          <a:p>
            <a:pPr>
              <a:lnSpc>
                <a:spcPct val="140000"/>
              </a:lnSpc>
            </a:pPr>
            <a:r>
              <a:rPr sz="1500" b="0">
                <a:solidFill>
                  <a:srgbClr val="46556A"/>
                </a:solidFill>
                <a:latin typeface="Arial"/>
              </a:rPr>
              <a:t>La sémantique Talend a été relevée dans les fichiers .item, les contextes et le code Java des jobs.</a:t>
            </a:r>
          </a:p>
        </p:txBody>
      </p:sp>
      <p:sp>
        <p:nvSpPr>
          <p:cNvPr id="16" name="TextBox 15"/>
          <p:cNvSpPr txBox="1"/>
          <p:nvPr/>
        </p:nvSpPr>
        <p:spPr>
          <a:xfrm>
            <a:off x="812800" y="6261100"/>
            <a:ext cx="3644503" cy="190500"/>
          </a:xfrm>
          <a:prstGeom prst="rect">
            <a:avLst/>
          </a:prstGeom>
          <a:noFill/>
        </p:spPr>
        <p:txBody>
          <a:bodyPr wrap="square" lIns="0" rIns="0" tIns="0" bIns="0" anchor="t"/>
          <a:lstStyle/>
          <a:p>
            <a:pPr>
              <a:lnSpc>
                <a:spcPct val="125000"/>
              </a:lnSpc>
            </a:pPr>
            <a:r>
              <a:rPr sz="1200" b="0">
                <a:solidFill>
                  <a:srgbClr val="5B6677"/>
                </a:solidFill>
                <a:latin typeface="Arial"/>
              </a:rPr>
              <a:t>BSY_REO · chaînes REO AJUST, MYREO et COVID</a:t>
            </a:r>
          </a:p>
        </p:txBody>
      </p:sp>
      <p:sp>
        <p:nvSpPr>
          <p:cNvPr id="17" name="TextBox 16"/>
          <p:cNvSpPr txBox="1"/>
          <p:nvPr/>
        </p:nvSpPr>
        <p:spPr>
          <a:xfrm>
            <a:off x="11283950" y="6261100"/>
            <a:ext cx="95250" cy="190500"/>
          </a:xfrm>
          <a:prstGeom prst="rect">
            <a:avLst/>
          </a:prstGeom>
          <a:noFill/>
        </p:spPr>
        <p:txBody>
          <a:bodyPr wrap="square" lIns="0" rIns="0" tIns="0" bIns="0" anchor="t"/>
          <a:lstStyle/>
          <a:p>
            <a:pPr>
              <a:lnSpc>
                <a:spcPct val="125000"/>
              </a:lnSpc>
            </a:pPr>
            <a:r>
              <a:rPr sz="1200" b="0">
                <a:solidFill>
                  <a:srgbClr val="5B6677"/>
                </a:solidFill>
                <a:latin typeface="Arial"/>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2A6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6858000"/>
          </a:xfrm>
          <a:prstGeom prst="rect">
            <a:avLst/>
          </a:prstGeom>
          <a:solidFill>
            <a:srgbClr val="2A6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12800" y="1774189"/>
            <a:ext cx="10566400" cy="1493520"/>
          </a:xfrm>
          <a:prstGeom prst="rect">
            <a:avLst/>
          </a:prstGeom>
          <a:noFill/>
        </p:spPr>
        <p:txBody>
          <a:bodyPr wrap="square" lIns="0" rIns="0" tIns="0" bIns="0" anchor="t"/>
          <a:lstStyle/>
          <a:p>
            <a:pPr>
              <a:lnSpc>
                <a:spcPct val="105000"/>
              </a:lnSpc>
            </a:pPr>
            <a:r>
              <a:rPr sz="5600" b="1">
                <a:solidFill>
                  <a:srgbClr val="F5F3EE"/>
                </a:solidFill>
                <a:latin typeface="Arial"/>
              </a:rPr>
              <a:t>28 jobs Talend,</a:t>
            </a:r>
          </a:p>
          <a:p>
            <a:pPr>
              <a:lnSpc>
                <a:spcPct val="105000"/>
              </a:lnSpc>
            </a:pPr>
            <a:r>
              <a:rPr sz="5600" b="1">
                <a:solidFill>
                  <a:srgbClr val="F5F3EE"/>
                </a:solidFill>
                <a:latin typeface="Arial"/>
              </a:rPr>
              <a:t>3 applications Spark</a:t>
            </a:r>
          </a:p>
        </p:txBody>
      </p:sp>
      <p:sp>
        <p:nvSpPr>
          <p:cNvPr id="5" name="Rectangle 4"/>
          <p:cNvSpPr/>
          <p:nvPr/>
        </p:nvSpPr>
        <p:spPr>
          <a:xfrm>
            <a:off x="812800" y="3674110"/>
            <a:ext cx="3251200" cy="25400"/>
          </a:xfrm>
          <a:prstGeom prst="rect">
            <a:avLst/>
          </a:prstGeom>
          <a:solidFill>
            <a:srgbClr val="F5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12800" y="3877310"/>
            <a:ext cx="3251200" cy="304800"/>
          </a:xfrm>
          <a:prstGeom prst="rect">
            <a:avLst/>
          </a:prstGeom>
          <a:noFill/>
        </p:spPr>
        <p:txBody>
          <a:bodyPr wrap="square" lIns="0" rIns="0" tIns="0" bIns="0" anchor="t"/>
          <a:lstStyle/>
          <a:p>
            <a:pPr>
              <a:lnSpc>
                <a:spcPct val="120000"/>
              </a:lnSpc>
            </a:pPr>
            <a:r>
              <a:rPr sz="2000" b="1">
                <a:solidFill>
                  <a:srgbClr val="F5F3EE"/>
                </a:solidFill>
                <a:latin typeface="Arial"/>
              </a:rPr>
              <a:t>AJUST</a:t>
            </a:r>
          </a:p>
        </p:txBody>
      </p:sp>
      <p:sp>
        <p:nvSpPr>
          <p:cNvPr id="7" name="TextBox 6"/>
          <p:cNvSpPr txBox="1"/>
          <p:nvPr/>
        </p:nvSpPr>
        <p:spPr>
          <a:xfrm>
            <a:off x="812800" y="4283710"/>
            <a:ext cx="3251200" cy="800099"/>
          </a:xfrm>
          <a:prstGeom prst="rect">
            <a:avLst/>
          </a:prstGeom>
          <a:noFill/>
        </p:spPr>
        <p:txBody>
          <a:bodyPr wrap="square" lIns="0" rIns="0" tIns="0" bIns="0" anchor="t"/>
          <a:lstStyle/>
          <a:p>
            <a:pPr>
              <a:lnSpc>
                <a:spcPct val="140000"/>
              </a:lnSpc>
            </a:pPr>
            <a:r>
              <a:rPr sz="1500" b="0">
                <a:solidFill>
                  <a:srgbClr val="E4ECF4"/>
                </a:solidFill>
                <a:latin typeface="Arial"/>
              </a:rPr>
              <a:t>6 jobs Talend, dont 3 applications YARN par type de données actif, réunis en une application de 7 étapes.</a:t>
            </a:r>
          </a:p>
        </p:txBody>
      </p:sp>
      <p:sp>
        <p:nvSpPr>
          <p:cNvPr id="8" name="Rectangle 7"/>
          <p:cNvSpPr/>
          <p:nvPr/>
        </p:nvSpPr>
        <p:spPr>
          <a:xfrm>
            <a:off x="4470400" y="3674110"/>
            <a:ext cx="3251200" cy="25400"/>
          </a:xfrm>
          <a:prstGeom prst="rect">
            <a:avLst/>
          </a:prstGeom>
          <a:solidFill>
            <a:srgbClr val="F5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70400" y="3877310"/>
            <a:ext cx="3251200" cy="304800"/>
          </a:xfrm>
          <a:prstGeom prst="rect">
            <a:avLst/>
          </a:prstGeom>
          <a:noFill/>
        </p:spPr>
        <p:txBody>
          <a:bodyPr wrap="square" lIns="0" rIns="0" tIns="0" bIns="0" anchor="t"/>
          <a:lstStyle/>
          <a:p>
            <a:pPr>
              <a:lnSpc>
                <a:spcPct val="120000"/>
              </a:lnSpc>
            </a:pPr>
            <a:r>
              <a:rPr sz="2000" b="1">
                <a:solidFill>
                  <a:srgbClr val="F5F3EE"/>
                </a:solidFill>
                <a:latin typeface="Arial"/>
              </a:rPr>
              <a:t>MYREO</a:t>
            </a:r>
          </a:p>
        </p:txBody>
      </p:sp>
      <p:sp>
        <p:nvSpPr>
          <p:cNvPr id="10" name="TextBox 9"/>
          <p:cNvSpPr txBox="1"/>
          <p:nvPr/>
        </p:nvSpPr>
        <p:spPr>
          <a:xfrm>
            <a:off x="4470400" y="4283710"/>
            <a:ext cx="3251200" cy="800099"/>
          </a:xfrm>
          <a:prstGeom prst="rect">
            <a:avLst/>
          </a:prstGeom>
          <a:noFill/>
        </p:spPr>
        <p:txBody>
          <a:bodyPr wrap="square" lIns="0" rIns="0" tIns="0" bIns="0" anchor="t"/>
          <a:lstStyle/>
          <a:p>
            <a:pPr>
              <a:lnSpc>
                <a:spcPct val="140000"/>
              </a:lnSpc>
            </a:pPr>
            <a:r>
              <a:rPr sz="1500" b="0">
                <a:solidFill>
                  <a:srgbClr val="E4ECF4"/>
                </a:solidFill>
                <a:latin typeface="Arial"/>
              </a:rPr>
              <a:t>2 jobs Talend et une JVM par nouveau fichier, réunis en une application de 4 étapes.</a:t>
            </a:r>
          </a:p>
        </p:txBody>
      </p:sp>
      <p:sp>
        <p:nvSpPr>
          <p:cNvPr id="11" name="Rectangle 10"/>
          <p:cNvSpPr/>
          <p:nvPr/>
        </p:nvSpPr>
        <p:spPr>
          <a:xfrm>
            <a:off x="8128000" y="3674110"/>
            <a:ext cx="3251200" cy="25400"/>
          </a:xfrm>
          <a:prstGeom prst="rect">
            <a:avLst/>
          </a:prstGeom>
          <a:solidFill>
            <a:srgbClr val="F5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28000" y="3877310"/>
            <a:ext cx="3251200" cy="304800"/>
          </a:xfrm>
          <a:prstGeom prst="rect">
            <a:avLst/>
          </a:prstGeom>
          <a:noFill/>
        </p:spPr>
        <p:txBody>
          <a:bodyPr wrap="square" lIns="0" rIns="0" tIns="0" bIns="0" anchor="t"/>
          <a:lstStyle/>
          <a:p>
            <a:pPr>
              <a:lnSpc>
                <a:spcPct val="120000"/>
              </a:lnSpc>
            </a:pPr>
            <a:r>
              <a:rPr sz="2000" b="1">
                <a:solidFill>
                  <a:srgbClr val="F5F3EE"/>
                </a:solidFill>
                <a:latin typeface="Arial"/>
              </a:rPr>
              <a:t>COVID</a:t>
            </a:r>
          </a:p>
        </p:txBody>
      </p:sp>
      <p:sp>
        <p:nvSpPr>
          <p:cNvPr id="13" name="TextBox 12"/>
          <p:cNvSpPr txBox="1"/>
          <p:nvPr/>
        </p:nvSpPr>
        <p:spPr>
          <a:xfrm>
            <a:off x="8128000" y="4283710"/>
            <a:ext cx="3251200" cy="800099"/>
          </a:xfrm>
          <a:prstGeom prst="rect">
            <a:avLst/>
          </a:prstGeom>
          <a:noFill/>
        </p:spPr>
        <p:txBody>
          <a:bodyPr wrap="square" lIns="0" rIns="0" tIns="0" bIns="0" anchor="t"/>
          <a:lstStyle/>
          <a:p>
            <a:pPr>
              <a:lnSpc>
                <a:spcPct val="140000"/>
              </a:lnSpc>
            </a:pPr>
            <a:r>
              <a:rPr sz="1500" b="0">
                <a:solidFill>
                  <a:srgbClr val="E4ECF4"/>
                </a:solidFill>
                <a:latin typeface="Arial"/>
              </a:rPr>
              <a:t>20 jobs Talend, une JVM par appel et des passages répétés, réunis en une application de 17 étapes.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6858000"/>
          </a:xfrm>
          <a:prstGeom prst="rect">
            <a:avLst/>
          </a:prstGeom>
          <a:solidFill>
            <a:srgbClr val="F5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12800" y="812800"/>
            <a:ext cx="10566400" cy="190500"/>
          </a:xfrm>
          <a:prstGeom prst="rect">
            <a:avLst/>
          </a:prstGeom>
          <a:noFill/>
        </p:spPr>
        <p:txBody>
          <a:bodyPr wrap="square" lIns="0" rIns="0" tIns="0" bIns="0" anchor="t"/>
          <a:lstStyle/>
          <a:p>
            <a:pPr>
              <a:lnSpc>
                <a:spcPct val="125000"/>
              </a:lnSpc>
            </a:pPr>
            <a:r>
              <a:rPr sz="1200" b="1" spc="150">
                <a:solidFill>
                  <a:srgbClr val="46556A"/>
                </a:solidFill>
                <a:latin typeface="Arial"/>
              </a:rPr>
              <a:t>CONTEXTE</a:t>
            </a:r>
          </a:p>
        </p:txBody>
      </p:sp>
      <p:sp>
        <p:nvSpPr>
          <p:cNvPr id="5" name="TextBox 4"/>
          <p:cNvSpPr txBox="1"/>
          <p:nvPr/>
        </p:nvSpPr>
        <p:spPr>
          <a:xfrm>
            <a:off x="812800" y="1079500"/>
            <a:ext cx="10566400" cy="447040"/>
          </a:xfrm>
          <a:prstGeom prst="rect">
            <a:avLst/>
          </a:prstGeom>
          <a:noFill/>
        </p:spPr>
        <p:txBody>
          <a:bodyPr wrap="square" lIns="0" rIns="0" tIns="0" bIns="0" anchor="t"/>
          <a:lstStyle/>
          <a:p>
            <a:pPr>
              <a:lnSpc>
                <a:spcPct val="110000"/>
              </a:lnSpc>
            </a:pPr>
            <a:r>
              <a:rPr sz="3200" b="1">
                <a:solidFill>
                  <a:srgbClr val="12233B"/>
                </a:solidFill>
                <a:latin typeface="Arial"/>
              </a:rPr>
              <a:t>Les trois chaînes en un coup d’œil</a:t>
            </a:r>
          </a:p>
        </p:txBody>
      </p:sp>
      <p:graphicFrame>
        <p:nvGraphicFramePr>
          <p:cNvPr id="6" name="Table 5"/>
          <p:cNvGraphicFramePr>
            <a:graphicFrameLocks noGrp="1"/>
          </p:cNvGraphicFramePr>
          <p:nvPr/>
        </p:nvGraphicFramePr>
        <p:xfrm>
          <a:off x="812800" y="1831339"/>
          <a:ext cx="10566400" cy="3048000"/>
        </p:xfrm>
        <a:graphic>
          <a:graphicData uri="http://schemas.openxmlformats.org/drawingml/2006/table">
            <a:tbl>
              <a:tblPr/>
              <a:tblGrid>
                <a:gridCol w="1373632"/>
                <a:gridCol w="3064256"/>
                <a:gridCol w="3064256"/>
                <a:gridCol w="3064256"/>
              </a:tblGrid>
              <a:tr h="350520">
                <a:tc>
                  <a:txBody>
                    <a:bodyPr wrap="square"/>
                    <a:lstStyle/>
                    <a:p>
                      <a:pPr>
                        <a:lnSpc>
                          <a:spcPct val="125000"/>
                        </a:lnSpc>
                      </a:pPr>
                    </a:p>
                  </a:txBody>
                  <a:tcPr marL="101600" marR="101600" marT="76200" marB="76200" anchor="ctr">
                    <a:solidFill>
                      <a:srgbClr val="12233B"/>
                    </a:solidFill>
                  </a:tcPr>
                </a:tc>
                <a:tc>
                  <a:txBody>
                    <a:bodyPr wrap="square"/>
                    <a:lstStyle/>
                    <a:p>
                      <a:pPr>
                        <a:lnSpc>
                          <a:spcPct val="125000"/>
                        </a:lnSpc>
                      </a:pPr>
                      <a:r>
                        <a:rPr sz="1200" b="1">
                          <a:solidFill>
                            <a:srgbClr val="7FB0DA"/>
                          </a:solidFill>
                          <a:latin typeface="Arial"/>
                        </a:rPr>
                        <a:t>AJUST</a:t>
                      </a:r>
                    </a:p>
                  </a:txBody>
                  <a:tcPr marL="101600" marR="101600" marT="76200" marB="76200" anchor="ctr">
                    <a:solidFill>
                      <a:srgbClr val="12233B"/>
                    </a:solidFill>
                  </a:tcPr>
                </a:tc>
                <a:tc>
                  <a:txBody>
                    <a:bodyPr wrap="square"/>
                    <a:lstStyle/>
                    <a:p>
                      <a:pPr>
                        <a:lnSpc>
                          <a:spcPct val="125000"/>
                        </a:lnSpc>
                      </a:pPr>
                      <a:r>
                        <a:rPr sz="1200" b="1">
                          <a:solidFill>
                            <a:srgbClr val="E9A06A"/>
                          </a:solidFill>
                          <a:latin typeface="Arial"/>
                        </a:rPr>
                        <a:t>MYREO</a:t>
                      </a:r>
                    </a:p>
                  </a:txBody>
                  <a:tcPr marL="101600" marR="101600" marT="76200" marB="76200" anchor="ctr">
                    <a:solidFill>
                      <a:srgbClr val="12233B"/>
                    </a:solidFill>
                  </a:tcPr>
                </a:tc>
                <a:tc>
                  <a:txBody>
                    <a:bodyPr wrap="square"/>
                    <a:lstStyle/>
                    <a:p>
                      <a:pPr>
                        <a:lnSpc>
                          <a:spcPct val="125000"/>
                        </a:lnSpc>
                      </a:pPr>
                      <a:r>
                        <a:rPr sz="1200" b="1">
                          <a:solidFill>
                            <a:srgbClr val="8CCBB8"/>
                          </a:solidFill>
                          <a:latin typeface="Arial"/>
                        </a:rPr>
                        <a:t>COVID</a:t>
                      </a:r>
                    </a:p>
                  </a:txBody>
                  <a:tcPr marL="101600" marR="101600" marT="76200" marB="76200" anchor="ctr">
                    <a:solidFill>
                      <a:srgbClr val="12233B"/>
                    </a:solidFill>
                  </a:tcPr>
                </a:tc>
              </a:tr>
              <a:tr h="548640">
                <a:tc>
                  <a:txBody>
                    <a:bodyPr wrap="square"/>
                    <a:lstStyle/>
                    <a:p>
                      <a:pPr>
                        <a:lnSpc>
                          <a:spcPct val="125000"/>
                        </a:lnSpc>
                      </a:pPr>
                      <a:r>
                        <a:rPr sz="1200" b="1">
                          <a:solidFill>
                            <a:srgbClr val="12233B"/>
                          </a:solidFill>
                          <a:latin typeface="Arial"/>
                        </a:rPr>
                        <a:t>Chaîne Talend</a:t>
                      </a:r>
                    </a:p>
                  </a:txBody>
                  <a:tcPr marL="101600" marR="101600" marT="76200" marB="76200" anchor="ctr">
                    <a:solidFill>
                      <a:srgbClr val="F5F3EE"/>
                    </a:solidFill>
                  </a:tcPr>
                </a:tc>
                <a:tc>
                  <a:txBody>
                    <a:bodyPr wrap="square"/>
                    <a:lstStyle/>
                    <a:p>
                      <a:pPr>
                        <a:lnSpc>
                          <a:spcPct val="125000"/>
                        </a:lnSpc>
                      </a:pPr>
                      <a:r>
                        <a:rPr sz="1200" b="0">
                          <a:solidFill>
                            <a:srgbClr val="12233B"/>
                          </a:solidFill>
                          <a:latin typeface="Arial"/>
                        </a:rPr>
                        <a:t>LUD_AJU_ORCHESTRATION_</a:t>
                      </a:r>
                    </a:p>
                    <a:p>
                      <a:pPr>
                        <a:lnSpc>
                          <a:spcPct val="125000"/>
                        </a:lnSpc>
                      </a:pPr>
                      <a:r>
                        <a:rPr sz="1200" b="0">
                          <a:solidFill>
                            <a:srgbClr val="12233B"/>
                          </a:solidFill>
                          <a:latin typeface="Arial"/>
                        </a:rPr>
                        <a:t>DELTA_REO</a:t>
                      </a:r>
                    </a:p>
                  </a:txBody>
                  <a:tcPr marL="101600" marR="101600" marT="76200" marB="76200" anchor="ctr">
                    <a:solidFill>
                      <a:srgbClr val="F5F3EE"/>
                    </a:solidFill>
                  </a:tcPr>
                </a:tc>
                <a:tc>
                  <a:txBody>
                    <a:bodyPr wrap="square"/>
                    <a:lstStyle/>
                    <a:p>
                      <a:pPr>
                        <a:lnSpc>
                          <a:spcPct val="125000"/>
                        </a:lnSpc>
                      </a:pPr>
                      <a:r>
                        <a:rPr sz="1200" b="0">
                          <a:solidFill>
                            <a:srgbClr val="12233B"/>
                          </a:solidFill>
                          <a:latin typeface="Arial"/>
                        </a:rPr>
                        <a:t>LUD_MYREO_ORCHESTRATION_</a:t>
                      </a:r>
                    </a:p>
                    <a:p>
                      <a:pPr>
                        <a:lnSpc>
                          <a:spcPct val="125000"/>
                        </a:lnSpc>
                      </a:pPr>
                      <a:r>
                        <a:rPr sz="1200" b="0">
                          <a:solidFill>
                            <a:srgbClr val="12233B"/>
                          </a:solidFill>
                          <a:latin typeface="Arial"/>
                        </a:rPr>
                        <a:t>DATA_TO_SV</a:t>
                      </a:r>
                    </a:p>
                  </a:txBody>
                  <a:tcPr marL="101600" marR="101600" marT="76200" marB="76200" anchor="ctr">
                    <a:solidFill>
                      <a:srgbClr val="F5F3EE"/>
                    </a:solidFill>
                  </a:tcPr>
                </a:tc>
                <a:tc>
                  <a:txBody>
                    <a:bodyPr wrap="square"/>
                    <a:lstStyle/>
                    <a:p>
                      <a:pPr>
                        <a:lnSpc>
                          <a:spcPct val="125000"/>
                        </a:lnSpc>
                      </a:pPr>
                      <a:r>
                        <a:rPr sz="1200" b="0">
                          <a:solidFill>
                            <a:srgbClr val="12233B"/>
                          </a:solidFill>
                          <a:latin typeface="Arial"/>
                        </a:rPr>
                        <a:t>LUD_FLOW_AJUSTEMENT_</a:t>
                      </a:r>
                    </a:p>
                    <a:p>
                      <a:pPr>
                        <a:lnSpc>
                          <a:spcPct val="125000"/>
                        </a:lnSpc>
                      </a:pPr>
                      <a:r>
                        <a:rPr sz="1200" b="0">
                          <a:solidFill>
                            <a:srgbClr val="12233B"/>
                          </a:solidFill>
                          <a:latin typeface="Arial"/>
                        </a:rPr>
                        <a:t>REO_COVID</a:t>
                      </a:r>
                    </a:p>
                  </a:txBody>
                  <a:tcPr marL="101600" marR="101600" marT="76200" marB="76200" anchor="ctr">
                    <a:solidFill>
                      <a:srgbClr val="F5F3EE"/>
                    </a:solidFill>
                  </a:tcPr>
                </a:tc>
              </a:tr>
              <a:tr h="548640">
                <a:tc>
                  <a:txBody>
                    <a:bodyPr wrap="square"/>
                    <a:lstStyle/>
                    <a:p>
                      <a:pPr>
                        <a:lnSpc>
                          <a:spcPct val="125000"/>
                        </a:lnSpc>
                      </a:pPr>
                      <a:r>
                        <a:rPr sz="1200" b="1">
                          <a:solidFill>
                            <a:srgbClr val="12233B"/>
                          </a:solidFill>
                          <a:latin typeface="Arial"/>
                        </a:rPr>
                        <a:t>Rôle</a:t>
                      </a:r>
                    </a:p>
                  </a:txBody>
                  <a:tcPr marL="101600" marR="101600" marT="76200" marB="76200" anchor="ctr">
                    <a:solidFill>
                      <a:srgbClr val="FBFAF6"/>
                    </a:solidFill>
                  </a:tcPr>
                </a:tc>
                <a:tc>
                  <a:txBody>
                    <a:bodyPr wrap="square"/>
                    <a:lstStyle/>
                    <a:p>
                      <a:pPr>
                        <a:lnSpc>
                          <a:spcPct val="125000"/>
                        </a:lnSpc>
                      </a:pPr>
                      <a:r>
                        <a:rPr sz="1200" b="0">
                          <a:solidFill>
                            <a:srgbClr val="12233B"/>
                          </a:solidFill>
                          <a:latin typeface="Arial"/>
                        </a:rPr>
                        <a:t>Ajustements REO, du dépôt au fait UV dc_conso</a:t>
                      </a:r>
                    </a:p>
                  </a:txBody>
                  <a:tcPr marL="101600" marR="101600" marT="76200" marB="76200" anchor="ctr">
                    <a:solidFill>
                      <a:srgbClr val="FBFAF6"/>
                    </a:solidFill>
                  </a:tcPr>
                </a:tc>
                <a:tc>
                  <a:txBody>
                    <a:bodyPr wrap="square"/>
                    <a:lstStyle/>
                    <a:p>
                      <a:pPr>
                        <a:lnSpc>
                          <a:spcPct val="125000"/>
                        </a:lnSpc>
                      </a:pPr>
                      <a:r>
                        <a:rPr sz="1200" b="0">
                          <a:solidFill>
                            <a:srgbClr val="12233B"/>
                          </a:solidFill>
                          <a:latin typeface="Arial"/>
                        </a:rPr>
                        <a:t>Extractions de l’outil MyREO vers le SV</a:t>
                      </a:r>
                    </a:p>
                  </a:txBody>
                  <a:tcPr marL="101600" marR="101600" marT="76200" marB="76200" anchor="ctr">
                    <a:solidFill>
                      <a:srgbClr val="FBFAF6"/>
                    </a:solidFill>
                  </a:tcPr>
                </a:tc>
                <a:tc>
                  <a:txBody>
                    <a:bodyPr wrap="square"/>
                    <a:lstStyle/>
                    <a:p>
                      <a:pPr>
                        <a:lnSpc>
                          <a:spcPct val="125000"/>
                        </a:lnSpc>
                      </a:pPr>
                      <a:r>
                        <a:rPr sz="1200" b="0">
                          <a:solidFill>
                            <a:srgbClr val="12233B"/>
                          </a:solidFill>
                          <a:latin typeface="Arial"/>
                        </a:rPr>
                        <a:t>Ajustements MyREO et SQL Server ventilés, puis exportés</a:t>
                      </a:r>
                    </a:p>
                  </a:txBody>
                  <a:tcPr marL="101600" marR="101600" marT="76200" marB="76200" anchor="ctr">
                    <a:solidFill>
                      <a:srgbClr val="FBFAF6"/>
                    </a:solidFill>
                  </a:tcPr>
                </a:tc>
              </a:tr>
              <a:tr h="350520">
                <a:tc>
                  <a:txBody>
                    <a:bodyPr wrap="square"/>
                    <a:lstStyle/>
                    <a:p>
                      <a:pPr>
                        <a:lnSpc>
                          <a:spcPct val="125000"/>
                        </a:lnSpc>
                      </a:pPr>
                      <a:r>
                        <a:rPr sz="1200" b="1">
                          <a:solidFill>
                            <a:srgbClr val="12233B"/>
                          </a:solidFill>
                          <a:latin typeface="Arial"/>
                        </a:rPr>
                        <a:t>Entrée</a:t>
                      </a:r>
                    </a:p>
                  </a:txBody>
                  <a:tcPr marL="101600" marR="101600" marT="76200" marB="76200" anchor="ctr">
                    <a:solidFill>
                      <a:srgbClr val="F5F3EE"/>
                    </a:solidFill>
                  </a:tcPr>
                </a:tc>
                <a:tc>
                  <a:txBody>
                    <a:bodyPr wrap="square"/>
                    <a:lstStyle/>
                    <a:p>
                      <a:pPr>
                        <a:lnSpc>
                          <a:spcPct val="125000"/>
                        </a:lnSpc>
                      </a:pPr>
                      <a:r>
                        <a:rPr sz="1200" b="0">
                          <a:solidFill>
                            <a:srgbClr val="12233B"/>
                          </a:solidFill>
                          <a:latin typeface="Arial"/>
                        </a:rPr>
                        <a:t>Dépôt wp_reo/ajust/aju/archive</a:t>
                      </a:r>
                    </a:p>
                  </a:txBody>
                  <a:tcPr marL="101600" marR="101600" marT="76200" marB="76200" anchor="ctr">
                    <a:solidFill>
                      <a:srgbClr val="F5F3EE"/>
                    </a:solidFill>
                  </a:tcPr>
                </a:tc>
                <a:tc>
                  <a:txBody>
                    <a:bodyPr wrap="square"/>
                    <a:lstStyle/>
                    <a:p>
                      <a:pPr>
                        <a:lnSpc>
                          <a:spcPct val="125000"/>
                        </a:lnSpc>
                      </a:pPr>
                      <a:r>
                        <a:rPr sz="1200" b="0">
                          <a:solidFill>
                            <a:srgbClr val="12233B"/>
                          </a:solidFill>
                          <a:latin typeface="Arial"/>
                        </a:rPr>
                        <a:t>Dépôt raw/ajust/AJU_RES_CLE</a:t>
                      </a:r>
                    </a:p>
                  </a:txBody>
                  <a:tcPr marL="101600" marR="101600" marT="76200" marB="76200" anchor="ctr">
                    <a:solidFill>
                      <a:srgbClr val="F5F3EE"/>
                    </a:solidFill>
                  </a:tcPr>
                </a:tc>
                <a:tc>
                  <a:txBody>
                    <a:bodyPr wrap="square"/>
                    <a:lstStyle/>
                    <a:p>
                      <a:pPr>
                        <a:lnSpc>
                          <a:spcPct val="125000"/>
                        </a:lnSpc>
                      </a:pPr>
                      <a:r>
                        <a:rPr sz="1200" b="0">
                          <a:solidFill>
                            <a:srgbClr val="12233B"/>
                          </a:solidFill>
                          <a:latin typeface="Arial"/>
                        </a:rPr>
                        <a:t>reomaker.csv et dbo.ajustment_reo</a:t>
                      </a:r>
                    </a:p>
                  </a:txBody>
                  <a:tcPr marL="101600" marR="101600" marT="76200" marB="76200" anchor="ctr">
                    <a:solidFill>
                      <a:srgbClr val="F5F3EE"/>
                    </a:solidFill>
                  </a:tcPr>
                </a:tc>
              </a:tr>
              <a:tr h="548640">
                <a:tc>
                  <a:txBody>
                    <a:bodyPr wrap="square"/>
                    <a:lstStyle/>
                    <a:p>
                      <a:pPr>
                        <a:lnSpc>
                          <a:spcPct val="125000"/>
                        </a:lnSpc>
                      </a:pPr>
                      <a:r>
                        <a:rPr sz="1200" b="1">
                          <a:solidFill>
                            <a:srgbClr val="12233B"/>
                          </a:solidFill>
                          <a:latin typeface="Arial"/>
                        </a:rPr>
                        <a:t>Sorties</a:t>
                      </a:r>
                    </a:p>
                  </a:txBody>
                  <a:tcPr marL="101600" marR="101600" marT="76200" marB="76200" anchor="ctr">
                    <a:solidFill>
                      <a:srgbClr val="FBFAF6"/>
                    </a:solidFill>
                  </a:tcPr>
                </a:tc>
                <a:tc>
                  <a:txBody>
                    <a:bodyPr wrap="square"/>
                    <a:lstStyle/>
                    <a:p>
                      <a:pPr>
                        <a:lnSpc>
                          <a:spcPct val="125000"/>
                        </a:lnSpc>
                      </a:pPr>
                      <a:r>
                        <a:rPr sz="1200" b="0">
                          <a:solidFill>
                            <a:srgbClr val="12233B"/>
                          </a:solidFill>
                          <a:latin typeface="Arial"/>
                        </a:rPr>
                        <a:t>RD, SV, BV, conso Parquet, fait UV</a:t>
                      </a:r>
                    </a:p>
                  </a:txBody>
                  <a:tcPr marL="101600" marR="101600" marT="76200" marB="76200" anchor="ctr">
                    <a:solidFill>
                      <a:srgbClr val="FBFAF6"/>
                    </a:solidFill>
                  </a:tcPr>
                </a:tc>
                <a:tc>
                  <a:txBody>
                    <a:bodyPr wrap="square"/>
                    <a:lstStyle/>
                    <a:p>
                      <a:pPr>
                        <a:lnSpc>
                          <a:spcPct val="125000"/>
                        </a:lnSpc>
                      </a:pPr>
                      <a:r>
                        <a:rPr sz="1200" b="0">
                          <a:solidFill>
                            <a:srgbClr val="12233B"/>
                          </a:solidFill>
                          <a:latin typeface="Arial"/>
                        </a:rPr>
                        <a:t>Un fichier SV dans sv_reo/my_reo</a:t>
                      </a:r>
                    </a:p>
                  </a:txBody>
                  <a:tcPr marL="101600" marR="101600" marT="76200" marB="76200" anchor="ctr">
                    <a:solidFill>
                      <a:srgbClr val="FBFAF6"/>
                    </a:solidFill>
                  </a:tcPr>
                </a:tc>
                <a:tc>
                  <a:txBody>
                    <a:bodyPr wrap="square"/>
                    <a:lstStyle/>
                    <a:p>
                      <a:pPr>
                        <a:lnSpc>
                          <a:spcPct val="125000"/>
                        </a:lnSpc>
                      </a:pPr>
                      <a:r>
                        <a:rPr sz="1200" b="0">
                          <a:solidFill>
                            <a:srgbClr val="12233B"/>
                          </a:solidFill>
                          <a:latin typeface="Arial"/>
                        </a:rPr>
                        <a:t>Agrégats, fait UV, tables SQL Server, dépôt AJUST</a:t>
                      </a:r>
                    </a:p>
                  </a:txBody>
                  <a:tcPr marL="101600" marR="101600" marT="76200" marB="76200" anchor="ctr">
                    <a:solidFill>
                      <a:srgbClr val="FBFAF6"/>
                    </a:solidFill>
                  </a:tcPr>
                </a:tc>
              </a:tr>
              <a:tr h="350520">
                <a:tc>
                  <a:txBody>
                    <a:bodyPr wrap="square"/>
                    <a:lstStyle/>
                    <a:p>
                      <a:pPr>
                        <a:lnSpc>
                          <a:spcPct val="125000"/>
                        </a:lnSpc>
                      </a:pPr>
                      <a:r>
                        <a:rPr sz="1200" b="1">
                          <a:solidFill>
                            <a:srgbClr val="12233B"/>
                          </a:solidFill>
                          <a:latin typeface="Arial"/>
                        </a:rPr>
                        <a:t>Driver</a:t>
                      </a:r>
                    </a:p>
                  </a:txBody>
                  <a:tcPr marL="101600" marR="101600" marT="76200" marB="76200" anchor="ctr">
                    <a:solidFill>
                      <a:srgbClr val="F5F3EE"/>
                    </a:solidFill>
                  </a:tcPr>
                </a:tc>
                <a:tc>
                  <a:txBody>
                    <a:bodyPr wrap="square"/>
                    <a:lstStyle/>
                    <a:p>
                      <a:pPr>
                        <a:lnSpc>
                          <a:spcPct val="125000"/>
                        </a:lnSpc>
                      </a:pPr>
                      <a:r>
                        <a:rPr sz="1200" b="0">
                          <a:solidFill>
                            <a:srgbClr val="12233B"/>
                          </a:solidFill>
                          <a:latin typeface="Arial"/>
                        </a:rPr>
                        <a:t>MainDriverAjustReo, 7 étapes</a:t>
                      </a:r>
                    </a:p>
                  </a:txBody>
                  <a:tcPr marL="101600" marR="101600" marT="76200" marB="76200" anchor="ctr">
                    <a:solidFill>
                      <a:srgbClr val="F5F3EE"/>
                    </a:solidFill>
                  </a:tcPr>
                </a:tc>
                <a:tc>
                  <a:txBody>
                    <a:bodyPr wrap="square"/>
                    <a:lstStyle/>
                    <a:p>
                      <a:pPr>
                        <a:lnSpc>
                          <a:spcPct val="125000"/>
                        </a:lnSpc>
                      </a:pPr>
                      <a:r>
                        <a:rPr sz="1200" b="0">
                          <a:solidFill>
                            <a:srgbClr val="12233B"/>
                          </a:solidFill>
                          <a:latin typeface="Arial"/>
                        </a:rPr>
                        <a:t>MainDriverMyReo, 4 étapes</a:t>
                      </a:r>
                    </a:p>
                  </a:txBody>
                  <a:tcPr marL="101600" marR="101600" marT="76200" marB="76200" anchor="ctr">
                    <a:solidFill>
                      <a:srgbClr val="F5F3EE"/>
                    </a:solidFill>
                  </a:tcPr>
                </a:tc>
                <a:tc>
                  <a:txBody>
                    <a:bodyPr wrap="square"/>
                    <a:lstStyle/>
                    <a:p>
                      <a:pPr>
                        <a:lnSpc>
                          <a:spcPct val="125000"/>
                        </a:lnSpc>
                      </a:pPr>
                      <a:r>
                        <a:rPr sz="1200" b="0">
                          <a:solidFill>
                            <a:srgbClr val="12233B"/>
                          </a:solidFill>
                          <a:latin typeface="Arial"/>
                        </a:rPr>
                        <a:t>MainDriverReo, 17 étapes</a:t>
                      </a:r>
                    </a:p>
                  </a:txBody>
                  <a:tcPr marL="101600" marR="101600" marT="76200" marB="76200" anchor="ctr">
                    <a:solidFill>
                      <a:srgbClr val="F5F3EE"/>
                    </a:solidFill>
                  </a:tcPr>
                </a:tc>
              </a:tr>
              <a:tr h="350520">
                <a:tc>
                  <a:txBody>
                    <a:bodyPr wrap="square"/>
                    <a:lstStyle/>
                    <a:p>
                      <a:pPr>
                        <a:lnSpc>
                          <a:spcPct val="125000"/>
                        </a:lnSpc>
                      </a:pPr>
                      <a:r>
                        <a:rPr sz="1200" b="1">
                          <a:solidFill>
                            <a:srgbClr val="12233B"/>
                          </a:solidFill>
                          <a:latin typeface="Arial"/>
                        </a:rPr>
                        <a:t>Configuration</a:t>
                      </a:r>
                    </a:p>
                  </a:txBody>
                  <a:tcPr marL="101600" marR="101600" marT="76200" marB="76200" anchor="ctr">
                    <a:solidFill>
                      <a:srgbClr val="FBFAF6"/>
                    </a:solidFill>
                  </a:tcPr>
                </a:tc>
                <a:tc>
                  <a:txBody>
                    <a:bodyPr wrap="square"/>
                    <a:lstStyle/>
                    <a:p>
                      <a:pPr>
                        <a:lnSpc>
                          <a:spcPct val="125000"/>
                        </a:lnSpc>
                      </a:pPr>
                      <a:r>
                        <a:rPr sz="1200" b="0">
                          <a:solidFill>
                            <a:srgbClr val="12233B"/>
                          </a:solidFill>
                          <a:latin typeface="Arial"/>
                        </a:rPr>
                        <a:t>conf/reo_ajust.conf</a:t>
                      </a:r>
                    </a:p>
                  </a:txBody>
                  <a:tcPr marL="101600" marR="101600" marT="76200" marB="76200" anchor="ctr">
                    <a:solidFill>
                      <a:srgbClr val="FBFAF6"/>
                    </a:solidFill>
                  </a:tcPr>
                </a:tc>
                <a:tc>
                  <a:txBody>
                    <a:bodyPr wrap="square"/>
                    <a:lstStyle/>
                    <a:p>
                      <a:pPr>
                        <a:lnSpc>
                          <a:spcPct val="125000"/>
                        </a:lnSpc>
                      </a:pPr>
                      <a:r>
                        <a:rPr sz="1200" b="0">
                          <a:solidFill>
                            <a:srgbClr val="12233B"/>
                          </a:solidFill>
                          <a:latin typeface="Arial"/>
                        </a:rPr>
                        <a:t>conf/reo_myreo.conf</a:t>
                      </a:r>
                    </a:p>
                  </a:txBody>
                  <a:tcPr marL="101600" marR="101600" marT="76200" marB="76200" anchor="ctr">
                    <a:solidFill>
                      <a:srgbClr val="FBFAF6"/>
                    </a:solidFill>
                  </a:tcPr>
                </a:tc>
                <a:tc>
                  <a:txBody>
                    <a:bodyPr wrap="square"/>
                    <a:lstStyle/>
                    <a:p>
                      <a:pPr>
                        <a:lnSpc>
                          <a:spcPct val="125000"/>
                        </a:lnSpc>
                      </a:pPr>
                      <a:r>
                        <a:rPr sz="1200" b="0">
                          <a:solidFill>
                            <a:srgbClr val="12233B"/>
                          </a:solidFill>
                          <a:latin typeface="Arial"/>
                        </a:rPr>
                        <a:t>conf/reo_alim.conf</a:t>
                      </a:r>
                    </a:p>
                  </a:txBody>
                  <a:tcPr marL="101600" marR="101600" marT="76200" marB="76200" anchor="ctr">
                    <a:solidFill>
                      <a:srgbClr val="FBFAF6"/>
                    </a:solidFill>
                  </a:tcPr>
                </a:tc>
              </a:tr>
            </a:tbl>
          </a:graphicData>
        </a:graphic>
      </p:graphicFrame>
      <p:sp>
        <p:nvSpPr>
          <p:cNvPr id="7" name="TextBox 6"/>
          <p:cNvSpPr txBox="1"/>
          <p:nvPr/>
        </p:nvSpPr>
        <p:spPr>
          <a:xfrm>
            <a:off x="812800" y="6261100"/>
            <a:ext cx="3644503" cy="190500"/>
          </a:xfrm>
          <a:prstGeom prst="rect">
            <a:avLst/>
          </a:prstGeom>
          <a:noFill/>
        </p:spPr>
        <p:txBody>
          <a:bodyPr wrap="square" lIns="0" rIns="0" tIns="0" bIns="0" anchor="t"/>
          <a:lstStyle/>
          <a:p>
            <a:pPr>
              <a:lnSpc>
                <a:spcPct val="125000"/>
              </a:lnSpc>
            </a:pPr>
            <a:r>
              <a:rPr sz="1200" b="0">
                <a:solidFill>
                  <a:srgbClr val="5B6677"/>
                </a:solidFill>
                <a:latin typeface="Arial"/>
              </a:rPr>
              <a:t>BSY_REO · chaînes REO AJUST, MYREO et COVID</a:t>
            </a:r>
          </a:p>
        </p:txBody>
      </p:sp>
      <p:sp>
        <p:nvSpPr>
          <p:cNvPr id="8" name="TextBox 7"/>
          <p:cNvSpPr txBox="1"/>
          <p:nvPr/>
        </p:nvSpPr>
        <p:spPr>
          <a:xfrm>
            <a:off x="11283950" y="6261100"/>
            <a:ext cx="95250" cy="190500"/>
          </a:xfrm>
          <a:prstGeom prst="rect">
            <a:avLst/>
          </a:prstGeom>
          <a:noFill/>
        </p:spPr>
        <p:txBody>
          <a:bodyPr wrap="square" lIns="0" rIns="0" tIns="0" bIns="0" anchor="t"/>
          <a:lstStyle/>
          <a:p>
            <a:pPr>
              <a:lnSpc>
                <a:spcPct val="125000"/>
              </a:lnSpc>
            </a:pPr>
            <a:r>
              <a:rPr sz="1200" b="0">
                <a:solidFill>
                  <a:srgbClr val="5B6677"/>
                </a:solidFill>
                <a:latin typeface="Arial"/>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6858000"/>
          </a:xfrm>
          <a:prstGeom prst="rect">
            <a:avLst/>
          </a:prstGeom>
          <a:solidFill>
            <a:srgbClr val="F5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12800" y="812800"/>
            <a:ext cx="10566400" cy="190500"/>
          </a:xfrm>
          <a:prstGeom prst="rect">
            <a:avLst/>
          </a:prstGeom>
          <a:noFill/>
        </p:spPr>
        <p:txBody>
          <a:bodyPr wrap="square" lIns="0" rIns="0" tIns="0" bIns="0" anchor="t"/>
          <a:lstStyle/>
          <a:p>
            <a:pPr>
              <a:lnSpc>
                <a:spcPct val="125000"/>
              </a:lnSpc>
            </a:pPr>
            <a:r>
              <a:rPr sz="1200" b="1" spc="150">
                <a:solidFill>
                  <a:srgbClr val="46556A"/>
                </a:solidFill>
                <a:latin typeface="Arial"/>
              </a:rPr>
              <a:t>ARCHITECTURE</a:t>
            </a:r>
          </a:p>
        </p:txBody>
      </p:sp>
      <p:sp>
        <p:nvSpPr>
          <p:cNvPr id="5" name="TextBox 4"/>
          <p:cNvSpPr txBox="1"/>
          <p:nvPr/>
        </p:nvSpPr>
        <p:spPr>
          <a:xfrm>
            <a:off x="812800" y="1079500"/>
            <a:ext cx="10566400" cy="447040"/>
          </a:xfrm>
          <a:prstGeom prst="rect">
            <a:avLst/>
          </a:prstGeom>
          <a:noFill/>
        </p:spPr>
        <p:txBody>
          <a:bodyPr wrap="square" lIns="0" rIns="0" tIns="0" bIns="0" anchor="t"/>
          <a:lstStyle/>
          <a:p>
            <a:pPr>
              <a:lnSpc>
                <a:spcPct val="110000"/>
              </a:lnSpc>
            </a:pPr>
            <a:r>
              <a:rPr sz="3200" b="1">
                <a:solidFill>
                  <a:srgbClr val="12233B"/>
                </a:solidFill>
                <a:latin typeface="Arial"/>
              </a:rPr>
              <a:t>Une architecture en couches, reprise du template FDA</a:t>
            </a:r>
          </a:p>
        </p:txBody>
      </p:sp>
      <p:sp>
        <p:nvSpPr>
          <p:cNvPr id="6" name="Rounded Rectangle 5"/>
          <p:cNvSpPr/>
          <p:nvPr/>
        </p:nvSpPr>
        <p:spPr>
          <a:xfrm>
            <a:off x="812800" y="1938020"/>
            <a:ext cx="1706880" cy="1036319"/>
          </a:xfrm>
          <a:prstGeom prst="roundRect">
            <a:avLst>
              <a:gd name="adj" fmla="val 9803"/>
            </a:avLst>
          </a:prstGeom>
          <a:solidFill>
            <a:srgbClr val="FBFAF6"/>
          </a:solidFill>
          <a:ln w="6350">
            <a:solidFill>
              <a:srgbClr val="E2DE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5200" y="2090420"/>
            <a:ext cx="1402080" cy="228600"/>
          </a:xfrm>
          <a:prstGeom prst="rect">
            <a:avLst/>
          </a:prstGeom>
          <a:noFill/>
        </p:spPr>
        <p:txBody>
          <a:bodyPr wrap="square" lIns="0" rIns="0" tIns="0" bIns="0" anchor="t"/>
          <a:lstStyle/>
          <a:p>
            <a:pPr>
              <a:lnSpc>
                <a:spcPct val="120000"/>
              </a:lnSpc>
            </a:pPr>
            <a:r>
              <a:rPr sz="1500" b="1">
                <a:solidFill>
                  <a:srgbClr val="12233B"/>
                </a:solidFill>
                <a:latin typeface="Arial"/>
              </a:rPr>
              <a:t>Driver</a:t>
            </a:r>
          </a:p>
        </p:txBody>
      </p:sp>
      <p:sp>
        <p:nvSpPr>
          <p:cNvPr id="8" name="TextBox 7"/>
          <p:cNvSpPr txBox="1"/>
          <p:nvPr/>
        </p:nvSpPr>
        <p:spPr>
          <a:xfrm>
            <a:off x="965200" y="2395220"/>
            <a:ext cx="1402080" cy="426719"/>
          </a:xfrm>
          <a:prstGeom prst="rect">
            <a:avLst/>
          </a:prstGeom>
          <a:noFill/>
        </p:spPr>
        <p:txBody>
          <a:bodyPr wrap="square" lIns="0" rIns="0" tIns="0" bIns="0" anchor="t"/>
          <a:lstStyle/>
          <a:p>
            <a:pPr>
              <a:lnSpc>
                <a:spcPct val="140000"/>
              </a:lnSpc>
            </a:pPr>
            <a:r>
              <a:rPr sz="1200" b="0">
                <a:solidFill>
                  <a:srgbClr val="46556A"/>
                </a:solidFill>
                <a:latin typeface="Arial"/>
              </a:rPr>
              <a:t>Lit la configuration et enchaîne les étapes</a:t>
            </a:r>
          </a:p>
        </p:txBody>
      </p:sp>
      <p:sp>
        <p:nvSpPr>
          <p:cNvPr id="9" name="Right Arrow 8"/>
          <p:cNvSpPr/>
          <p:nvPr/>
        </p:nvSpPr>
        <p:spPr>
          <a:xfrm>
            <a:off x="2621280" y="2379979"/>
            <a:ext cx="304800" cy="152400"/>
          </a:xfrm>
          <a:prstGeom prst="rightArrow">
            <a:avLst/>
          </a:prstGeom>
          <a:solidFill>
            <a:srgbClr val="9AA6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027680" y="1831339"/>
            <a:ext cx="1706880" cy="1249680"/>
          </a:xfrm>
          <a:prstGeom prst="roundRect">
            <a:avLst>
              <a:gd name="adj" fmla="val 8130"/>
            </a:avLst>
          </a:prstGeom>
          <a:solidFill>
            <a:srgbClr val="FBFAF6"/>
          </a:solidFill>
          <a:ln w="6350">
            <a:solidFill>
              <a:srgbClr val="E2DE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180080" y="1983739"/>
            <a:ext cx="1402080" cy="228600"/>
          </a:xfrm>
          <a:prstGeom prst="rect">
            <a:avLst/>
          </a:prstGeom>
          <a:noFill/>
        </p:spPr>
        <p:txBody>
          <a:bodyPr wrap="square" lIns="0" rIns="0" tIns="0" bIns="0" anchor="t"/>
          <a:lstStyle/>
          <a:p>
            <a:pPr>
              <a:lnSpc>
                <a:spcPct val="120000"/>
              </a:lnSpc>
            </a:pPr>
            <a:r>
              <a:rPr sz="1500" b="1">
                <a:solidFill>
                  <a:srgbClr val="12233B"/>
                </a:solidFill>
                <a:latin typeface="Arial"/>
              </a:rPr>
              <a:t>FetchSource</a:t>
            </a:r>
          </a:p>
        </p:txBody>
      </p:sp>
      <p:sp>
        <p:nvSpPr>
          <p:cNvPr id="12" name="TextBox 11"/>
          <p:cNvSpPr txBox="1"/>
          <p:nvPr/>
        </p:nvSpPr>
        <p:spPr>
          <a:xfrm>
            <a:off x="3180080" y="2288540"/>
            <a:ext cx="1402080" cy="640080"/>
          </a:xfrm>
          <a:prstGeom prst="rect">
            <a:avLst/>
          </a:prstGeom>
          <a:noFill/>
        </p:spPr>
        <p:txBody>
          <a:bodyPr wrap="square" lIns="0" rIns="0" tIns="0" bIns="0" anchor="t"/>
          <a:lstStyle/>
          <a:p>
            <a:pPr>
              <a:lnSpc>
                <a:spcPct val="140000"/>
              </a:lnSpc>
            </a:pPr>
            <a:r>
              <a:rPr sz="1200" b="0">
                <a:solidFill>
                  <a:srgbClr val="46556A"/>
                </a:solidFill>
                <a:latin typeface="Arial"/>
              </a:rPr>
              <a:t>Lit chaque source au premier accès, schéma imposé</a:t>
            </a:r>
          </a:p>
        </p:txBody>
      </p:sp>
      <p:sp>
        <p:nvSpPr>
          <p:cNvPr id="13" name="Right Arrow 12"/>
          <p:cNvSpPr/>
          <p:nvPr/>
        </p:nvSpPr>
        <p:spPr>
          <a:xfrm>
            <a:off x="4836160" y="2379979"/>
            <a:ext cx="304800" cy="152400"/>
          </a:xfrm>
          <a:prstGeom prst="rightArrow">
            <a:avLst/>
          </a:prstGeom>
          <a:solidFill>
            <a:srgbClr val="9AA6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242560" y="1938020"/>
            <a:ext cx="1706880" cy="1036319"/>
          </a:xfrm>
          <a:prstGeom prst="roundRect">
            <a:avLst>
              <a:gd name="adj" fmla="val 9803"/>
            </a:avLst>
          </a:prstGeom>
          <a:solidFill>
            <a:srgbClr val="FBFAF6"/>
          </a:solidFill>
          <a:ln w="6350">
            <a:solidFill>
              <a:srgbClr val="E2DE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394960" y="2090420"/>
            <a:ext cx="1402080" cy="228600"/>
          </a:xfrm>
          <a:prstGeom prst="rect">
            <a:avLst/>
          </a:prstGeom>
          <a:noFill/>
        </p:spPr>
        <p:txBody>
          <a:bodyPr wrap="square" lIns="0" rIns="0" tIns="0" bIns="0" anchor="t"/>
          <a:lstStyle/>
          <a:p>
            <a:pPr>
              <a:lnSpc>
                <a:spcPct val="120000"/>
              </a:lnSpc>
            </a:pPr>
            <a:r>
              <a:rPr sz="1500" b="1">
                <a:solidFill>
                  <a:srgbClr val="12233B"/>
                </a:solidFill>
                <a:latin typeface="Arial"/>
              </a:rPr>
              <a:t>Runner</a:t>
            </a:r>
          </a:p>
        </p:txBody>
      </p:sp>
      <p:sp>
        <p:nvSpPr>
          <p:cNvPr id="16" name="TextBox 15"/>
          <p:cNvSpPr txBox="1"/>
          <p:nvPr/>
        </p:nvSpPr>
        <p:spPr>
          <a:xfrm>
            <a:off x="5394960" y="2395220"/>
            <a:ext cx="1402080" cy="426719"/>
          </a:xfrm>
          <a:prstGeom prst="rect">
            <a:avLst/>
          </a:prstGeom>
          <a:noFill/>
        </p:spPr>
        <p:txBody>
          <a:bodyPr wrap="square" lIns="0" rIns="0" tIns="0" bIns="0" anchor="t"/>
          <a:lstStyle/>
          <a:p>
            <a:pPr>
              <a:lnSpc>
                <a:spcPct val="140000"/>
              </a:lnSpc>
            </a:pPr>
            <a:r>
              <a:rPr sz="1200" b="0">
                <a:solidFill>
                  <a:srgbClr val="46556A"/>
                </a:solidFill>
                <a:latin typeface="Arial"/>
              </a:rPr>
              <a:t>Donne à chaque mapper ses entrées</a:t>
            </a:r>
          </a:p>
        </p:txBody>
      </p:sp>
      <p:sp>
        <p:nvSpPr>
          <p:cNvPr id="17" name="Right Arrow 16"/>
          <p:cNvSpPr/>
          <p:nvPr/>
        </p:nvSpPr>
        <p:spPr>
          <a:xfrm>
            <a:off x="7051040" y="2379979"/>
            <a:ext cx="304800" cy="152400"/>
          </a:xfrm>
          <a:prstGeom prst="rightArrow">
            <a:avLst/>
          </a:prstGeom>
          <a:solidFill>
            <a:srgbClr val="9AA6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457440" y="1831339"/>
            <a:ext cx="1706880" cy="1249680"/>
          </a:xfrm>
          <a:prstGeom prst="roundRect">
            <a:avLst>
              <a:gd name="adj" fmla="val 8130"/>
            </a:avLst>
          </a:prstGeom>
          <a:solidFill>
            <a:srgbClr val="FBFAF6"/>
          </a:solidFill>
          <a:ln w="6350">
            <a:solidFill>
              <a:srgbClr val="E2DE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609840" y="1983739"/>
            <a:ext cx="1402080" cy="228600"/>
          </a:xfrm>
          <a:prstGeom prst="rect">
            <a:avLst/>
          </a:prstGeom>
          <a:noFill/>
        </p:spPr>
        <p:txBody>
          <a:bodyPr wrap="square" lIns="0" rIns="0" tIns="0" bIns="0" anchor="t"/>
          <a:lstStyle/>
          <a:p>
            <a:pPr>
              <a:lnSpc>
                <a:spcPct val="120000"/>
              </a:lnSpc>
            </a:pPr>
            <a:r>
              <a:rPr sz="1500" b="1">
                <a:solidFill>
                  <a:srgbClr val="12233B"/>
                </a:solidFill>
                <a:latin typeface="Arial"/>
              </a:rPr>
              <a:t>Mapper</a:t>
            </a:r>
          </a:p>
        </p:txBody>
      </p:sp>
      <p:sp>
        <p:nvSpPr>
          <p:cNvPr id="20" name="TextBox 19"/>
          <p:cNvSpPr txBox="1"/>
          <p:nvPr/>
        </p:nvSpPr>
        <p:spPr>
          <a:xfrm>
            <a:off x="7609840" y="2288540"/>
            <a:ext cx="1402080" cy="640080"/>
          </a:xfrm>
          <a:prstGeom prst="rect">
            <a:avLst/>
          </a:prstGeom>
          <a:noFill/>
        </p:spPr>
        <p:txBody>
          <a:bodyPr wrap="square" lIns="0" rIns="0" tIns="0" bIns="0" anchor="t"/>
          <a:lstStyle/>
          <a:p>
            <a:pPr>
              <a:lnSpc>
                <a:spcPct val="140000"/>
              </a:lnSpc>
            </a:pPr>
            <a:r>
              <a:rPr sz="1200" b="0">
                <a:solidFill>
                  <a:srgbClr val="46556A"/>
                </a:solidFill>
                <a:latin typeface="Arial"/>
              </a:rPr>
              <a:t>Vues temporaires et requêtes Spark SQL de l’objet Views</a:t>
            </a:r>
          </a:p>
        </p:txBody>
      </p:sp>
      <p:sp>
        <p:nvSpPr>
          <p:cNvPr id="21" name="Right Arrow 20"/>
          <p:cNvSpPr/>
          <p:nvPr/>
        </p:nvSpPr>
        <p:spPr>
          <a:xfrm>
            <a:off x="9265920" y="2379979"/>
            <a:ext cx="304800" cy="152400"/>
          </a:xfrm>
          <a:prstGeom prst="rightArrow">
            <a:avLst/>
          </a:prstGeom>
          <a:solidFill>
            <a:srgbClr val="9AA6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672320" y="1831339"/>
            <a:ext cx="1706880" cy="1249680"/>
          </a:xfrm>
          <a:prstGeom prst="roundRect">
            <a:avLst>
              <a:gd name="adj" fmla="val 8130"/>
            </a:avLst>
          </a:prstGeom>
          <a:solidFill>
            <a:srgbClr val="FBFAF6"/>
          </a:solidFill>
          <a:ln w="6350">
            <a:solidFill>
              <a:srgbClr val="E2DE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824720" y="1983739"/>
            <a:ext cx="1402080" cy="228600"/>
          </a:xfrm>
          <a:prstGeom prst="rect">
            <a:avLst/>
          </a:prstGeom>
          <a:noFill/>
        </p:spPr>
        <p:txBody>
          <a:bodyPr wrap="square" lIns="0" rIns="0" tIns="0" bIns="0" anchor="t"/>
          <a:lstStyle/>
          <a:p>
            <a:pPr>
              <a:lnSpc>
                <a:spcPct val="120000"/>
              </a:lnSpc>
            </a:pPr>
            <a:r>
              <a:rPr sz="1500" b="1">
                <a:solidFill>
                  <a:srgbClr val="12233B"/>
                </a:solidFill>
                <a:latin typeface="Arial"/>
              </a:rPr>
              <a:t>DataWriter</a:t>
            </a:r>
          </a:p>
        </p:txBody>
      </p:sp>
      <p:sp>
        <p:nvSpPr>
          <p:cNvPr id="24" name="TextBox 23"/>
          <p:cNvSpPr txBox="1"/>
          <p:nvPr/>
        </p:nvSpPr>
        <p:spPr>
          <a:xfrm>
            <a:off x="9824720" y="2288540"/>
            <a:ext cx="1402080" cy="640080"/>
          </a:xfrm>
          <a:prstGeom prst="rect">
            <a:avLst/>
          </a:prstGeom>
          <a:noFill/>
        </p:spPr>
        <p:txBody>
          <a:bodyPr wrap="square" lIns="0" rIns="0" tIns="0" bIns="0" anchor="t"/>
          <a:lstStyle/>
          <a:p>
            <a:pPr>
              <a:lnSpc>
                <a:spcPct val="140000"/>
              </a:lnSpc>
            </a:pPr>
            <a:r>
              <a:rPr sz="1200" b="0">
                <a:solidFill>
                  <a:srgbClr val="46556A"/>
                </a:solidFill>
                <a:latin typeface="Arial"/>
              </a:rPr>
              <a:t>Écrit les sorties, protège les référentiels</a:t>
            </a:r>
          </a:p>
        </p:txBody>
      </p:sp>
      <p:sp>
        <p:nvSpPr>
          <p:cNvPr id="25" name="Rounded Rectangle 24"/>
          <p:cNvSpPr/>
          <p:nvPr/>
        </p:nvSpPr>
        <p:spPr>
          <a:xfrm>
            <a:off x="812800" y="3335020"/>
            <a:ext cx="10566400" cy="1143000"/>
          </a:xfrm>
          <a:prstGeom prst="roundRect">
            <a:avLst>
              <a:gd name="adj" fmla="val 8888"/>
            </a:avLst>
          </a:prstGeom>
          <a:solidFill>
            <a:srgbClr val="FBFAF6"/>
          </a:solidFill>
          <a:ln w="6350">
            <a:solidFill>
              <a:srgbClr val="E2DE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16000" y="3487420"/>
            <a:ext cx="10160000" cy="228600"/>
          </a:xfrm>
          <a:prstGeom prst="rect">
            <a:avLst/>
          </a:prstGeom>
          <a:noFill/>
        </p:spPr>
        <p:txBody>
          <a:bodyPr wrap="square" lIns="0" rIns="0" tIns="0" bIns="0" anchor="t"/>
          <a:lstStyle/>
          <a:p>
            <a:pPr>
              <a:lnSpc>
                <a:spcPct val="150000"/>
              </a:lnSpc>
            </a:pPr>
            <a:r>
              <a:rPr sz="1200" b="0">
                <a:solidFill>
                  <a:srgbClr val="2A6496"/>
                </a:solidFill>
                <a:latin typeface="Courier New"/>
              </a:rPr>
              <a:t>AJUST</a:t>
            </a:r>
            <a:r>
              <a:rPr sz="1200" b="0">
                <a:solidFill>
                  <a:srgbClr val="12233B"/>
                </a:solidFill>
                <a:latin typeface="Courier New"/>
              </a:rPr>
              <a:t> · MainDriverAjustReo · FetchSourceAjustReo · AjustReoRunner · MainMapperAjust* · ViewsAjustReo</a:t>
            </a:r>
          </a:p>
        </p:txBody>
      </p:sp>
      <p:sp>
        <p:nvSpPr>
          <p:cNvPr id="27" name="TextBox 26"/>
          <p:cNvSpPr txBox="1"/>
          <p:nvPr/>
        </p:nvSpPr>
        <p:spPr>
          <a:xfrm>
            <a:off x="1016000" y="3792220"/>
            <a:ext cx="10160000" cy="228600"/>
          </a:xfrm>
          <a:prstGeom prst="rect">
            <a:avLst/>
          </a:prstGeom>
          <a:noFill/>
        </p:spPr>
        <p:txBody>
          <a:bodyPr wrap="square" lIns="0" rIns="0" tIns="0" bIns="0" anchor="t"/>
          <a:lstStyle/>
          <a:p>
            <a:pPr>
              <a:lnSpc>
                <a:spcPct val="150000"/>
              </a:lnSpc>
            </a:pPr>
            <a:r>
              <a:rPr sz="1200" b="0">
                <a:solidFill>
                  <a:srgbClr val="A9531C"/>
                </a:solidFill>
                <a:latin typeface="Courier New"/>
              </a:rPr>
              <a:t>MYREO</a:t>
            </a:r>
            <a:r>
              <a:rPr sz="1200" b="0">
                <a:solidFill>
                  <a:srgbClr val="12233B"/>
                </a:solidFill>
                <a:latin typeface="Courier New"/>
              </a:rPr>
              <a:t> · MainDriverMyReo · FetchSourceMyReo · MyReoRunner · MainMapperMyReo* · ViewsMyReo</a:t>
            </a:r>
          </a:p>
        </p:txBody>
      </p:sp>
      <p:sp>
        <p:nvSpPr>
          <p:cNvPr id="28" name="TextBox 27"/>
          <p:cNvSpPr txBox="1"/>
          <p:nvPr/>
        </p:nvSpPr>
        <p:spPr>
          <a:xfrm>
            <a:off x="1016000" y="4097020"/>
            <a:ext cx="10160000" cy="228600"/>
          </a:xfrm>
          <a:prstGeom prst="rect">
            <a:avLst/>
          </a:prstGeom>
          <a:noFill/>
        </p:spPr>
        <p:txBody>
          <a:bodyPr wrap="square" lIns="0" rIns="0" tIns="0" bIns="0" anchor="t"/>
          <a:lstStyle/>
          <a:p>
            <a:pPr>
              <a:lnSpc>
                <a:spcPct val="150000"/>
              </a:lnSpc>
            </a:pPr>
            <a:r>
              <a:rPr sz="1200" b="0">
                <a:solidFill>
                  <a:srgbClr val="24685A"/>
                </a:solidFill>
                <a:latin typeface="Courier New"/>
              </a:rPr>
              <a:t>COVID</a:t>
            </a:r>
            <a:r>
              <a:rPr sz="1200" b="0">
                <a:solidFill>
                  <a:srgbClr val="12233B"/>
                </a:solidFill>
                <a:latin typeface="Courier New"/>
              </a:rPr>
              <a:t> · MainDriverReo · FetchSourceCovidReo · CovidReoRunner · MainMapperCovid* · ViewsCovidReo</a:t>
            </a:r>
          </a:p>
        </p:txBody>
      </p:sp>
      <p:sp>
        <p:nvSpPr>
          <p:cNvPr id="29" name="TextBox 28"/>
          <p:cNvSpPr txBox="1"/>
          <p:nvPr/>
        </p:nvSpPr>
        <p:spPr>
          <a:xfrm>
            <a:off x="812800" y="4732020"/>
            <a:ext cx="10566400" cy="266700"/>
          </a:xfrm>
          <a:prstGeom prst="rect">
            <a:avLst/>
          </a:prstGeom>
          <a:noFill/>
        </p:spPr>
        <p:txBody>
          <a:bodyPr wrap="square" lIns="0" rIns="0" tIns="0" bIns="0" anchor="t"/>
          <a:lstStyle/>
          <a:p>
            <a:pPr>
              <a:lnSpc>
                <a:spcPct val="140000"/>
              </a:lnSpc>
            </a:pPr>
            <a:r>
              <a:rPr sz="1500" b="0">
                <a:solidFill>
                  <a:srgbClr val="46556A"/>
                </a:solidFill>
                <a:latin typeface="Arial"/>
              </a:rPr>
              <a:t>Un mapper par job Talend de transformation, une requête Spark SQL par composant Talend.</a:t>
            </a:r>
          </a:p>
        </p:txBody>
      </p:sp>
      <p:sp>
        <p:nvSpPr>
          <p:cNvPr id="30" name="TextBox 29"/>
          <p:cNvSpPr txBox="1"/>
          <p:nvPr/>
        </p:nvSpPr>
        <p:spPr>
          <a:xfrm>
            <a:off x="812800" y="6261100"/>
            <a:ext cx="3644503" cy="190500"/>
          </a:xfrm>
          <a:prstGeom prst="rect">
            <a:avLst/>
          </a:prstGeom>
          <a:noFill/>
        </p:spPr>
        <p:txBody>
          <a:bodyPr wrap="square" lIns="0" rIns="0" tIns="0" bIns="0" anchor="t"/>
          <a:lstStyle/>
          <a:p>
            <a:pPr>
              <a:lnSpc>
                <a:spcPct val="125000"/>
              </a:lnSpc>
            </a:pPr>
            <a:r>
              <a:rPr sz="1200" b="0">
                <a:solidFill>
                  <a:srgbClr val="5B6677"/>
                </a:solidFill>
                <a:latin typeface="Arial"/>
              </a:rPr>
              <a:t>BSY_REO · chaînes REO AJUST, MYREO et COVID</a:t>
            </a:r>
          </a:p>
        </p:txBody>
      </p:sp>
      <p:sp>
        <p:nvSpPr>
          <p:cNvPr id="31" name="TextBox 30"/>
          <p:cNvSpPr txBox="1"/>
          <p:nvPr/>
        </p:nvSpPr>
        <p:spPr>
          <a:xfrm>
            <a:off x="11283950" y="6261100"/>
            <a:ext cx="95250" cy="190500"/>
          </a:xfrm>
          <a:prstGeom prst="rect">
            <a:avLst/>
          </a:prstGeom>
          <a:noFill/>
        </p:spPr>
        <p:txBody>
          <a:bodyPr wrap="square" lIns="0" rIns="0" tIns="0" bIns="0" anchor="t"/>
          <a:lstStyle/>
          <a:p>
            <a:pPr>
              <a:lnSpc>
                <a:spcPct val="125000"/>
              </a:lnSpc>
            </a:pPr>
            <a:r>
              <a:rPr sz="1200" b="0">
                <a:solidFill>
                  <a:srgbClr val="5B6677"/>
                </a:solidFill>
                <a:latin typeface="Arial"/>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6858000"/>
          </a:xfrm>
          <a:prstGeom prst="rect">
            <a:avLst/>
          </a:prstGeom>
          <a:solidFill>
            <a:srgbClr val="F5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12800" y="812800"/>
            <a:ext cx="10566400" cy="190500"/>
          </a:xfrm>
          <a:prstGeom prst="rect">
            <a:avLst/>
          </a:prstGeom>
          <a:noFill/>
        </p:spPr>
        <p:txBody>
          <a:bodyPr wrap="square" lIns="0" rIns="0" tIns="0" bIns="0" anchor="t"/>
          <a:lstStyle/>
          <a:p>
            <a:pPr>
              <a:lnSpc>
                <a:spcPct val="125000"/>
              </a:lnSpc>
            </a:pPr>
            <a:r>
              <a:rPr sz="1200" b="1" spc="150">
                <a:solidFill>
                  <a:srgbClr val="46556A"/>
                </a:solidFill>
                <a:latin typeface="Arial"/>
              </a:rPr>
              <a:t>ARCHITECTURE</a:t>
            </a:r>
          </a:p>
        </p:txBody>
      </p:sp>
      <p:sp>
        <p:nvSpPr>
          <p:cNvPr id="5" name="TextBox 4"/>
          <p:cNvSpPr txBox="1"/>
          <p:nvPr/>
        </p:nvSpPr>
        <p:spPr>
          <a:xfrm>
            <a:off x="812800" y="1079500"/>
            <a:ext cx="10566400" cy="447040"/>
          </a:xfrm>
          <a:prstGeom prst="rect">
            <a:avLst/>
          </a:prstGeom>
          <a:noFill/>
        </p:spPr>
        <p:txBody>
          <a:bodyPr wrap="square" lIns="0" rIns="0" tIns="0" bIns="0" anchor="t"/>
          <a:lstStyle/>
          <a:p>
            <a:pPr>
              <a:lnSpc>
                <a:spcPct val="110000"/>
              </a:lnSpc>
            </a:pPr>
            <a:r>
              <a:rPr sz="3200" b="1">
                <a:solidFill>
                  <a:srgbClr val="12233B"/>
                </a:solidFill>
                <a:latin typeface="Arial"/>
              </a:rPr>
              <a:t>Un socle commun aux trois chaînes</a:t>
            </a:r>
          </a:p>
        </p:txBody>
      </p:sp>
      <p:sp>
        <p:nvSpPr>
          <p:cNvPr id="6" name="Rounded Rectangle 5"/>
          <p:cNvSpPr/>
          <p:nvPr/>
        </p:nvSpPr>
        <p:spPr>
          <a:xfrm>
            <a:off x="812800" y="1831339"/>
            <a:ext cx="3386666" cy="1511300"/>
          </a:xfrm>
          <a:prstGeom prst="roundRect">
            <a:avLst>
              <a:gd name="adj" fmla="val 6722"/>
            </a:avLst>
          </a:prstGeom>
          <a:solidFill>
            <a:srgbClr val="FBFAF6"/>
          </a:solidFill>
          <a:ln w="6350">
            <a:solidFill>
              <a:srgbClr val="E2DE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16000" y="2034539"/>
            <a:ext cx="2980266" cy="228600"/>
          </a:xfrm>
          <a:prstGeom prst="rect">
            <a:avLst/>
          </a:prstGeom>
          <a:noFill/>
        </p:spPr>
        <p:txBody>
          <a:bodyPr wrap="square" lIns="0" rIns="0" tIns="0" bIns="0" anchor="t"/>
          <a:lstStyle/>
          <a:p>
            <a:pPr>
              <a:lnSpc>
                <a:spcPct val="120000"/>
              </a:lnSpc>
            </a:pPr>
            <a:r>
              <a:rPr sz="1500" b="1">
                <a:solidFill>
                  <a:srgbClr val="12233B"/>
                </a:solidFill>
                <a:latin typeface="Courier New"/>
              </a:rPr>
              <a:t>ReoConf</a:t>
            </a:r>
          </a:p>
        </p:txBody>
      </p:sp>
      <p:sp>
        <p:nvSpPr>
          <p:cNvPr id="8" name="TextBox 7"/>
          <p:cNvSpPr txBox="1"/>
          <p:nvPr/>
        </p:nvSpPr>
        <p:spPr>
          <a:xfrm>
            <a:off x="1016000" y="2339340"/>
            <a:ext cx="2980266" cy="800099"/>
          </a:xfrm>
          <a:prstGeom prst="rect">
            <a:avLst/>
          </a:prstGeom>
          <a:noFill/>
        </p:spPr>
        <p:txBody>
          <a:bodyPr wrap="square" lIns="0" rIns="0" tIns="0" bIns="0" anchor="t"/>
          <a:lstStyle/>
          <a:p>
            <a:pPr>
              <a:lnSpc>
                <a:spcPct val="140000"/>
              </a:lnSpc>
            </a:pPr>
            <a:r>
              <a:rPr sz="1500" b="0">
                <a:solidFill>
                  <a:srgbClr val="46556A"/>
                </a:solidFill>
                <a:latin typeface="Arial"/>
              </a:rPr>
              <a:t>Lecture typée de la configuration, chemins résolus par environnement</a:t>
            </a:r>
          </a:p>
        </p:txBody>
      </p:sp>
      <p:sp>
        <p:nvSpPr>
          <p:cNvPr id="9" name="Rounded Rectangle 8"/>
          <p:cNvSpPr/>
          <p:nvPr/>
        </p:nvSpPr>
        <p:spPr>
          <a:xfrm>
            <a:off x="4402666" y="1831339"/>
            <a:ext cx="3386666" cy="1511300"/>
          </a:xfrm>
          <a:prstGeom prst="roundRect">
            <a:avLst>
              <a:gd name="adj" fmla="val 6722"/>
            </a:avLst>
          </a:prstGeom>
          <a:solidFill>
            <a:srgbClr val="FBFAF6"/>
          </a:solidFill>
          <a:ln w="6350">
            <a:solidFill>
              <a:srgbClr val="E2DE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05866" y="2034539"/>
            <a:ext cx="2980266" cy="228600"/>
          </a:xfrm>
          <a:prstGeom prst="rect">
            <a:avLst/>
          </a:prstGeom>
          <a:noFill/>
        </p:spPr>
        <p:txBody>
          <a:bodyPr wrap="square" lIns="0" rIns="0" tIns="0" bIns="0" anchor="t"/>
          <a:lstStyle/>
          <a:p>
            <a:pPr>
              <a:lnSpc>
                <a:spcPct val="120000"/>
              </a:lnSpc>
            </a:pPr>
            <a:r>
              <a:rPr sz="1500" b="1">
                <a:solidFill>
                  <a:srgbClr val="12233B"/>
                </a:solidFill>
                <a:latin typeface="Courier New"/>
              </a:rPr>
              <a:t>DataWriter</a:t>
            </a:r>
          </a:p>
        </p:txBody>
      </p:sp>
      <p:sp>
        <p:nvSpPr>
          <p:cNvPr id="11" name="TextBox 10"/>
          <p:cNvSpPr txBox="1"/>
          <p:nvPr/>
        </p:nvSpPr>
        <p:spPr>
          <a:xfrm>
            <a:off x="4605866" y="2339340"/>
            <a:ext cx="2980266" cy="800099"/>
          </a:xfrm>
          <a:prstGeom prst="rect">
            <a:avLst/>
          </a:prstGeom>
          <a:noFill/>
        </p:spPr>
        <p:txBody>
          <a:bodyPr wrap="square" lIns="0" rIns="0" tIns="0" bIns="0" anchor="t"/>
          <a:lstStyle/>
          <a:p>
            <a:pPr>
              <a:lnSpc>
                <a:spcPct val="140000"/>
              </a:lnSpc>
            </a:pPr>
            <a:r>
              <a:rPr sz="1500" b="0">
                <a:solidFill>
                  <a:srgbClr val="46556A"/>
                </a:solidFill>
                <a:latin typeface="Arial"/>
              </a:rPr>
              <a:t>Écritures CSV, Parquet ou fichier unique, racines protégées refusées</a:t>
            </a:r>
          </a:p>
        </p:txBody>
      </p:sp>
      <p:sp>
        <p:nvSpPr>
          <p:cNvPr id="12" name="Rounded Rectangle 11"/>
          <p:cNvSpPr/>
          <p:nvPr/>
        </p:nvSpPr>
        <p:spPr>
          <a:xfrm>
            <a:off x="7992533" y="1831339"/>
            <a:ext cx="3386666" cy="1511300"/>
          </a:xfrm>
          <a:prstGeom prst="roundRect">
            <a:avLst>
              <a:gd name="adj" fmla="val 6722"/>
            </a:avLst>
          </a:prstGeom>
          <a:solidFill>
            <a:srgbClr val="FBFAF6"/>
          </a:solidFill>
          <a:ln w="6350">
            <a:solidFill>
              <a:srgbClr val="E2DE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95733" y="2034539"/>
            <a:ext cx="2980266" cy="228600"/>
          </a:xfrm>
          <a:prstGeom prst="rect">
            <a:avLst/>
          </a:prstGeom>
          <a:noFill/>
        </p:spPr>
        <p:txBody>
          <a:bodyPr wrap="square" lIns="0" rIns="0" tIns="0" bIns="0" anchor="t"/>
          <a:lstStyle/>
          <a:p>
            <a:pPr>
              <a:lnSpc>
                <a:spcPct val="120000"/>
              </a:lnSpc>
            </a:pPr>
            <a:r>
              <a:rPr sz="1500" b="1">
                <a:solidFill>
                  <a:srgbClr val="12233B"/>
                </a:solidFill>
                <a:latin typeface="Courier New"/>
              </a:rPr>
              <a:t>StepRunner</a:t>
            </a:r>
          </a:p>
        </p:txBody>
      </p:sp>
      <p:sp>
        <p:nvSpPr>
          <p:cNvPr id="14" name="TextBox 13"/>
          <p:cNvSpPr txBox="1"/>
          <p:nvPr/>
        </p:nvSpPr>
        <p:spPr>
          <a:xfrm>
            <a:off x="8195733" y="2339340"/>
            <a:ext cx="2980266" cy="533400"/>
          </a:xfrm>
          <a:prstGeom prst="rect">
            <a:avLst/>
          </a:prstGeom>
          <a:noFill/>
        </p:spPr>
        <p:txBody>
          <a:bodyPr wrap="square" lIns="0" rIns="0" tIns="0" bIns="0" anchor="t"/>
          <a:lstStyle/>
          <a:p>
            <a:pPr>
              <a:lnSpc>
                <a:spcPct val="140000"/>
              </a:lnSpc>
            </a:pPr>
            <a:r>
              <a:rPr sz="1500" b="0">
                <a:solidFill>
                  <a:srgbClr val="46556A"/>
                </a:solidFill>
                <a:latin typeface="Arial"/>
              </a:rPr>
              <a:t>Étapes tracées en lignes STEP, arrêt à la première erreur</a:t>
            </a:r>
          </a:p>
        </p:txBody>
      </p:sp>
      <p:sp>
        <p:nvSpPr>
          <p:cNvPr id="15" name="Rounded Rectangle 14"/>
          <p:cNvSpPr/>
          <p:nvPr/>
        </p:nvSpPr>
        <p:spPr>
          <a:xfrm>
            <a:off x="812800" y="3545840"/>
            <a:ext cx="3386666" cy="1244600"/>
          </a:xfrm>
          <a:prstGeom prst="roundRect">
            <a:avLst>
              <a:gd name="adj" fmla="val 8163"/>
            </a:avLst>
          </a:prstGeom>
          <a:solidFill>
            <a:srgbClr val="FBFAF6"/>
          </a:solidFill>
          <a:ln w="6350">
            <a:solidFill>
              <a:srgbClr val="E2DE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16000" y="3749040"/>
            <a:ext cx="2980266" cy="228600"/>
          </a:xfrm>
          <a:prstGeom prst="rect">
            <a:avLst/>
          </a:prstGeom>
          <a:noFill/>
        </p:spPr>
        <p:txBody>
          <a:bodyPr wrap="square" lIns="0" rIns="0" tIns="0" bIns="0" anchor="t"/>
          <a:lstStyle/>
          <a:p>
            <a:pPr>
              <a:lnSpc>
                <a:spcPct val="120000"/>
              </a:lnSpc>
            </a:pPr>
            <a:r>
              <a:rPr sz="1500" b="1">
                <a:solidFill>
                  <a:srgbClr val="12233B"/>
                </a:solidFill>
                <a:latin typeface="Courier New"/>
              </a:rPr>
              <a:t>Utils</a:t>
            </a:r>
          </a:p>
        </p:txBody>
      </p:sp>
      <p:sp>
        <p:nvSpPr>
          <p:cNvPr id="17" name="TextBox 16"/>
          <p:cNvSpPr txBox="1"/>
          <p:nvPr/>
        </p:nvSpPr>
        <p:spPr>
          <a:xfrm>
            <a:off x="1016000" y="4053840"/>
            <a:ext cx="2980266" cy="533400"/>
          </a:xfrm>
          <a:prstGeom prst="rect">
            <a:avLst/>
          </a:prstGeom>
          <a:noFill/>
        </p:spPr>
        <p:txBody>
          <a:bodyPr wrap="square" lIns="0" rIns="0" tIns="0" bIns="0" anchor="t"/>
          <a:lstStyle/>
          <a:p>
            <a:pPr>
              <a:lnSpc>
                <a:spcPct val="140000"/>
              </a:lnSpc>
            </a:pPr>
            <a:r>
              <a:rPr sz="1500" b="0">
                <a:solidFill>
                  <a:srgbClr val="46556A"/>
                </a:solidFill>
                <a:latin typeface="Arial"/>
              </a:rPr>
              <a:t>Lecteurs fidèles à Talend : CSV brut, lecture ligne à ligne</a:t>
            </a:r>
          </a:p>
        </p:txBody>
      </p:sp>
      <p:sp>
        <p:nvSpPr>
          <p:cNvPr id="18" name="Rounded Rectangle 17"/>
          <p:cNvSpPr/>
          <p:nvPr/>
        </p:nvSpPr>
        <p:spPr>
          <a:xfrm>
            <a:off x="4402666" y="3545840"/>
            <a:ext cx="3386666" cy="1244600"/>
          </a:xfrm>
          <a:prstGeom prst="roundRect">
            <a:avLst>
              <a:gd name="adj" fmla="val 8163"/>
            </a:avLst>
          </a:prstGeom>
          <a:solidFill>
            <a:srgbClr val="FBFAF6"/>
          </a:solidFill>
          <a:ln w="6350">
            <a:solidFill>
              <a:srgbClr val="E2DE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05866" y="3749040"/>
            <a:ext cx="2980266" cy="228600"/>
          </a:xfrm>
          <a:prstGeom prst="rect">
            <a:avLst/>
          </a:prstGeom>
          <a:noFill/>
        </p:spPr>
        <p:txBody>
          <a:bodyPr wrap="square" lIns="0" rIns="0" tIns="0" bIns="0" anchor="t"/>
          <a:lstStyle/>
          <a:p>
            <a:pPr>
              <a:lnSpc>
                <a:spcPct val="120000"/>
              </a:lnSpc>
            </a:pPr>
            <a:r>
              <a:rPr sz="1500" b="1">
                <a:solidFill>
                  <a:srgbClr val="12233B"/>
                </a:solidFill>
                <a:latin typeface="Courier New"/>
              </a:rPr>
              <a:t>DataQuality</a:t>
            </a:r>
          </a:p>
        </p:txBody>
      </p:sp>
      <p:sp>
        <p:nvSpPr>
          <p:cNvPr id="20" name="TextBox 19"/>
          <p:cNvSpPr txBox="1"/>
          <p:nvPr/>
        </p:nvSpPr>
        <p:spPr>
          <a:xfrm>
            <a:off x="4605866" y="4053840"/>
            <a:ext cx="2980266" cy="533400"/>
          </a:xfrm>
          <a:prstGeom prst="rect">
            <a:avLst/>
          </a:prstGeom>
          <a:noFill/>
        </p:spPr>
        <p:txBody>
          <a:bodyPr wrap="square" lIns="0" rIns="0" tIns="0" bIns="0" anchor="t"/>
          <a:lstStyle/>
          <a:p>
            <a:pPr>
              <a:lnSpc>
                <a:spcPct val="140000"/>
              </a:lnSpc>
            </a:pPr>
            <a:r>
              <a:rPr sz="1500" b="0">
                <a:solidFill>
                  <a:srgbClr val="46556A"/>
                </a:solidFill>
                <a:latin typeface="Arial"/>
              </a:rPr>
              <a:t>Contrôles bloquants et alertes sur les clés en double</a:t>
            </a:r>
          </a:p>
        </p:txBody>
      </p:sp>
      <p:sp>
        <p:nvSpPr>
          <p:cNvPr id="21" name="Rounded Rectangle 20"/>
          <p:cNvSpPr/>
          <p:nvPr/>
        </p:nvSpPr>
        <p:spPr>
          <a:xfrm>
            <a:off x="7992533" y="3545840"/>
            <a:ext cx="3386666" cy="1244600"/>
          </a:xfrm>
          <a:prstGeom prst="roundRect">
            <a:avLst>
              <a:gd name="adj" fmla="val 8163"/>
            </a:avLst>
          </a:prstGeom>
          <a:solidFill>
            <a:srgbClr val="FBFAF6"/>
          </a:solidFill>
          <a:ln w="6350">
            <a:solidFill>
              <a:srgbClr val="E2DE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95733" y="3749040"/>
            <a:ext cx="2980266" cy="228600"/>
          </a:xfrm>
          <a:prstGeom prst="rect">
            <a:avLst/>
          </a:prstGeom>
          <a:noFill/>
        </p:spPr>
        <p:txBody>
          <a:bodyPr wrap="square" lIns="0" rIns="0" tIns="0" bIns="0" anchor="t"/>
          <a:lstStyle/>
          <a:p>
            <a:pPr>
              <a:lnSpc>
                <a:spcPct val="120000"/>
              </a:lnSpc>
            </a:pPr>
            <a:r>
              <a:rPr sz="1500" b="1">
                <a:solidFill>
                  <a:srgbClr val="12233B"/>
                </a:solidFill>
                <a:latin typeface="Courier New"/>
              </a:rPr>
              <a:t>SparkSessionManager</a:t>
            </a:r>
          </a:p>
        </p:txBody>
      </p:sp>
      <p:sp>
        <p:nvSpPr>
          <p:cNvPr id="23" name="TextBox 22"/>
          <p:cNvSpPr txBox="1"/>
          <p:nvPr/>
        </p:nvSpPr>
        <p:spPr>
          <a:xfrm>
            <a:off x="8195733" y="4053840"/>
            <a:ext cx="2980266" cy="533400"/>
          </a:xfrm>
          <a:prstGeom prst="rect">
            <a:avLst/>
          </a:prstGeom>
          <a:noFill/>
        </p:spPr>
        <p:txBody>
          <a:bodyPr wrap="square" lIns="0" rIns="0" tIns="0" bIns="0" anchor="t"/>
          <a:lstStyle/>
          <a:p>
            <a:pPr>
              <a:lnSpc>
                <a:spcPct val="140000"/>
              </a:lnSpc>
            </a:pPr>
            <a:r>
              <a:rPr sz="1500" b="0">
                <a:solidFill>
                  <a:srgbClr val="46556A"/>
                </a:solidFill>
                <a:latin typeface="Arial"/>
              </a:rPr>
              <a:t>Session Spark, AQE et paramètres SQL de l’environnement</a:t>
            </a:r>
          </a:p>
        </p:txBody>
      </p:sp>
      <p:sp>
        <p:nvSpPr>
          <p:cNvPr id="24" name="TextBox 23"/>
          <p:cNvSpPr txBox="1"/>
          <p:nvPr/>
        </p:nvSpPr>
        <p:spPr>
          <a:xfrm>
            <a:off x="812800" y="6261100"/>
            <a:ext cx="3644503" cy="190500"/>
          </a:xfrm>
          <a:prstGeom prst="rect">
            <a:avLst/>
          </a:prstGeom>
          <a:noFill/>
        </p:spPr>
        <p:txBody>
          <a:bodyPr wrap="square" lIns="0" rIns="0" tIns="0" bIns="0" anchor="t"/>
          <a:lstStyle/>
          <a:p>
            <a:pPr>
              <a:lnSpc>
                <a:spcPct val="125000"/>
              </a:lnSpc>
            </a:pPr>
            <a:r>
              <a:rPr sz="1200" b="0">
                <a:solidFill>
                  <a:srgbClr val="5B6677"/>
                </a:solidFill>
                <a:latin typeface="Arial"/>
              </a:rPr>
              <a:t>BSY_REO · chaînes REO AJUST, MYREO et COVID</a:t>
            </a:r>
          </a:p>
        </p:txBody>
      </p:sp>
      <p:sp>
        <p:nvSpPr>
          <p:cNvPr id="25" name="TextBox 24"/>
          <p:cNvSpPr txBox="1"/>
          <p:nvPr/>
        </p:nvSpPr>
        <p:spPr>
          <a:xfrm>
            <a:off x="11283950" y="6261100"/>
            <a:ext cx="95250" cy="190500"/>
          </a:xfrm>
          <a:prstGeom prst="rect">
            <a:avLst/>
          </a:prstGeom>
          <a:noFill/>
        </p:spPr>
        <p:txBody>
          <a:bodyPr wrap="square" lIns="0" rIns="0" tIns="0" bIns="0" anchor="t"/>
          <a:lstStyle/>
          <a:p>
            <a:pPr>
              <a:lnSpc>
                <a:spcPct val="125000"/>
              </a:lnSpc>
            </a:pPr>
            <a:r>
              <a:rPr sz="1200" b="0">
                <a:solidFill>
                  <a:srgbClr val="5B6677"/>
                </a:solidFill>
                <a:latin typeface="Arial"/>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6858000"/>
          </a:xfrm>
          <a:prstGeom prst="rect">
            <a:avLst/>
          </a:prstGeom>
          <a:solidFill>
            <a:srgbClr val="F5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12800" y="812800"/>
            <a:ext cx="10566400" cy="190500"/>
          </a:xfrm>
          <a:prstGeom prst="rect">
            <a:avLst/>
          </a:prstGeom>
          <a:noFill/>
        </p:spPr>
        <p:txBody>
          <a:bodyPr wrap="square" lIns="0" rIns="0" tIns="0" bIns="0" anchor="t"/>
          <a:lstStyle/>
          <a:p>
            <a:pPr>
              <a:lnSpc>
                <a:spcPct val="125000"/>
              </a:lnSpc>
            </a:pPr>
            <a:r>
              <a:rPr sz="1200" b="1" spc="150">
                <a:solidFill>
                  <a:srgbClr val="2A6496"/>
                </a:solidFill>
                <a:latin typeface="Arial"/>
              </a:rPr>
              <a:t>CHAÎNE AJUST</a:t>
            </a:r>
          </a:p>
        </p:txBody>
      </p:sp>
      <p:sp>
        <p:nvSpPr>
          <p:cNvPr id="5" name="TextBox 4"/>
          <p:cNvSpPr txBox="1"/>
          <p:nvPr/>
        </p:nvSpPr>
        <p:spPr>
          <a:xfrm>
            <a:off x="812800" y="1079500"/>
            <a:ext cx="10566400" cy="447040"/>
          </a:xfrm>
          <a:prstGeom prst="rect">
            <a:avLst/>
          </a:prstGeom>
          <a:noFill/>
        </p:spPr>
        <p:txBody>
          <a:bodyPr wrap="square" lIns="0" rIns="0" tIns="0" bIns="0" anchor="t"/>
          <a:lstStyle/>
          <a:p>
            <a:pPr>
              <a:lnSpc>
                <a:spcPct val="110000"/>
              </a:lnSpc>
            </a:pPr>
            <a:r>
              <a:rPr sz="3200" b="1">
                <a:solidFill>
                  <a:srgbClr val="12233B"/>
                </a:solidFill>
                <a:latin typeface="Arial"/>
              </a:rPr>
              <a:t>AJUST : de six jobs Talend à une application Spark</a:t>
            </a:r>
          </a:p>
        </p:txBody>
      </p:sp>
      <p:graphicFrame>
        <p:nvGraphicFramePr>
          <p:cNvPr id="6" name="Table 5"/>
          <p:cNvGraphicFramePr>
            <a:graphicFrameLocks noGrp="1"/>
          </p:cNvGraphicFramePr>
          <p:nvPr/>
        </p:nvGraphicFramePr>
        <p:xfrm>
          <a:off x="812800" y="1831339"/>
          <a:ext cx="10566398" cy="2800350"/>
        </p:xfrm>
        <a:graphic>
          <a:graphicData uri="http://schemas.openxmlformats.org/drawingml/2006/table">
            <a:tbl>
              <a:tblPr/>
              <a:tblGrid>
                <a:gridCol w="2747264"/>
                <a:gridCol w="3909567"/>
                <a:gridCol w="3909567"/>
              </a:tblGrid>
              <a:tr h="400050">
                <a:tc>
                  <a:txBody>
                    <a:bodyPr wrap="square"/>
                    <a:lstStyle/>
                    <a:p>
                      <a:pPr>
                        <a:lnSpc>
                          <a:spcPct val="125000"/>
                        </a:lnSpc>
                      </a:pPr>
                    </a:p>
                  </a:txBody>
                  <a:tcPr marL="101600" marR="101600" marT="76200" marB="76200" anchor="ctr">
                    <a:solidFill>
                      <a:srgbClr val="12233B"/>
                    </a:solidFill>
                  </a:tcPr>
                </a:tc>
                <a:tc>
                  <a:txBody>
                    <a:bodyPr wrap="square"/>
                    <a:lstStyle/>
                    <a:p>
                      <a:pPr>
                        <a:lnSpc>
                          <a:spcPct val="125000"/>
                        </a:lnSpc>
                      </a:pPr>
                      <a:r>
                        <a:rPr sz="1500" b="1">
                          <a:solidFill>
                            <a:srgbClr val="F5F3EE"/>
                          </a:solidFill>
                          <a:latin typeface="Arial"/>
                        </a:rPr>
                        <a:t>Talend</a:t>
                      </a:r>
                    </a:p>
                  </a:txBody>
                  <a:tcPr marL="101600" marR="101600" marT="76200" marB="76200" anchor="ctr">
                    <a:solidFill>
                      <a:srgbClr val="12233B"/>
                    </a:solidFill>
                  </a:tcPr>
                </a:tc>
                <a:tc>
                  <a:txBody>
                    <a:bodyPr wrap="square"/>
                    <a:lstStyle/>
                    <a:p>
                      <a:pPr>
                        <a:lnSpc>
                          <a:spcPct val="125000"/>
                        </a:lnSpc>
                      </a:pPr>
                      <a:r>
                        <a:rPr sz="1500" b="1">
                          <a:solidFill>
                            <a:srgbClr val="7FB0DA"/>
                          </a:solidFill>
                          <a:latin typeface="Arial"/>
                        </a:rPr>
                        <a:t>Scala et Spark</a:t>
                      </a:r>
                    </a:p>
                  </a:txBody>
                  <a:tcPr marL="101600" marR="101600" marT="76200" marB="76200" anchor="ctr">
                    <a:solidFill>
                      <a:srgbClr val="12233B"/>
                    </a:solidFill>
                  </a:tcPr>
                </a:tc>
              </a:tr>
              <a:tr h="400050">
                <a:tc>
                  <a:txBody>
                    <a:bodyPr wrap="square"/>
                    <a:lstStyle/>
                    <a:p>
                      <a:pPr>
                        <a:lnSpc>
                          <a:spcPct val="125000"/>
                        </a:lnSpc>
                      </a:pPr>
                      <a:r>
                        <a:rPr sz="1500" b="1">
                          <a:solidFill>
                            <a:srgbClr val="12233B"/>
                          </a:solidFill>
                          <a:latin typeface="Arial"/>
                        </a:rPr>
                        <a:t>Applications</a:t>
                      </a:r>
                    </a:p>
                  </a:txBody>
                  <a:tcPr marL="101600" marR="101600" marT="76200" marB="76200" anchor="ctr">
                    <a:solidFill>
                      <a:srgbClr val="F5F3EE"/>
                    </a:solidFill>
                  </a:tcPr>
                </a:tc>
                <a:tc>
                  <a:txBody>
                    <a:bodyPr wrap="square"/>
                    <a:lstStyle/>
                    <a:p>
                      <a:pPr>
                        <a:lnSpc>
                          <a:spcPct val="125000"/>
                        </a:lnSpc>
                      </a:pPr>
                      <a:r>
                        <a:rPr sz="1500" b="0">
                          <a:solidFill>
                            <a:srgbClr val="12233B"/>
                          </a:solidFill>
                          <a:latin typeface="Arial"/>
                        </a:rPr>
                        <a:t>6 jobs, 3 YARN par type actif</a:t>
                      </a:r>
                    </a:p>
                  </a:txBody>
                  <a:tcPr marL="101600" marR="101600" marT="76200" marB="76200" anchor="ctr">
                    <a:solidFill>
                      <a:srgbClr val="F5F3EE"/>
                    </a:solidFill>
                  </a:tcPr>
                </a:tc>
                <a:tc>
                  <a:txBody>
                    <a:bodyPr wrap="square"/>
                    <a:lstStyle/>
                    <a:p>
                      <a:pPr>
                        <a:lnSpc>
                          <a:spcPct val="125000"/>
                        </a:lnSpc>
                      </a:pPr>
                      <a:r>
                        <a:rPr sz="1500" b="0">
                          <a:solidFill>
                            <a:srgbClr val="12233B"/>
                          </a:solidFill>
                          <a:latin typeface="Arial"/>
                        </a:rPr>
                        <a:t>1 application, 7 étapes</a:t>
                      </a:r>
                    </a:p>
                  </a:txBody>
                  <a:tcPr marL="101600" marR="101600" marT="76200" marB="76200" anchor="ctr">
                    <a:solidFill>
                      <a:srgbClr val="F5F3EE"/>
                    </a:solidFill>
                  </a:tcPr>
                </a:tc>
              </a:tr>
              <a:tr h="400050">
                <a:tc>
                  <a:txBody>
                    <a:bodyPr wrap="square"/>
                    <a:lstStyle/>
                    <a:p>
                      <a:pPr>
                        <a:lnSpc>
                          <a:spcPct val="125000"/>
                        </a:lnSpc>
                      </a:pPr>
                      <a:r>
                        <a:rPr sz="1500" b="1">
                          <a:solidFill>
                            <a:srgbClr val="12233B"/>
                          </a:solidFill>
                          <a:latin typeface="Arial"/>
                        </a:rPr>
                        <a:t>Données entre jobs</a:t>
                      </a:r>
                    </a:p>
                  </a:txBody>
                  <a:tcPr marL="101600" marR="101600" marT="76200" marB="76200" anchor="ctr">
                    <a:solidFill>
                      <a:srgbClr val="FBFAF6"/>
                    </a:solidFill>
                  </a:tcPr>
                </a:tc>
                <a:tc>
                  <a:txBody>
                    <a:bodyPr wrap="square"/>
                    <a:lstStyle/>
                    <a:p>
                      <a:pPr>
                        <a:lnSpc>
                          <a:spcPct val="125000"/>
                        </a:lnSpc>
                      </a:pPr>
                      <a:r>
                        <a:rPr sz="1500" b="0">
                          <a:solidFill>
                            <a:srgbClr val="12233B"/>
                          </a:solidFill>
                          <a:latin typeface="Arial"/>
                        </a:rPr>
                        <a:t>Parquet relu par le job suivant</a:t>
                      </a:r>
                    </a:p>
                  </a:txBody>
                  <a:tcPr marL="101600" marR="101600" marT="76200" marB="76200" anchor="ctr">
                    <a:solidFill>
                      <a:srgbClr val="FBFAF6"/>
                    </a:solidFill>
                  </a:tcPr>
                </a:tc>
                <a:tc>
                  <a:txBody>
                    <a:bodyPr wrap="square"/>
                    <a:lstStyle/>
                    <a:p>
                      <a:pPr>
                        <a:lnSpc>
                          <a:spcPct val="125000"/>
                        </a:lnSpc>
                      </a:pPr>
                      <a:r>
                        <a:rPr sz="1500" b="0">
                          <a:solidFill>
                            <a:srgbClr val="12233B"/>
                          </a:solidFill>
                          <a:latin typeface="Arial"/>
                        </a:rPr>
                        <a:t>DataFrames gardés en mémoire</a:t>
                      </a:r>
                    </a:p>
                  </a:txBody>
                  <a:tcPr marL="101600" marR="101600" marT="76200" marB="76200" anchor="ctr">
                    <a:solidFill>
                      <a:srgbClr val="FBFAF6"/>
                    </a:solidFill>
                  </a:tcPr>
                </a:tc>
              </a:tr>
              <a:tr h="400050">
                <a:tc>
                  <a:txBody>
                    <a:bodyPr wrap="square"/>
                    <a:lstStyle/>
                    <a:p>
                      <a:pPr>
                        <a:lnSpc>
                          <a:spcPct val="125000"/>
                        </a:lnSpc>
                      </a:pPr>
                      <a:r>
                        <a:rPr sz="1500" b="1">
                          <a:solidFill>
                            <a:srgbClr val="12233B"/>
                          </a:solidFill>
                          <a:latin typeface="Arial"/>
                        </a:rPr>
                        <a:t>Conso et enrichissement</a:t>
                      </a:r>
                    </a:p>
                  </a:txBody>
                  <a:tcPr marL="101600" marR="101600" marT="76200" marB="76200" anchor="ctr">
                    <a:solidFill>
                      <a:srgbClr val="F5F3EE"/>
                    </a:solidFill>
                  </a:tcPr>
                </a:tc>
                <a:tc>
                  <a:txBody>
                    <a:bodyPr wrap="square"/>
                    <a:lstStyle/>
                    <a:p>
                      <a:pPr>
                        <a:lnSpc>
                          <a:spcPct val="125000"/>
                        </a:lnSpc>
                      </a:pPr>
                      <a:r>
                        <a:rPr sz="1500" b="0">
                          <a:solidFill>
                            <a:srgbClr val="12233B"/>
                          </a:solidFill>
                          <a:latin typeface="Arial"/>
                        </a:rPr>
                        <a:t>Recalculés par type actif</a:t>
                      </a:r>
                    </a:p>
                  </a:txBody>
                  <a:tcPr marL="101600" marR="101600" marT="76200" marB="76200" anchor="ctr">
                    <a:solidFill>
                      <a:srgbClr val="F5F3EE"/>
                    </a:solidFill>
                  </a:tcPr>
                </a:tc>
                <a:tc>
                  <a:txBody>
                    <a:bodyPr wrap="square"/>
                    <a:lstStyle/>
                    <a:p>
                      <a:pPr>
                        <a:lnSpc>
                          <a:spcPct val="125000"/>
                        </a:lnSpc>
                      </a:pPr>
                      <a:r>
                        <a:rPr sz="1500" b="0">
                          <a:solidFill>
                            <a:srgbClr val="12233B"/>
                          </a:solidFill>
                          <a:latin typeface="Arial"/>
                        </a:rPr>
                        <a:t>Calculés une seule fois</a:t>
                      </a:r>
                    </a:p>
                  </a:txBody>
                  <a:tcPr marL="101600" marR="101600" marT="76200" marB="76200" anchor="ctr">
                    <a:solidFill>
                      <a:srgbClr val="F5F3EE"/>
                    </a:solidFill>
                  </a:tcPr>
                </a:tc>
              </a:tr>
              <a:tr h="400050">
                <a:tc>
                  <a:txBody>
                    <a:bodyPr wrap="square"/>
                    <a:lstStyle/>
                    <a:p>
                      <a:pPr>
                        <a:lnSpc>
                          <a:spcPct val="125000"/>
                        </a:lnSpc>
                      </a:pPr>
                      <a:r>
                        <a:rPr sz="1500" b="1">
                          <a:solidFill>
                            <a:srgbClr val="12233B"/>
                          </a:solidFill>
                          <a:latin typeface="Arial"/>
                        </a:rPr>
                        <a:t>Fait UV</a:t>
                      </a:r>
                    </a:p>
                  </a:txBody>
                  <a:tcPr marL="101600" marR="101600" marT="76200" marB="76200" anchor="ctr">
                    <a:solidFill>
                      <a:srgbClr val="FBFAF6"/>
                    </a:solidFill>
                  </a:tcPr>
                </a:tc>
                <a:tc>
                  <a:txBody>
                    <a:bodyPr wrap="square"/>
                    <a:lstStyle/>
                    <a:p>
                      <a:pPr>
                        <a:lnSpc>
                          <a:spcPct val="125000"/>
                        </a:lnSpc>
                      </a:pPr>
                      <a:r>
                        <a:rPr sz="1500" b="0">
                          <a:solidFill>
                            <a:srgbClr val="12233B"/>
                          </a:solidFill>
                          <a:latin typeface="Arial"/>
                        </a:rPr>
                        <a:t>Réécrit à chaque type actif</a:t>
                      </a:r>
                    </a:p>
                  </a:txBody>
                  <a:tcPr marL="101600" marR="101600" marT="76200" marB="76200" anchor="ctr">
                    <a:solidFill>
                      <a:srgbClr val="FBFAF6"/>
                    </a:solidFill>
                  </a:tcPr>
                </a:tc>
                <a:tc>
                  <a:txBody>
                    <a:bodyPr wrap="square"/>
                    <a:lstStyle/>
                    <a:p>
                      <a:pPr>
                        <a:lnSpc>
                          <a:spcPct val="125000"/>
                        </a:lnSpc>
                      </a:pPr>
                      <a:r>
                        <a:rPr sz="1500" b="0">
                          <a:solidFill>
                            <a:srgbClr val="12233B"/>
                          </a:solidFill>
                          <a:latin typeface="Arial"/>
                        </a:rPr>
                        <a:t>Écrit une seule fois</a:t>
                      </a:r>
                    </a:p>
                  </a:txBody>
                  <a:tcPr marL="101600" marR="101600" marT="76200" marB="76200" anchor="ctr">
                    <a:solidFill>
                      <a:srgbClr val="FBFAF6"/>
                    </a:solidFill>
                  </a:tcPr>
                </a:tc>
              </a:tr>
              <a:tr h="400050">
                <a:tc>
                  <a:txBody>
                    <a:bodyPr wrap="square"/>
                    <a:lstStyle/>
                    <a:p>
                      <a:pPr>
                        <a:lnSpc>
                          <a:spcPct val="125000"/>
                        </a:lnSpc>
                      </a:pPr>
                      <a:r>
                        <a:rPr sz="1500" b="1">
                          <a:solidFill>
                            <a:srgbClr val="12233B"/>
                          </a:solidFill>
                          <a:latin typeface="Arial"/>
                        </a:rPr>
                        <a:t>Ordre</a:t>
                      </a:r>
                    </a:p>
                  </a:txBody>
                  <a:tcPr marL="101600" marR="101600" marT="76200" marB="76200" anchor="ctr">
                    <a:solidFill>
                      <a:srgbClr val="F5F3EE"/>
                    </a:solidFill>
                  </a:tcPr>
                </a:tc>
                <a:tc>
                  <a:txBody>
                    <a:bodyPr wrap="square"/>
                    <a:lstStyle/>
                    <a:p>
                      <a:pPr>
                        <a:lnSpc>
                          <a:spcPct val="125000"/>
                        </a:lnSpc>
                      </a:pPr>
                      <a:r>
                        <a:rPr sz="1500" b="0">
                          <a:solidFill>
                            <a:srgbClr val="12233B"/>
                          </a:solidFill>
                          <a:latin typeface="Arial"/>
                        </a:rPr>
                        <a:t>Actifs et archivés mélangés</a:t>
                      </a:r>
                    </a:p>
                  </a:txBody>
                  <a:tcPr marL="101600" marR="101600" marT="76200" marB="76200" anchor="ctr">
                    <a:solidFill>
                      <a:srgbClr val="F5F3EE"/>
                    </a:solidFill>
                  </a:tcPr>
                </a:tc>
                <a:tc>
                  <a:txBody>
                    <a:bodyPr wrap="square"/>
                    <a:lstStyle/>
                    <a:p>
                      <a:pPr>
                        <a:lnSpc>
                          <a:spcPct val="125000"/>
                        </a:lnSpc>
                      </a:pPr>
                      <a:r>
                        <a:rPr sz="1500" b="0">
                          <a:solidFill>
                            <a:srgbClr val="12233B"/>
                          </a:solidFill>
                          <a:latin typeface="Arial"/>
                        </a:rPr>
                        <a:t>Actifs, puis archivés</a:t>
                      </a:r>
                    </a:p>
                  </a:txBody>
                  <a:tcPr marL="101600" marR="101600" marT="76200" marB="76200" anchor="ctr">
                    <a:solidFill>
                      <a:srgbClr val="F5F3EE"/>
                    </a:solidFill>
                  </a:tcPr>
                </a:tc>
              </a:tr>
              <a:tr h="400050">
                <a:tc>
                  <a:txBody>
                    <a:bodyPr wrap="square"/>
                    <a:lstStyle/>
                    <a:p>
                      <a:pPr>
                        <a:lnSpc>
                          <a:spcPct val="125000"/>
                        </a:lnSpc>
                      </a:pPr>
                      <a:r>
                        <a:rPr sz="1500" b="1">
                          <a:solidFill>
                            <a:srgbClr val="12233B"/>
                          </a:solidFill>
                          <a:latin typeface="Arial"/>
                        </a:rPr>
                        <a:t>Reprise</a:t>
                      </a:r>
                    </a:p>
                  </a:txBody>
                  <a:tcPr marL="101600" marR="101600" marT="76200" marB="76200" anchor="ctr">
                    <a:solidFill>
                      <a:srgbClr val="FBFAF6"/>
                    </a:solidFill>
                  </a:tcPr>
                </a:tc>
                <a:tc>
                  <a:txBody>
                    <a:bodyPr wrap="square"/>
                    <a:lstStyle/>
                    <a:p>
                      <a:pPr>
                        <a:lnSpc>
                          <a:spcPct val="125000"/>
                        </a:lnSpc>
                      </a:pPr>
                      <a:r>
                        <a:rPr sz="1500" b="0">
                          <a:solidFill>
                            <a:srgbClr val="12233B"/>
                          </a:solidFill>
                          <a:latin typeface="Arial"/>
                        </a:rPr>
                        <a:t>Relance complète</a:t>
                      </a:r>
                    </a:p>
                  </a:txBody>
                  <a:tcPr marL="101600" marR="101600" marT="76200" marB="76200" anchor="ctr">
                    <a:solidFill>
                      <a:srgbClr val="FBFAF6"/>
                    </a:solidFill>
                  </a:tcPr>
                </a:tc>
                <a:tc>
                  <a:txBody>
                    <a:bodyPr wrap="square"/>
                    <a:lstStyle/>
                    <a:p>
                      <a:pPr>
                        <a:lnSpc>
                          <a:spcPct val="125000"/>
                        </a:lnSpc>
                      </a:pPr>
                      <a:r>
                        <a:rPr sz="1500" b="0">
                          <a:solidFill>
                            <a:srgbClr val="12233B"/>
                          </a:solidFill>
                          <a:latin typeface="Arial"/>
                        </a:rPr>
                        <a:t>Interrupteur par étape</a:t>
                      </a:r>
                    </a:p>
                  </a:txBody>
                  <a:tcPr marL="101600" marR="101600" marT="76200" marB="76200" anchor="ctr">
                    <a:solidFill>
                      <a:srgbClr val="FBFAF6"/>
                    </a:solidFill>
                  </a:tcPr>
                </a:tc>
              </a:tr>
            </a:tbl>
          </a:graphicData>
        </a:graphic>
      </p:graphicFrame>
      <p:sp>
        <p:nvSpPr>
          <p:cNvPr id="7" name="TextBox 6"/>
          <p:cNvSpPr txBox="1"/>
          <p:nvPr/>
        </p:nvSpPr>
        <p:spPr>
          <a:xfrm>
            <a:off x="812800" y="4885690"/>
            <a:ext cx="10566400" cy="266700"/>
          </a:xfrm>
          <a:prstGeom prst="rect">
            <a:avLst/>
          </a:prstGeom>
          <a:noFill/>
        </p:spPr>
        <p:txBody>
          <a:bodyPr wrap="square" lIns="0" rIns="0" tIns="0" bIns="0" anchor="t"/>
          <a:lstStyle/>
          <a:p>
            <a:pPr>
              <a:lnSpc>
                <a:spcPct val="140000"/>
              </a:lnSpc>
            </a:pPr>
            <a:r>
              <a:rPr sz="1500" b="0">
                <a:solidFill>
                  <a:srgbClr val="46556A"/>
                </a:solidFill>
                <a:latin typeface="Arial"/>
              </a:rPr>
              <a:t>Le calcul unique est équivalent : Talend ne filtre pas les ajustements par type de données.</a:t>
            </a:r>
          </a:p>
        </p:txBody>
      </p:sp>
      <p:sp>
        <p:nvSpPr>
          <p:cNvPr id="8" name="TextBox 7"/>
          <p:cNvSpPr txBox="1"/>
          <p:nvPr/>
        </p:nvSpPr>
        <p:spPr>
          <a:xfrm>
            <a:off x="812800" y="6261100"/>
            <a:ext cx="3644503" cy="190500"/>
          </a:xfrm>
          <a:prstGeom prst="rect">
            <a:avLst/>
          </a:prstGeom>
          <a:noFill/>
        </p:spPr>
        <p:txBody>
          <a:bodyPr wrap="square" lIns="0" rIns="0" tIns="0" bIns="0" anchor="t"/>
          <a:lstStyle/>
          <a:p>
            <a:pPr>
              <a:lnSpc>
                <a:spcPct val="125000"/>
              </a:lnSpc>
            </a:pPr>
            <a:r>
              <a:rPr sz="1200" b="0">
                <a:solidFill>
                  <a:srgbClr val="5B6677"/>
                </a:solidFill>
                <a:latin typeface="Arial"/>
              </a:rPr>
              <a:t>BSY_REO · chaînes REO AJUST, MYREO et COVID</a:t>
            </a:r>
          </a:p>
        </p:txBody>
      </p:sp>
      <p:sp>
        <p:nvSpPr>
          <p:cNvPr id="9" name="TextBox 8"/>
          <p:cNvSpPr txBox="1"/>
          <p:nvPr/>
        </p:nvSpPr>
        <p:spPr>
          <a:xfrm>
            <a:off x="11283950" y="6261100"/>
            <a:ext cx="95250" cy="190500"/>
          </a:xfrm>
          <a:prstGeom prst="rect">
            <a:avLst/>
          </a:prstGeom>
          <a:noFill/>
        </p:spPr>
        <p:txBody>
          <a:bodyPr wrap="square" lIns="0" rIns="0" tIns="0" bIns="0" anchor="t"/>
          <a:lstStyle/>
          <a:p>
            <a:pPr>
              <a:lnSpc>
                <a:spcPct val="125000"/>
              </a:lnSpc>
            </a:pPr>
            <a:r>
              <a:rPr sz="1200" b="0">
                <a:solidFill>
                  <a:srgbClr val="5B6677"/>
                </a:solidFill>
                <a:latin typeface="Arial"/>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6858000"/>
          </a:xfrm>
          <a:prstGeom prst="rect">
            <a:avLst/>
          </a:prstGeom>
          <a:solidFill>
            <a:srgbClr val="F5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12800" y="812800"/>
            <a:ext cx="10566400" cy="190500"/>
          </a:xfrm>
          <a:prstGeom prst="rect">
            <a:avLst/>
          </a:prstGeom>
          <a:noFill/>
        </p:spPr>
        <p:txBody>
          <a:bodyPr wrap="square" lIns="0" rIns="0" tIns="0" bIns="0" anchor="t"/>
          <a:lstStyle/>
          <a:p>
            <a:pPr>
              <a:lnSpc>
                <a:spcPct val="125000"/>
              </a:lnSpc>
            </a:pPr>
            <a:r>
              <a:rPr sz="1200" b="1" spc="150">
                <a:solidFill>
                  <a:srgbClr val="2A6496"/>
                </a:solidFill>
                <a:latin typeface="Arial"/>
              </a:rPr>
              <a:t>CHAÎNE AJUST</a:t>
            </a:r>
          </a:p>
        </p:txBody>
      </p:sp>
      <p:sp>
        <p:nvSpPr>
          <p:cNvPr id="5" name="TextBox 4"/>
          <p:cNvSpPr txBox="1"/>
          <p:nvPr/>
        </p:nvSpPr>
        <p:spPr>
          <a:xfrm>
            <a:off x="812800" y="1079500"/>
            <a:ext cx="10566400" cy="447040"/>
          </a:xfrm>
          <a:prstGeom prst="rect">
            <a:avLst/>
          </a:prstGeom>
          <a:noFill/>
        </p:spPr>
        <p:txBody>
          <a:bodyPr wrap="square" lIns="0" rIns="0" tIns="0" bIns="0" anchor="t"/>
          <a:lstStyle/>
          <a:p>
            <a:pPr>
              <a:lnSpc>
                <a:spcPct val="110000"/>
              </a:lnSpc>
            </a:pPr>
            <a:r>
              <a:rPr sz="3200" b="1">
                <a:solidFill>
                  <a:srgbClr val="12233B"/>
                </a:solidFill>
                <a:latin typeface="Arial"/>
              </a:rPr>
              <a:t>AJUST : sept étapes dans un seul run</a:t>
            </a:r>
          </a:p>
        </p:txBody>
      </p:sp>
      <p:sp>
        <p:nvSpPr>
          <p:cNvPr id="6" name="Rounded Rectangle 5"/>
          <p:cNvSpPr/>
          <p:nvPr/>
        </p:nvSpPr>
        <p:spPr>
          <a:xfrm>
            <a:off x="812800" y="1831339"/>
            <a:ext cx="2260600" cy="1236980"/>
          </a:xfrm>
          <a:prstGeom prst="roundRect">
            <a:avLst>
              <a:gd name="adj" fmla="val 8213"/>
            </a:avLst>
          </a:prstGeom>
          <a:solidFill>
            <a:srgbClr val="FBFAF6"/>
          </a:solidFill>
          <a:ln w="6350">
            <a:solidFill>
              <a:srgbClr val="E2DE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65200" y="1983739"/>
            <a:ext cx="273050" cy="215900"/>
          </a:xfrm>
          <a:prstGeom prst="roundRect">
            <a:avLst>
              <a:gd name="adj" fmla="val 50000"/>
            </a:avLst>
          </a:prstGeom>
          <a:solidFill>
            <a:srgbClr val="2A6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4100" y="1996439"/>
            <a:ext cx="95250" cy="190500"/>
          </a:xfrm>
          <a:prstGeom prst="rect">
            <a:avLst/>
          </a:prstGeom>
          <a:noFill/>
        </p:spPr>
        <p:txBody>
          <a:bodyPr wrap="square" lIns="0" rIns="0" tIns="0" bIns="0" anchor="ctr"/>
          <a:lstStyle/>
          <a:p>
            <a:pPr>
              <a:lnSpc>
                <a:spcPct val="125000"/>
              </a:lnSpc>
            </a:pPr>
            <a:r>
              <a:rPr sz="1200" b="1">
                <a:solidFill>
                  <a:srgbClr val="F5F3EE"/>
                </a:solidFill>
                <a:latin typeface="Arial"/>
              </a:rPr>
              <a:t>1</a:t>
            </a:r>
          </a:p>
        </p:txBody>
      </p:sp>
      <p:sp>
        <p:nvSpPr>
          <p:cNvPr id="9" name="TextBox 8"/>
          <p:cNvSpPr txBox="1"/>
          <p:nvPr/>
        </p:nvSpPr>
        <p:spPr>
          <a:xfrm>
            <a:off x="1314450" y="1996439"/>
            <a:ext cx="723900" cy="190500"/>
          </a:xfrm>
          <a:prstGeom prst="rect">
            <a:avLst/>
          </a:prstGeom>
          <a:noFill/>
        </p:spPr>
        <p:txBody>
          <a:bodyPr wrap="square" lIns="0" rIns="0" tIns="0" bIns="0" anchor="t"/>
          <a:lstStyle/>
          <a:p>
            <a:pPr>
              <a:lnSpc>
                <a:spcPct val="125000"/>
              </a:lnSpc>
            </a:pPr>
            <a:r>
              <a:rPr sz="1200" b="1">
                <a:solidFill>
                  <a:srgbClr val="12233B"/>
                </a:solidFill>
                <a:latin typeface="Courier New"/>
              </a:rPr>
              <a:t>dispatch</a:t>
            </a:r>
          </a:p>
        </p:txBody>
      </p:sp>
      <p:sp>
        <p:nvSpPr>
          <p:cNvPr id="10" name="TextBox 9"/>
          <p:cNvSpPr txBox="1"/>
          <p:nvPr/>
        </p:nvSpPr>
        <p:spPr>
          <a:xfrm>
            <a:off x="965200" y="2275840"/>
            <a:ext cx="1955800" cy="640080"/>
          </a:xfrm>
          <a:prstGeom prst="rect">
            <a:avLst/>
          </a:prstGeom>
          <a:noFill/>
        </p:spPr>
        <p:txBody>
          <a:bodyPr wrap="square" lIns="0" rIns="0" tIns="0" bIns="0" anchor="t"/>
          <a:lstStyle/>
          <a:p>
            <a:pPr>
              <a:lnSpc>
                <a:spcPct val="140000"/>
              </a:lnSpc>
            </a:pPr>
            <a:r>
              <a:rPr sz="1200" b="0">
                <a:solidFill>
                  <a:srgbClr val="46556A"/>
                </a:solidFill>
                <a:latin typeface="Arial"/>
              </a:rPr>
              <a:t>Dépôt AJUST vers l’historique RD, le SV et le BV</a:t>
            </a:r>
          </a:p>
        </p:txBody>
      </p:sp>
      <p:sp>
        <p:nvSpPr>
          <p:cNvPr id="11" name="Right Arrow 10"/>
          <p:cNvSpPr/>
          <p:nvPr/>
        </p:nvSpPr>
        <p:spPr>
          <a:xfrm>
            <a:off x="3175000" y="2373629"/>
            <a:ext cx="304800" cy="152400"/>
          </a:xfrm>
          <a:prstGeom prst="rightArrow">
            <a:avLst/>
          </a:prstGeom>
          <a:solidFill>
            <a:srgbClr val="9AA6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581400" y="1831339"/>
            <a:ext cx="2260600" cy="1236980"/>
          </a:xfrm>
          <a:prstGeom prst="roundRect">
            <a:avLst>
              <a:gd name="adj" fmla="val 8213"/>
            </a:avLst>
          </a:prstGeom>
          <a:solidFill>
            <a:srgbClr val="FBFAF6"/>
          </a:solidFill>
          <a:ln w="6350">
            <a:solidFill>
              <a:srgbClr val="E2DE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733800" y="1983739"/>
            <a:ext cx="273050" cy="215900"/>
          </a:xfrm>
          <a:prstGeom prst="roundRect">
            <a:avLst>
              <a:gd name="adj" fmla="val 50000"/>
            </a:avLst>
          </a:prstGeom>
          <a:solidFill>
            <a:srgbClr val="2A6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822700" y="1996439"/>
            <a:ext cx="95250" cy="190500"/>
          </a:xfrm>
          <a:prstGeom prst="rect">
            <a:avLst/>
          </a:prstGeom>
          <a:noFill/>
        </p:spPr>
        <p:txBody>
          <a:bodyPr wrap="square" lIns="0" rIns="0" tIns="0" bIns="0" anchor="ctr"/>
          <a:lstStyle/>
          <a:p>
            <a:pPr>
              <a:lnSpc>
                <a:spcPct val="125000"/>
              </a:lnSpc>
            </a:pPr>
            <a:r>
              <a:rPr sz="1200" b="1">
                <a:solidFill>
                  <a:srgbClr val="F5F3EE"/>
                </a:solidFill>
                <a:latin typeface="Arial"/>
              </a:rPr>
              <a:t>2</a:t>
            </a:r>
          </a:p>
        </p:txBody>
      </p:sp>
      <p:sp>
        <p:nvSpPr>
          <p:cNvPr id="15" name="TextBox 14"/>
          <p:cNvSpPr txBox="1"/>
          <p:nvPr/>
        </p:nvSpPr>
        <p:spPr>
          <a:xfrm>
            <a:off x="4083050" y="1996439"/>
            <a:ext cx="1346200" cy="190500"/>
          </a:xfrm>
          <a:prstGeom prst="rect">
            <a:avLst/>
          </a:prstGeom>
          <a:noFill/>
        </p:spPr>
        <p:txBody>
          <a:bodyPr wrap="square" lIns="0" rIns="0" tIns="0" bIns="0" anchor="t"/>
          <a:lstStyle/>
          <a:p>
            <a:pPr>
              <a:lnSpc>
                <a:spcPct val="125000"/>
              </a:lnSpc>
            </a:pPr>
            <a:r>
              <a:rPr sz="1200" b="1">
                <a:solidFill>
                  <a:srgbClr val="12233B"/>
                </a:solidFill>
                <a:latin typeface="Courier New"/>
              </a:rPr>
              <a:t>plan_data_types</a:t>
            </a:r>
          </a:p>
        </p:txBody>
      </p:sp>
      <p:sp>
        <p:nvSpPr>
          <p:cNvPr id="16" name="TextBox 15"/>
          <p:cNvSpPr txBox="1"/>
          <p:nvPr/>
        </p:nvSpPr>
        <p:spPr>
          <a:xfrm>
            <a:off x="3733800" y="2275840"/>
            <a:ext cx="1955800" cy="426719"/>
          </a:xfrm>
          <a:prstGeom prst="rect">
            <a:avLst/>
          </a:prstGeom>
          <a:noFill/>
        </p:spPr>
        <p:txBody>
          <a:bodyPr wrap="square" lIns="0" rIns="0" tIns="0" bIns="0" anchor="t"/>
          <a:lstStyle/>
          <a:p>
            <a:pPr>
              <a:lnSpc>
                <a:spcPct val="140000"/>
              </a:lnSpc>
            </a:pPr>
            <a:r>
              <a:rPr sz="1200" b="0">
                <a:solidFill>
                  <a:srgbClr val="46556A"/>
                </a:solidFill>
                <a:latin typeface="Arial"/>
              </a:rPr>
              <a:t>Référentiel des types : actifs et archivés</a:t>
            </a:r>
          </a:p>
        </p:txBody>
      </p:sp>
      <p:sp>
        <p:nvSpPr>
          <p:cNvPr id="17" name="Right Arrow 16"/>
          <p:cNvSpPr/>
          <p:nvPr/>
        </p:nvSpPr>
        <p:spPr>
          <a:xfrm>
            <a:off x="5943600" y="2373629"/>
            <a:ext cx="304800" cy="152400"/>
          </a:xfrm>
          <a:prstGeom prst="rightArrow">
            <a:avLst/>
          </a:prstGeom>
          <a:solidFill>
            <a:srgbClr val="9AA6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350000" y="1831339"/>
            <a:ext cx="2260600" cy="1236980"/>
          </a:xfrm>
          <a:prstGeom prst="roundRect">
            <a:avLst>
              <a:gd name="adj" fmla="val 8213"/>
            </a:avLst>
          </a:prstGeom>
          <a:solidFill>
            <a:srgbClr val="FBFAF6"/>
          </a:solidFill>
          <a:ln w="6350">
            <a:solidFill>
              <a:srgbClr val="E2DE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502400" y="1983739"/>
            <a:ext cx="273050" cy="215900"/>
          </a:xfrm>
          <a:prstGeom prst="roundRect">
            <a:avLst>
              <a:gd name="adj" fmla="val 50000"/>
            </a:avLst>
          </a:prstGeom>
          <a:solidFill>
            <a:srgbClr val="2A6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91300" y="1996439"/>
            <a:ext cx="95250" cy="190500"/>
          </a:xfrm>
          <a:prstGeom prst="rect">
            <a:avLst/>
          </a:prstGeom>
          <a:noFill/>
        </p:spPr>
        <p:txBody>
          <a:bodyPr wrap="square" lIns="0" rIns="0" tIns="0" bIns="0" anchor="ctr"/>
          <a:lstStyle/>
          <a:p>
            <a:pPr>
              <a:lnSpc>
                <a:spcPct val="125000"/>
              </a:lnSpc>
            </a:pPr>
            <a:r>
              <a:rPr sz="1200" b="1">
                <a:solidFill>
                  <a:srgbClr val="F5F3EE"/>
                </a:solidFill>
                <a:latin typeface="Arial"/>
              </a:rPr>
              <a:t>3</a:t>
            </a:r>
          </a:p>
        </p:txBody>
      </p:sp>
      <p:sp>
        <p:nvSpPr>
          <p:cNvPr id="21" name="TextBox 20"/>
          <p:cNvSpPr txBox="1"/>
          <p:nvPr/>
        </p:nvSpPr>
        <p:spPr>
          <a:xfrm>
            <a:off x="6851650" y="1996439"/>
            <a:ext cx="723900" cy="190500"/>
          </a:xfrm>
          <a:prstGeom prst="rect">
            <a:avLst/>
          </a:prstGeom>
          <a:noFill/>
        </p:spPr>
        <p:txBody>
          <a:bodyPr wrap="square" lIns="0" rIns="0" tIns="0" bIns="0" anchor="t"/>
          <a:lstStyle/>
          <a:p>
            <a:pPr>
              <a:lnSpc>
                <a:spcPct val="125000"/>
              </a:lnSpc>
            </a:pPr>
            <a:r>
              <a:rPr sz="1200" b="1">
                <a:solidFill>
                  <a:srgbClr val="12233B"/>
                </a:solidFill>
                <a:latin typeface="Courier New"/>
              </a:rPr>
              <a:t>conso_bv</a:t>
            </a:r>
          </a:p>
        </p:txBody>
      </p:sp>
      <p:sp>
        <p:nvSpPr>
          <p:cNvPr id="22" name="TextBox 21"/>
          <p:cNvSpPr txBox="1"/>
          <p:nvPr/>
        </p:nvSpPr>
        <p:spPr>
          <a:xfrm>
            <a:off x="6502400" y="2275840"/>
            <a:ext cx="1955800" cy="426719"/>
          </a:xfrm>
          <a:prstGeom prst="rect">
            <a:avLst/>
          </a:prstGeom>
          <a:noFill/>
        </p:spPr>
        <p:txBody>
          <a:bodyPr wrap="square" lIns="0" rIns="0" tIns="0" bIns="0" anchor="t"/>
          <a:lstStyle/>
          <a:p>
            <a:pPr>
              <a:lnSpc>
                <a:spcPct val="140000"/>
              </a:lnSpc>
            </a:pPr>
            <a:r>
              <a:rPr sz="1200" b="0">
                <a:solidFill>
                  <a:srgbClr val="46556A"/>
                </a:solidFill>
                <a:latin typeface="Arial"/>
              </a:rPr>
              <a:t>Conso BV calculée une fois, écrite par type actif</a:t>
            </a:r>
          </a:p>
        </p:txBody>
      </p:sp>
      <p:sp>
        <p:nvSpPr>
          <p:cNvPr id="23" name="Right Arrow 22"/>
          <p:cNvSpPr/>
          <p:nvPr/>
        </p:nvSpPr>
        <p:spPr>
          <a:xfrm>
            <a:off x="8712200" y="2373629"/>
            <a:ext cx="304800" cy="152400"/>
          </a:xfrm>
          <a:prstGeom prst="rightArrow">
            <a:avLst/>
          </a:prstGeom>
          <a:solidFill>
            <a:srgbClr val="9AA6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118600" y="1831339"/>
            <a:ext cx="2260600" cy="1236980"/>
          </a:xfrm>
          <a:prstGeom prst="roundRect">
            <a:avLst>
              <a:gd name="adj" fmla="val 8213"/>
            </a:avLst>
          </a:prstGeom>
          <a:solidFill>
            <a:srgbClr val="FBFAF6"/>
          </a:solidFill>
          <a:ln w="6350">
            <a:solidFill>
              <a:srgbClr val="E2DE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271000" y="1983739"/>
            <a:ext cx="273050" cy="215900"/>
          </a:xfrm>
          <a:prstGeom prst="roundRect">
            <a:avLst>
              <a:gd name="adj" fmla="val 50000"/>
            </a:avLst>
          </a:prstGeom>
          <a:solidFill>
            <a:srgbClr val="2A6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359900" y="1996439"/>
            <a:ext cx="95250" cy="190500"/>
          </a:xfrm>
          <a:prstGeom prst="rect">
            <a:avLst/>
          </a:prstGeom>
          <a:noFill/>
        </p:spPr>
        <p:txBody>
          <a:bodyPr wrap="square" lIns="0" rIns="0" tIns="0" bIns="0" anchor="ctr"/>
          <a:lstStyle/>
          <a:p>
            <a:pPr>
              <a:lnSpc>
                <a:spcPct val="125000"/>
              </a:lnSpc>
            </a:pPr>
            <a:r>
              <a:rPr sz="1200" b="1">
                <a:solidFill>
                  <a:srgbClr val="F5F3EE"/>
                </a:solidFill>
                <a:latin typeface="Arial"/>
              </a:rPr>
              <a:t>4</a:t>
            </a:r>
          </a:p>
        </p:txBody>
      </p:sp>
      <p:sp>
        <p:nvSpPr>
          <p:cNvPr id="27" name="TextBox 26"/>
          <p:cNvSpPr txBox="1"/>
          <p:nvPr/>
        </p:nvSpPr>
        <p:spPr>
          <a:xfrm>
            <a:off x="9620250" y="1996439"/>
            <a:ext cx="990600" cy="190500"/>
          </a:xfrm>
          <a:prstGeom prst="rect">
            <a:avLst/>
          </a:prstGeom>
          <a:noFill/>
        </p:spPr>
        <p:txBody>
          <a:bodyPr wrap="square" lIns="0" rIns="0" tIns="0" bIns="0" anchor="t"/>
          <a:lstStyle/>
          <a:p>
            <a:pPr>
              <a:lnSpc>
                <a:spcPct val="125000"/>
              </a:lnSpc>
            </a:pPr>
            <a:r>
              <a:rPr sz="1200" b="1">
                <a:solidFill>
                  <a:srgbClr val="12233B"/>
                </a:solidFill>
                <a:latin typeface="Courier New"/>
              </a:rPr>
              <a:t>gts_skipper</a:t>
            </a:r>
          </a:p>
        </p:txBody>
      </p:sp>
      <p:sp>
        <p:nvSpPr>
          <p:cNvPr id="28" name="TextBox 27"/>
          <p:cNvSpPr txBox="1"/>
          <p:nvPr/>
        </p:nvSpPr>
        <p:spPr>
          <a:xfrm>
            <a:off x="9271000" y="2275840"/>
            <a:ext cx="1955800" cy="426719"/>
          </a:xfrm>
          <a:prstGeom prst="rect">
            <a:avLst/>
          </a:prstGeom>
          <a:noFill/>
        </p:spPr>
        <p:txBody>
          <a:bodyPr wrap="square" lIns="0" rIns="0" tIns="0" bIns="0" anchor="t"/>
          <a:lstStyle/>
          <a:p>
            <a:pPr>
              <a:lnSpc>
                <a:spcPct val="140000"/>
              </a:lnSpc>
            </a:pPr>
            <a:r>
              <a:rPr sz="1200" b="0">
                <a:solidFill>
                  <a:srgbClr val="46556A"/>
                </a:solidFill>
                <a:latin typeface="Arial"/>
              </a:rPr>
              <a:t>Enrichissement PCI, type de CA, GTS et classification</a:t>
            </a:r>
          </a:p>
        </p:txBody>
      </p:sp>
      <p:sp>
        <p:nvSpPr>
          <p:cNvPr id="29" name="Rounded Rectangle 28"/>
          <p:cNvSpPr/>
          <p:nvPr/>
        </p:nvSpPr>
        <p:spPr>
          <a:xfrm>
            <a:off x="812800" y="3322320"/>
            <a:ext cx="2260600" cy="1023619"/>
          </a:xfrm>
          <a:prstGeom prst="roundRect">
            <a:avLst>
              <a:gd name="adj" fmla="val 9925"/>
            </a:avLst>
          </a:prstGeom>
          <a:solidFill>
            <a:srgbClr val="FBFAF6"/>
          </a:solidFill>
          <a:ln w="6350">
            <a:solidFill>
              <a:srgbClr val="E2DE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965200" y="3474720"/>
            <a:ext cx="273050" cy="215900"/>
          </a:xfrm>
          <a:prstGeom prst="roundRect">
            <a:avLst>
              <a:gd name="adj" fmla="val 50000"/>
            </a:avLst>
          </a:prstGeom>
          <a:solidFill>
            <a:srgbClr val="2A6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54100" y="3487420"/>
            <a:ext cx="95250" cy="190500"/>
          </a:xfrm>
          <a:prstGeom prst="rect">
            <a:avLst/>
          </a:prstGeom>
          <a:noFill/>
        </p:spPr>
        <p:txBody>
          <a:bodyPr wrap="square" lIns="0" rIns="0" tIns="0" bIns="0" anchor="ctr"/>
          <a:lstStyle/>
          <a:p>
            <a:pPr>
              <a:lnSpc>
                <a:spcPct val="125000"/>
              </a:lnSpc>
            </a:pPr>
            <a:r>
              <a:rPr sz="1200" b="1">
                <a:solidFill>
                  <a:srgbClr val="F5F3EE"/>
                </a:solidFill>
                <a:latin typeface="Arial"/>
              </a:rPr>
              <a:t>5</a:t>
            </a:r>
          </a:p>
        </p:txBody>
      </p:sp>
      <p:sp>
        <p:nvSpPr>
          <p:cNvPr id="32" name="TextBox 31"/>
          <p:cNvSpPr txBox="1"/>
          <p:nvPr/>
        </p:nvSpPr>
        <p:spPr>
          <a:xfrm>
            <a:off x="1314450" y="3487420"/>
            <a:ext cx="990600" cy="190500"/>
          </a:xfrm>
          <a:prstGeom prst="rect">
            <a:avLst/>
          </a:prstGeom>
          <a:noFill/>
        </p:spPr>
        <p:txBody>
          <a:bodyPr wrap="square" lIns="0" rIns="0" tIns="0" bIns="0" anchor="t"/>
          <a:lstStyle/>
          <a:p>
            <a:pPr>
              <a:lnSpc>
                <a:spcPct val="125000"/>
              </a:lnSpc>
            </a:pPr>
            <a:r>
              <a:rPr sz="1200" b="1">
                <a:solidFill>
                  <a:srgbClr val="12233B"/>
                </a:solidFill>
                <a:latin typeface="Courier New"/>
              </a:rPr>
              <a:t>dc_conso_uv</a:t>
            </a:r>
          </a:p>
        </p:txBody>
      </p:sp>
      <p:sp>
        <p:nvSpPr>
          <p:cNvPr id="33" name="TextBox 32"/>
          <p:cNvSpPr txBox="1"/>
          <p:nvPr/>
        </p:nvSpPr>
        <p:spPr>
          <a:xfrm>
            <a:off x="965200" y="3766820"/>
            <a:ext cx="1955800" cy="426719"/>
          </a:xfrm>
          <a:prstGeom prst="rect">
            <a:avLst/>
          </a:prstGeom>
          <a:noFill/>
        </p:spPr>
        <p:txBody>
          <a:bodyPr wrap="square" lIns="0" rIns="0" tIns="0" bIns="0" anchor="t"/>
          <a:lstStyle/>
          <a:p>
            <a:pPr>
              <a:lnSpc>
                <a:spcPct val="140000"/>
              </a:lnSpc>
            </a:pPr>
            <a:r>
              <a:rPr sz="1200" b="0">
                <a:solidFill>
                  <a:srgbClr val="46556A"/>
                </a:solidFill>
                <a:latin typeface="Arial"/>
              </a:rPr>
              <a:t>Fait UV dc_conso : clés des 14 dimensions UV</a:t>
            </a:r>
          </a:p>
        </p:txBody>
      </p:sp>
      <p:sp>
        <p:nvSpPr>
          <p:cNvPr id="34" name="Right Arrow 33"/>
          <p:cNvSpPr/>
          <p:nvPr/>
        </p:nvSpPr>
        <p:spPr>
          <a:xfrm>
            <a:off x="3175000" y="3757930"/>
            <a:ext cx="304800" cy="152400"/>
          </a:xfrm>
          <a:prstGeom prst="rightArrow">
            <a:avLst/>
          </a:prstGeom>
          <a:solidFill>
            <a:srgbClr val="9AA6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3581400" y="3322320"/>
            <a:ext cx="2260600" cy="1023619"/>
          </a:xfrm>
          <a:prstGeom prst="roundRect">
            <a:avLst>
              <a:gd name="adj" fmla="val 9925"/>
            </a:avLst>
          </a:prstGeom>
          <a:solidFill>
            <a:srgbClr val="FBFAF6"/>
          </a:solidFill>
          <a:ln w="6350">
            <a:solidFill>
              <a:srgbClr val="E2DE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3733800" y="3474720"/>
            <a:ext cx="273050" cy="215900"/>
          </a:xfrm>
          <a:prstGeom prst="roundRect">
            <a:avLst>
              <a:gd name="adj" fmla="val 50000"/>
            </a:avLst>
          </a:prstGeom>
          <a:solidFill>
            <a:srgbClr val="2A6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822700" y="3487420"/>
            <a:ext cx="95250" cy="190500"/>
          </a:xfrm>
          <a:prstGeom prst="rect">
            <a:avLst/>
          </a:prstGeom>
          <a:noFill/>
        </p:spPr>
        <p:txBody>
          <a:bodyPr wrap="square" lIns="0" rIns="0" tIns="0" bIns="0" anchor="ctr"/>
          <a:lstStyle/>
          <a:p>
            <a:pPr>
              <a:lnSpc>
                <a:spcPct val="125000"/>
              </a:lnSpc>
            </a:pPr>
            <a:r>
              <a:rPr sz="1200" b="1">
                <a:solidFill>
                  <a:srgbClr val="F5F3EE"/>
                </a:solidFill>
                <a:latin typeface="Arial"/>
              </a:rPr>
              <a:t>6</a:t>
            </a:r>
          </a:p>
        </p:txBody>
      </p:sp>
      <p:sp>
        <p:nvSpPr>
          <p:cNvPr id="38" name="TextBox 37"/>
          <p:cNvSpPr txBox="1"/>
          <p:nvPr/>
        </p:nvSpPr>
        <p:spPr>
          <a:xfrm>
            <a:off x="4083050" y="3487420"/>
            <a:ext cx="1346200" cy="190500"/>
          </a:xfrm>
          <a:prstGeom prst="rect">
            <a:avLst/>
          </a:prstGeom>
          <a:noFill/>
        </p:spPr>
        <p:txBody>
          <a:bodyPr wrap="square" lIns="0" rIns="0" tIns="0" bIns="0" anchor="t"/>
          <a:lstStyle/>
          <a:p>
            <a:pPr>
              <a:lnSpc>
                <a:spcPct val="125000"/>
              </a:lnSpc>
            </a:pPr>
            <a:r>
              <a:rPr sz="1200" b="1">
                <a:solidFill>
                  <a:srgbClr val="12233B"/>
                </a:solidFill>
                <a:latin typeface="Courier New"/>
              </a:rPr>
              <a:t>cleanup_archive</a:t>
            </a:r>
          </a:p>
        </p:txBody>
      </p:sp>
      <p:sp>
        <p:nvSpPr>
          <p:cNvPr id="39" name="TextBox 38"/>
          <p:cNvSpPr txBox="1"/>
          <p:nvPr/>
        </p:nvSpPr>
        <p:spPr>
          <a:xfrm>
            <a:off x="3733800" y="3766820"/>
            <a:ext cx="1955800" cy="426719"/>
          </a:xfrm>
          <a:prstGeom prst="rect">
            <a:avLst/>
          </a:prstGeom>
          <a:noFill/>
        </p:spPr>
        <p:txBody>
          <a:bodyPr wrap="square" lIns="0" rIns="0" tIns="0" bIns="0" anchor="t"/>
          <a:lstStyle/>
          <a:p>
            <a:pPr>
              <a:lnSpc>
                <a:spcPct val="140000"/>
              </a:lnSpc>
            </a:pPr>
            <a:r>
              <a:rPr sz="1200" b="0">
                <a:solidFill>
                  <a:srgbClr val="46556A"/>
                </a:solidFill>
                <a:latin typeface="Arial"/>
              </a:rPr>
              <a:t>Suppression du dépôt si toute la chaîne a tourné</a:t>
            </a:r>
          </a:p>
        </p:txBody>
      </p:sp>
      <p:sp>
        <p:nvSpPr>
          <p:cNvPr id="40" name="Right Arrow 39"/>
          <p:cNvSpPr/>
          <p:nvPr/>
        </p:nvSpPr>
        <p:spPr>
          <a:xfrm>
            <a:off x="5943600" y="3757930"/>
            <a:ext cx="304800" cy="152400"/>
          </a:xfrm>
          <a:prstGeom prst="rightArrow">
            <a:avLst/>
          </a:prstGeom>
          <a:solidFill>
            <a:srgbClr val="9AA6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6350000" y="3322320"/>
            <a:ext cx="2260600" cy="1023619"/>
          </a:xfrm>
          <a:prstGeom prst="roundRect">
            <a:avLst>
              <a:gd name="adj" fmla="val 9925"/>
            </a:avLst>
          </a:prstGeom>
          <a:solidFill>
            <a:srgbClr val="FBFAF6"/>
          </a:solidFill>
          <a:ln w="6350">
            <a:solidFill>
              <a:srgbClr val="E2DE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6502400" y="3474720"/>
            <a:ext cx="273050" cy="215900"/>
          </a:xfrm>
          <a:prstGeom prst="roundRect">
            <a:avLst>
              <a:gd name="adj" fmla="val 50000"/>
            </a:avLst>
          </a:prstGeom>
          <a:solidFill>
            <a:srgbClr val="2A6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591300" y="3487420"/>
            <a:ext cx="95250" cy="190500"/>
          </a:xfrm>
          <a:prstGeom prst="rect">
            <a:avLst/>
          </a:prstGeom>
          <a:noFill/>
        </p:spPr>
        <p:txBody>
          <a:bodyPr wrap="square" lIns="0" rIns="0" tIns="0" bIns="0" anchor="ctr"/>
          <a:lstStyle/>
          <a:p>
            <a:pPr>
              <a:lnSpc>
                <a:spcPct val="125000"/>
              </a:lnSpc>
            </a:pPr>
            <a:r>
              <a:rPr sz="1200" b="1">
                <a:solidFill>
                  <a:srgbClr val="F5F3EE"/>
                </a:solidFill>
                <a:latin typeface="Arial"/>
              </a:rPr>
              <a:t>7</a:t>
            </a:r>
          </a:p>
        </p:txBody>
      </p:sp>
      <p:sp>
        <p:nvSpPr>
          <p:cNvPr id="44" name="TextBox 43"/>
          <p:cNvSpPr txBox="1"/>
          <p:nvPr/>
        </p:nvSpPr>
        <p:spPr>
          <a:xfrm>
            <a:off x="6851650" y="3487420"/>
            <a:ext cx="1435100" cy="190500"/>
          </a:xfrm>
          <a:prstGeom prst="rect">
            <a:avLst/>
          </a:prstGeom>
          <a:noFill/>
        </p:spPr>
        <p:txBody>
          <a:bodyPr wrap="square" lIns="0" rIns="0" tIns="0" bIns="0" anchor="t"/>
          <a:lstStyle/>
          <a:p>
            <a:pPr>
              <a:lnSpc>
                <a:spcPct val="125000"/>
              </a:lnSpc>
            </a:pPr>
            <a:r>
              <a:rPr sz="1200" b="1">
                <a:solidFill>
                  <a:srgbClr val="12233B"/>
                </a:solidFill>
                <a:latin typeface="Courier New"/>
              </a:rPr>
              <a:t>archive_inactive</a:t>
            </a:r>
          </a:p>
        </p:txBody>
      </p:sp>
      <p:sp>
        <p:nvSpPr>
          <p:cNvPr id="45" name="TextBox 44"/>
          <p:cNvSpPr txBox="1"/>
          <p:nvPr/>
        </p:nvSpPr>
        <p:spPr>
          <a:xfrm>
            <a:off x="6502400" y="3766820"/>
            <a:ext cx="1955800" cy="426719"/>
          </a:xfrm>
          <a:prstGeom prst="rect">
            <a:avLst/>
          </a:prstGeom>
          <a:noFill/>
        </p:spPr>
        <p:txBody>
          <a:bodyPr wrap="square" lIns="0" rIns="0" tIns="0" bIns="0" anchor="t"/>
          <a:lstStyle/>
          <a:p>
            <a:pPr>
              <a:lnSpc>
                <a:spcPct val="140000"/>
              </a:lnSpc>
            </a:pPr>
            <a:r>
              <a:rPr sz="1200" b="0">
                <a:solidFill>
                  <a:srgbClr val="46556A"/>
                </a:solidFill>
                <a:latin typeface="Arial"/>
              </a:rPr>
              <a:t>Conso des types archivés vers la BV principale</a:t>
            </a:r>
          </a:p>
        </p:txBody>
      </p:sp>
      <p:sp>
        <p:nvSpPr>
          <p:cNvPr id="46" name="Rounded Rectangle 45"/>
          <p:cNvSpPr/>
          <p:nvPr/>
        </p:nvSpPr>
        <p:spPr>
          <a:xfrm>
            <a:off x="9118600" y="3322320"/>
            <a:ext cx="2260600" cy="1023619"/>
          </a:xfrm>
          <a:prstGeom prst="roundRect">
            <a:avLst>
              <a:gd name="adj" fmla="val 9925"/>
            </a:avLst>
          </a:prstGeom>
          <a:noFill/>
          <a:ln w="12700">
            <a:solidFill>
              <a:srgbClr val="9AA6B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271000" y="3514090"/>
            <a:ext cx="1955800" cy="640080"/>
          </a:xfrm>
          <a:prstGeom prst="rect">
            <a:avLst/>
          </a:prstGeom>
          <a:noFill/>
        </p:spPr>
        <p:txBody>
          <a:bodyPr wrap="square" lIns="0" rIns="0" tIns="0" bIns="0" anchor="t"/>
          <a:lstStyle/>
          <a:p>
            <a:pPr>
              <a:lnSpc>
                <a:spcPct val="140000"/>
              </a:lnSpc>
            </a:pPr>
            <a:r>
              <a:rPr sz="1200" b="0">
                <a:solidFill>
                  <a:srgbClr val="46556A"/>
                </a:solidFill>
                <a:latin typeface="Arial"/>
              </a:rPr>
              <a:t>Un interrupteur par étape, sauf le plan des types, toujours exécuté</a:t>
            </a:r>
          </a:p>
        </p:txBody>
      </p:sp>
      <p:sp>
        <p:nvSpPr>
          <p:cNvPr id="48" name="TextBox 47"/>
          <p:cNvSpPr txBox="1"/>
          <p:nvPr/>
        </p:nvSpPr>
        <p:spPr>
          <a:xfrm>
            <a:off x="812800" y="4599940"/>
            <a:ext cx="10566400" cy="266700"/>
          </a:xfrm>
          <a:prstGeom prst="rect">
            <a:avLst/>
          </a:prstGeom>
          <a:noFill/>
        </p:spPr>
        <p:txBody>
          <a:bodyPr wrap="square" lIns="0" rIns="0" tIns="0" bIns="0" anchor="t"/>
          <a:lstStyle/>
          <a:p>
            <a:pPr>
              <a:lnSpc>
                <a:spcPct val="140000"/>
              </a:lnSpc>
            </a:pPr>
            <a:r>
              <a:rPr sz="1500" b="0">
                <a:solidFill>
                  <a:srgbClr val="46556A"/>
                </a:solidFill>
                <a:latin typeface="Arial"/>
              </a:rPr>
              <a:t>Sans type de données actif, les étapes 3 à 6 sont sautées et le dépôt est conservé.</a:t>
            </a:r>
          </a:p>
        </p:txBody>
      </p:sp>
      <p:sp>
        <p:nvSpPr>
          <p:cNvPr id="49" name="TextBox 48"/>
          <p:cNvSpPr txBox="1"/>
          <p:nvPr/>
        </p:nvSpPr>
        <p:spPr>
          <a:xfrm>
            <a:off x="812800" y="6261100"/>
            <a:ext cx="3644503" cy="190500"/>
          </a:xfrm>
          <a:prstGeom prst="rect">
            <a:avLst/>
          </a:prstGeom>
          <a:noFill/>
        </p:spPr>
        <p:txBody>
          <a:bodyPr wrap="square" lIns="0" rIns="0" tIns="0" bIns="0" anchor="t"/>
          <a:lstStyle/>
          <a:p>
            <a:pPr>
              <a:lnSpc>
                <a:spcPct val="125000"/>
              </a:lnSpc>
            </a:pPr>
            <a:r>
              <a:rPr sz="1200" b="0">
                <a:solidFill>
                  <a:srgbClr val="5B6677"/>
                </a:solidFill>
                <a:latin typeface="Arial"/>
              </a:rPr>
              <a:t>BSY_REO · chaînes REO AJUST, MYREO et COVID</a:t>
            </a:r>
          </a:p>
        </p:txBody>
      </p:sp>
      <p:sp>
        <p:nvSpPr>
          <p:cNvPr id="50" name="TextBox 49"/>
          <p:cNvSpPr txBox="1"/>
          <p:nvPr/>
        </p:nvSpPr>
        <p:spPr>
          <a:xfrm>
            <a:off x="11283950" y="6261100"/>
            <a:ext cx="95250" cy="190500"/>
          </a:xfrm>
          <a:prstGeom prst="rect">
            <a:avLst/>
          </a:prstGeom>
          <a:noFill/>
        </p:spPr>
        <p:txBody>
          <a:bodyPr wrap="square" lIns="0" rIns="0" tIns="0" bIns="0" anchor="t"/>
          <a:lstStyle/>
          <a:p>
            <a:pPr>
              <a:lnSpc>
                <a:spcPct val="125000"/>
              </a:lnSpc>
            </a:pPr>
            <a:r>
              <a:rPr sz="1200" b="0">
                <a:solidFill>
                  <a:srgbClr val="5B6677"/>
                </a:solidFill>
                <a:latin typeface="Arial"/>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6858000"/>
          </a:xfrm>
          <a:prstGeom prst="rect">
            <a:avLst/>
          </a:prstGeom>
          <a:solidFill>
            <a:srgbClr val="F5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12800" y="812800"/>
            <a:ext cx="10566400" cy="190500"/>
          </a:xfrm>
          <a:prstGeom prst="rect">
            <a:avLst/>
          </a:prstGeom>
          <a:noFill/>
        </p:spPr>
        <p:txBody>
          <a:bodyPr wrap="square" lIns="0" rIns="0" tIns="0" bIns="0" anchor="t"/>
          <a:lstStyle/>
          <a:p>
            <a:pPr>
              <a:lnSpc>
                <a:spcPct val="125000"/>
              </a:lnSpc>
            </a:pPr>
            <a:r>
              <a:rPr sz="1200" b="1" spc="150">
                <a:solidFill>
                  <a:srgbClr val="2A6496"/>
                </a:solidFill>
                <a:latin typeface="Arial"/>
              </a:rPr>
              <a:t>CHAÎNE AJUST</a:t>
            </a:r>
          </a:p>
        </p:txBody>
      </p:sp>
      <p:sp>
        <p:nvSpPr>
          <p:cNvPr id="5" name="TextBox 4"/>
          <p:cNvSpPr txBox="1"/>
          <p:nvPr/>
        </p:nvSpPr>
        <p:spPr>
          <a:xfrm>
            <a:off x="812800" y="1079500"/>
            <a:ext cx="10566400" cy="447040"/>
          </a:xfrm>
          <a:prstGeom prst="rect">
            <a:avLst/>
          </a:prstGeom>
          <a:noFill/>
        </p:spPr>
        <p:txBody>
          <a:bodyPr wrap="square" lIns="0" rIns="0" tIns="0" bIns="0" anchor="t"/>
          <a:lstStyle/>
          <a:p>
            <a:pPr>
              <a:lnSpc>
                <a:spcPct val="110000"/>
              </a:lnSpc>
            </a:pPr>
            <a:r>
              <a:rPr sz="3200" b="1">
                <a:solidFill>
                  <a:srgbClr val="12233B"/>
                </a:solidFill>
                <a:latin typeface="Arial"/>
              </a:rPr>
              <a:t>AJUST : le parcours des données</a:t>
            </a:r>
          </a:p>
        </p:txBody>
      </p:sp>
      <p:sp>
        <p:nvSpPr>
          <p:cNvPr id="6" name="Rounded Rectangle 5"/>
          <p:cNvSpPr/>
          <p:nvPr/>
        </p:nvSpPr>
        <p:spPr>
          <a:xfrm>
            <a:off x="812800" y="1831339"/>
            <a:ext cx="1706880" cy="1610360"/>
          </a:xfrm>
          <a:prstGeom prst="roundRect">
            <a:avLst>
              <a:gd name="adj" fmla="val 6309"/>
            </a:avLst>
          </a:prstGeom>
          <a:solidFill>
            <a:srgbClr val="FBFAF6"/>
          </a:solidFill>
          <a:ln w="6350">
            <a:solidFill>
              <a:srgbClr val="E2DE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5200" y="1983739"/>
            <a:ext cx="1402080" cy="228600"/>
          </a:xfrm>
          <a:prstGeom prst="rect">
            <a:avLst/>
          </a:prstGeom>
          <a:noFill/>
        </p:spPr>
        <p:txBody>
          <a:bodyPr wrap="square" lIns="0" rIns="0" tIns="0" bIns="0" anchor="t"/>
          <a:lstStyle/>
          <a:p>
            <a:pPr>
              <a:lnSpc>
                <a:spcPct val="120000"/>
              </a:lnSpc>
            </a:pPr>
            <a:r>
              <a:rPr sz="1500" b="1">
                <a:solidFill>
                  <a:srgbClr val="12233B"/>
                </a:solidFill>
                <a:latin typeface="Arial"/>
              </a:rPr>
              <a:t>Dépôt AJUST</a:t>
            </a:r>
          </a:p>
        </p:txBody>
      </p:sp>
      <p:sp>
        <p:nvSpPr>
          <p:cNvPr id="8" name="TextBox 7"/>
          <p:cNvSpPr txBox="1"/>
          <p:nvPr/>
        </p:nvSpPr>
        <p:spPr>
          <a:xfrm>
            <a:off x="965200" y="2288540"/>
            <a:ext cx="1402080" cy="426719"/>
          </a:xfrm>
          <a:prstGeom prst="rect">
            <a:avLst/>
          </a:prstGeom>
          <a:noFill/>
        </p:spPr>
        <p:txBody>
          <a:bodyPr wrap="square" lIns="0" rIns="0" tIns="0" bIns="0" anchor="t"/>
          <a:lstStyle/>
          <a:p>
            <a:pPr>
              <a:lnSpc>
                <a:spcPct val="140000"/>
              </a:lnSpc>
            </a:pPr>
            <a:r>
              <a:rPr sz="1200" b="0">
                <a:solidFill>
                  <a:srgbClr val="46556A"/>
                </a:solidFill>
                <a:latin typeface="Arial"/>
              </a:rPr>
              <a:t>Fichiers sql et agg, en ISO-8859-15</a:t>
            </a:r>
          </a:p>
        </p:txBody>
      </p:sp>
      <p:sp>
        <p:nvSpPr>
          <p:cNvPr id="9" name="Right Arrow 8"/>
          <p:cNvSpPr/>
          <p:nvPr/>
        </p:nvSpPr>
        <p:spPr>
          <a:xfrm>
            <a:off x="2621280" y="2560320"/>
            <a:ext cx="304800" cy="152400"/>
          </a:xfrm>
          <a:prstGeom prst="rightArrow">
            <a:avLst/>
          </a:prstGeom>
          <a:solidFill>
            <a:srgbClr val="9AA6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027680" y="1831339"/>
            <a:ext cx="1706880" cy="1610360"/>
          </a:xfrm>
          <a:prstGeom prst="roundRect">
            <a:avLst>
              <a:gd name="adj" fmla="val 6309"/>
            </a:avLst>
          </a:prstGeom>
          <a:solidFill>
            <a:srgbClr val="FBFAF6"/>
          </a:solidFill>
          <a:ln w="6350">
            <a:solidFill>
              <a:srgbClr val="E2DE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180080" y="1983739"/>
            <a:ext cx="1402080" cy="228600"/>
          </a:xfrm>
          <a:prstGeom prst="rect">
            <a:avLst/>
          </a:prstGeom>
          <a:noFill/>
        </p:spPr>
        <p:txBody>
          <a:bodyPr wrap="square" lIns="0" rIns="0" tIns="0" bIns="0" anchor="t"/>
          <a:lstStyle/>
          <a:p>
            <a:pPr>
              <a:lnSpc>
                <a:spcPct val="120000"/>
              </a:lnSpc>
            </a:pPr>
            <a:r>
              <a:rPr sz="1500" b="1">
                <a:solidFill>
                  <a:srgbClr val="12233B"/>
                </a:solidFill>
                <a:latin typeface="Arial"/>
              </a:rPr>
              <a:t>RD, SV, BV</a:t>
            </a:r>
          </a:p>
        </p:txBody>
      </p:sp>
      <p:sp>
        <p:nvSpPr>
          <p:cNvPr id="12" name="TextBox 11"/>
          <p:cNvSpPr txBox="1"/>
          <p:nvPr/>
        </p:nvSpPr>
        <p:spPr>
          <a:xfrm>
            <a:off x="3180080" y="2288540"/>
            <a:ext cx="1402080" cy="640080"/>
          </a:xfrm>
          <a:prstGeom prst="rect">
            <a:avLst/>
          </a:prstGeom>
          <a:noFill/>
        </p:spPr>
        <p:txBody>
          <a:bodyPr wrap="square" lIns="0" rIns="0" tIns="0" bIns="0" anchor="t"/>
          <a:lstStyle/>
          <a:p>
            <a:pPr>
              <a:lnSpc>
                <a:spcPct val="140000"/>
              </a:lnSpc>
            </a:pPr>
            <a:r>
              <a:rPr sz="1200" b="0">
                <a:solidFill>
                  <a:srgbClr val="46556A"/>
                </a:solidFill>
                <a:latin typeface="Arial"/>
              </a:rPr>
              <a:t>Historique, dernier détail, dernier agrégé</a:t>
            </a:r>
          </a:p>
        </p:txBody>
      </p:sp>
      <p:sp>
        <p:nvSpPr>
          <p:cNvPr id="13" name="Right Arrow 12"/>
          <p:cNvSpPr/>
          <p:nvPr/>
        </p:nvSpPr>
        <p:spPr>
          <a:xfrm>
            <a:off x="4836160" y="2560320"/>
            <a:ext cx="304800" cy="152400"/>
          </a:xfrm>
          <a:prstGeom prst="rightArrow">
            <a:avLst/>
          </a:prstGeom>
          <a:solidFill>
            <a:srgbClr val="9AA6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242560" y="1831339"/>
            <a:ext cx="1706880" cy="1610360"/>
          </a:xfrm>
          <a:prstGeom prst="roundRect">
            <a:avLst>
              <a:gd name="adj" fmla="val 6309"/>
            </a:avLst>
          </a:prstGeom>
          <a:solidFill>
            <a:srgbClr val="FBFAF6"/>
          </a:solidFill>
          <a:ln w="6350">
            <a:solidFill>
              <a:srgbClr val="E2DE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394960" y="1983739"/>
            <a:ext cx="1402080" cy="228600"/>
          </a:xfrm>
          <a:prstGeom prst="rect">
            <a:avLst/>
          </a:prstGeom>
          <a:noFill/>
        </p:spPr>
        <p:txBody>
          <a:bodyPr wrap="square" lIns="0" rIns="0" tIns="0" bIns="0" anchor="t"/>
          <a:lstStyle/>
          <a:p>
            <a:pPr>
              <a:lnSpc>
                <a:spcPct val="120000"/>
              </a:lnSpc>
            </a:pPr>
            <a:r>
              <a:rPr sz="1500" b="1">
                <a:solidFill>
                  <a:srgbClr val="12233B"/>
                </a:solidFill>
                <a:latin typeface="Arial"/>
              </a:rPr>
              <a:t>Conso BV</a:t>
            </a:r>
          </a:p>
        </p:txBody>
      </p:sp>
      <p:sp>
        <p:nvSpPr>
          <p:cNvPr id="16" name="TextBox 15"/>
          <p:cNvSpPr txBox="1"/>
          <p:nvPr/>
        </p:nvSpPr>
        <p:spPr>
          <a:xfrm>
            <a:off x="5394960" y="2288540"/>
            <a:ext cx="1402080" cy="426719"/>
          </a:xfrm>
          <a:prstGeom prst="rect">
            <a:avLst/>
          </a:prstGeom>
          <a:noFill/>
        </p:spPr>
        <p:txBody>
          <a:bodyPr wrap="square" lIns="0" rIns="0" tIns="0" bIns="0" anchor="t"/>
          <a:lstStyle/>
          <a:p>
            <a:pPr>
              <a:lnSpc>
                <a:spcPct val="140000"/>
              </a:lnSpc>
            </a:pPr>
            <a:r>
              <a:rPr sz="1200" b="0">
                <a:solidFill>
                  <a:srgbClr val="46556A"/>
                </a:solidFill>
                <a:latin typeface="Arial"/>
              </a:rPr>
              <a:t>Parquet par type actif</a:t>
            </a:r>
          </a:p>
        </p:txBody>
      </p:sp>
      <p:sp>
        <p:nvSpPr>
          <p:cNvPr id="17" name="Rounded Rectangle 16"/>
          <p:cNvSpPr/>
          <p:nvPr/>
        </p:nvSpPr>
        <p:spPr>
          <a:xfrm>
            <a:off x="5394960" y="2791460"/>
            <a:ext cx="1402080" cy="299720"/>
          </a:xfrm>
          <a:prstGeom prst="roundRect">
            <a:avLst>
              <a:gd name="adj" fmla="val 16949"/>
            </a:avLst>
          </a:prstGeom>
          <a:solidFill>
            <a:srgbClr val="DCE8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71160" y="2842260"/>
            <a:ext cx="1249680" cy="198120"/>
          </a:xfrm>
          <a:prstGeom prst="rect">
            <a:avLst/>
          </a:prstGeom>
          <a:noFill/>
        </p:spPr>
        <p:txBody>
          <a:bodyPr wrap="square" lIns="0" rIns="0" tIns="0" bIns="0" anchor="ctr"/>
          <a:lstStyle/>
          <a:p>
            <a:pPr>
              <a:lnSpc>
                <a:spcPct val="130000"/>
              </a:lnSpc>
            </a:pPr>
            <a:r>
              <a:rPr sz="1200" b="0">
                <a:solidFill>
                  <a:srgbClr val="12233B"/>
                </a:solidFill>
                <a:latin typeface="Arial"/>
              </a:rPr>
              <a:t>+ year_mapping</a:t>
            </a:r>
          </a:p>
        </p:txBody>
      </p:sp>
      <p:sp>
        <p:nvSpPr>
          <p:cNvPr id="19" name="Right Arrow 18"/>
          <p:cNvSpPr/>
          <p:nvPr/>
        </p:nvSpPr>
        <p:spPr>
          <a:xfrm>
            <a:off x="7051040" y="2560320"/>
            <a:ext cx="304800" cy="152400"/>
          </a:xfrm>
          <a:prstGeom prst="rightArrow">
            <a:avLst/>
          </a:prstGeom>
          <a:solidFill>
            <a:srgbClr val="9AA6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7457440" y="1831339"/>
            <a:ext cx="1706880" cy="1610360"/>
          </a:xfrm>
          <a:prstGeom prst="roundRect">
            <a:avLst>
              <a:gd name="adj" fmla="val 6309"/>
            </a:avLst>
          </a:prstGeom>
          <a:solidFill>
            <a:srgbClr val="FBFAF6"/>
          </a:solidFill>
          <a:ln w="6350">
            <a:solidFill>
              <a:srgbClr val="E2DE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609840" y="1983739"/>
            <a:ext cx="1402080" cy="228600"/>
          </a:xfrm>
          <a:prstGeom prst="rect">
            <a:avLst/>
          </a:prstGeom>
          <a:noFill/>
        </p:spPr>
        <p:txBody>
          <a:bodyPr wrap="square" lIns="0" rIns="0" tIns="0" bIns="0" anchor="t"/>
          <a:lstStyle/>
          <a:p>
            <a:pPr>
              <a:lnSpc>
                <a:spcPct val="120000"/>
              </a:lnSpc>
            </a:pPr>
            <a:r>
              <a:rPr sz="1500" b="1">
                <a:solidFill>
                  <a:srgbClr val="12233B"/>
                </a:solidFill>
                <a:latin typeface="Arial"/>
              </a:rPr>
              <a:t>ODS enrichie</a:t>
            </a:r>
          </a:p>
        </p:txBody>
      </p:sp>
      <p:sp>
        <p:nvSpPr>
          <p:cNvPr id="22" name="TextBox 21"/>
          <p:cNvSpPr txBox="1"/>
          <p:nvPr/>
        </p:nvSpPr>
        <p:spPr>
          <a:xfrm>
            <a:off x="7609840" y="2288540"/>
            <a:ext cx="1402080" cy="426719"/>
          </a:xfrm>
          <a:prstGeom prst="rect">
            <a:avLst/>
          </a:prstGeom>
          <a:noFill/>
        </p:spPr>
        <p:txBody>
          <a:bodyPr wrap="square" lIns="0" rIns="0" tIns="0" bIns="0" anchor="t"/>
          <a:lstStyle/>
          <a:p>
            <a:pPr>
              <a:lnSpc>
                <a:spcPct val="140000"/>
              </a:lnSpc>
            </a:pPr>
            <a:r>
              <a:rPr sz="1200" b="0">
                <a:solidFill>
                  <a:srgbClr val="46556A"/>
                </a:solidFill>
                <a:latin typeface="Arial"/>
              </a:rPr>
              <a:t>Parquet par type actif</a:t>
            </a:r>
          </a:p>
        </p:txBody>
      </p:sp>
      <p:sp>
        <p:nvSpPr>
          <p:cNvPr id="23" name="Rounded Rectangle 22"/>
          <p:cNvSpPr/>
          <p:nvPr/>
        </p:nvSpPr>
        <p:spPr>
          <a:xfrm>
            <a:off x="7609840" y="2791460"/>
            <a:ext cx="1402080" cy="299720"/>
          </a:xfrm>
          <a:prstGeom prst="roundRect">
            <a:avLst>
              <a:gd name="adj" fmla="val 16949"/>
            </a:avLst>
          </a:prstGeom>
          <a:solidFill>
            <a:srgbClr val="DCE8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86040" y="2842260"/>
            <a:ext cx="1249680" cy="198120"/>
          </a:xfrm>
          <a:prstGeom prst="rect">
            <a:avLst/>
          </a:prstGeom>
          <a:noFill/>
        </p:spPr>
        <p:txBody>
          <a:bodyPr wrap="square" lIns="0" rIns="0" tIns="0" bIns="0" anchor="ctr"/>
          <a:lstStyle/>
          <a:p>
            <a:pPr>
              <a:lnSpc>
                <a:spcPct val="130000"/>
              </a:lnSpc>
            </a:pPr>
            <a:r>
              <a:rPr sz="1200" b="0">
                <a:solidFill>
                  <a:srgbClr val="12233B"/>
                </a:solidFill>
                <a:latin typeface="Arial"/>
              </a:rPr>
              <a:t>+ PCI et GTS</a:t>
            </a:r>
          </a:p>
        </p:txBody>
      </p:sp>
      <p:sp>
        <p:nvSpPr>
          <p:cNvPr id="25" name="Right Arrow 24"/>
          <p:cNvSpPr/>
          <p:nvPr/>
        </p:nvSpPr>
        <p:spPr>
          <a:xfrm>
            <a:off x="9265920" y="2560320"/>
            <a:ext cx="304800" cy="152400"/>
          </a:xfrm>
          <a:prstGeom prst="rightArrow">
            <a:avLst/>
          </a:prstGeom>
          <a:solidFill>
            <a:srgbClr val="9AA6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9672320" y="1831339"/>
            <a:ext cx="1706880" cy="1610360"/>
          </a:xfrm>
          <a:prstGeom prst="roundRect">
            <a:avLst>
              <a:gd name="adj" fmla="val 6309"/>
            </a:avLst>
          </a:prstGeom>
          <a:solidFill>
            <a:srgbClr val="FBFAF6"/>
          </a:solidFill>
          <a:ln w="6350">
            <a:solidFill>
              <a:srgbClr val="E2DE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824720" y="1983739"/>
            <a:ext cx="1402080" cy="228600"/>
          </a:xfrm>
          <a:prstGeom prst="rect">
            <a:avLst/>
          </a:prstGeom>
          <a:noFill/>
        </p:spPr>
        <p:txBody>
          <a:bodyPr wrap="square" lIns="0" rIns="0" tIns="0" bIns="0" anchor="t"/>
          <a:lstStyle/>
          <a:p>
            <a:pPr>
              <a:lnSpc>
                <a:spcPct val="120000"/>
              </a:lnSpc>
            </a:pPr>
            <a:r>
              <a:rPr sz="1500" b="1">
                <a:solidFill>
                  <a:srgbClr val="12233B"/>
                </a:solidFill>
                <a:latin typeface="Arial"/>
              </a:rPr>
              <a:t>Fait UV</a:t>
            </a:r>
          </a:p>
        </p:txBody>
      </p:sp>
      <p:sp>
        <p:nvSpPr>
          <p:cNvPr id="28" name="TextBox 27"/>
          <p:cNvSpPr txBox="1"/>
          <p:nvPr/>
        </p:nvSpPr>
        <p:spPr>
          <a:xfrm>
            <a:off x="9824720" y="2288540"/>
            <a:ext cx="1402080" cy="426719"/>
          </a:xfrm>
          <a:prstGeom prst="rect">
            <a:avLst/>
          </a:prstGeom>
          <a:noFill/>
        </p:spPr>
        <p:txBody>
          <a:bodyPr wrap="square" lIns="0" rIns="0" tIns="0" bIns="0" anchor="t"/>
          <a:lstStyle/>
          <a:p>
            <a:pPr>
              <a:lnSpc>
                <a:spcPct val="140000"/>
              </a:lnSpc>
            </a:pPr>
            <a:r>
              <a:rPr sz="1200" b="0">
                <a:solidFill>
                  <a:srgbClr val="46556A"/>
                </a:solidFill>
                <a:latin typeface="Arial"/>
              </a:rPr>
              <a:t>CSV dc_conso : 14 clés et le montant</a:t>
            </a:r>
          </a:p>
        </p:txBody>
      </p:sp>
      <p:sp>
        <p:nvSpPr>
          <p:cNvPr id="29" name="Rounded Rectangle 28"/>
          <p:cNvSpPr/>
          <p:nvPr/>
        </p:nvSpPr>
        <p:spPr>
          <a:xfrm>
            <a:off x="9824720" y="2791460"/>
            <a:ext cx="1402080" cy="497840"/>
          </a:xfrm>
          <a:prstGeom prst="roundRect">
            <a:avLst>
              <a:gd name="adj" fmla="val 10204"/>
            </a:avLst>
          </a:prstGeom>
          <a:solidFill>
            <a:srgbClr val="DCE8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900920" y="2842260"/>
            <a:ext cx="1249680" cy="396240"/>
          </a:xfrm>
          <a:prstGeom prst="rect">
            <a:avLst/>
          </a:prstGeom>
          <a:noFill/>
        </p:spPr>
        <p:txBody>
          <a:bodyPr wrap="square" lIns="0" rIns="0" tIns="0" bIns="0" anchor="ctr"/>
          <a:lstStyle/>
          <a:p>
            <a:pPr>
              <a:lnSpc>
                <a:spcPct val="130000"/>
              </a:lnSpc>
            </a:pPr>
            <a:r>
              <a:rPr sz="1200" b="0">
                <a:solidFill>
                  <a:srgbClr val="12233B"/>
                </a:solidFill>
                <a:latin typeface="Arial"/>
              </a:rPr>
              <a:t>+ 14 référentiels UV</a:t>
            </a:r>
          </a:p>
        </p:txBody>
      </p:sp>
      <p:sp>
        <p:nvSpPr>
          <p:cNvPr id="31" name="TextBox 30"/>
          <p:cNvSpPr txBox="1"/>
          <p:nvPr/>
        </p:nvSpPr>
        <p:spPr>
          <a:xfrm>
            <a:off x="812800" y="3695700"/>
            <a:ext cx="10566400" cy="266700"/>
          </a:xfrm>
          <a:prstGeom prst="rect">
            <a:avLst/>
          </a:prstGeom>
          <a:noFill/>
        </p:spPr>
        <p:txBody>
          <a:bodyPr wrap="square" lIns="0" rIns="0" tIns="0" bIns="0" anchor="t"/>
          <a:lstStyle/>
          <a:p>
            <a:pPr>
              <a:lnSpc>
                <a:spcPct val="140000"/>
              </a:lnSpc>
            </a:pPr>
            <a:r>
              <a:rPr sz="1500" b="0">
                <a:solidFill>
                  <a:srgbClr val="46556A"/>
                </a:solidFill>
                <a:latin typeface="Arial"/>
              </a:rPr>
              <a:t>Types archivés : leur conso existante est relue, la fenêtre d’années A0 à A2 rejouée, puis écrite dans la BV principale.</a:t>
            </a:r>
          </a:p>
        </p:txBody>
      </p:sp>
      <p:sp>
        <p:nvSpPr>
          <p:cNvPr id="32" name="TextBox 31"/>
          <p:cNvSpPr txBox="1"/>
          <p:nvPr/>
        </p:nvSpPr>
        <p:spPr>
          <a:xfrm>
            <a:off x="812800" y="6261100"/>
            <a:ext cx="3644503" cy="190500"/>
          </a:xfrm>
          <a:prstGeom prst="rect">
            <a:avLst/>
          </a:prstGeom>
          <a:noFill/>
        </p:spPr>
        <p:txBody>
          <a:bodyPr wrap="square" lIns="0" rIns="0" tIns="0" bIns="0" anchor="t"/>
          <a:lstStyle/>
          <a:p>
            <a:pPr>
              <a:lnSpc>
                <a:spcPct val="125000"/>
              </a:lnSpc>
            </a:pPr>
            <a:r>
              <a:rPr sz="1200" b="0">
                <a:solidFill>
                  <a:srgbClr val="5B6677"/>
                </a:solidFill>
                <a:latin typeface="Arial"/>
              </a:rPr>
              <a:t>BSY_REO · chaînes REO AJUST, MYREO et COVID</a:t>
            </a:r>
          </a:p>
        </p:txBody>
      </p:sp>
      <p:sp>
        <p:nvSpPr>
          <p:cNvPr id="33" name="TextBox 32"/>
          <p:cNvSpPr txBox="1"/>
          <p:nvPr/>
        </p:nvSpPr>
        <p:spPr>
          <a:xfrm>
            <a:off x="11283950" y="6261100"/>
            <a:ext cx="95250" cy="190500"/>
          </a:xfrm>
          <a:prstGeom prst="rect">
            <a:avLst/>
          </a:prstGeom>
          <a:noFill/>
        </p:spPr>
        <p:txBody>
          <a:bodyPr wrap="square" lIns="0" rIns="0" tIns="0" bIns="0" anchor="t"/>
          <a:lstStyle/>
          <a:p>
            <a:pPr>
              <a:lnSpc>
                <a:spcPct val="125000"/>
              </a:lnSpc>
            </a:pPr>
            <a:r>
              <a:rPr sz="1200" b="0">
                <a:solidFill>
                  <a:srgbClr val="5B6677"/>
                </a:solidFill>
                <a:latin typeface="Arial"/>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6858000"/>
          </a:xfrm>
          <a:prstGeom prst="rect">
            <a:avLst/>
          </a:prstGeom>
          <a:solidFill>
            <a:srgbClr val="F5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12800" y="812800"/>
            <a:ext cx="10566400" cy="190500"/>
          </a:xfrm>
          <a:prstGeom prst="rect">
            <a:avLst/>
          </a:prstGeom>
          <a:noFill/>
        </p:spPr>
        <p:txBody>
          <a:bodyPr wrap="square" lIns="0" rIns="0" tIns="0" bIns="0" anchor="t"/>
          <a:lstStyle/>
          <a:p>
            <a:pPr>
              <a:lnSpc>
                <a:spcPct val="125000"/>
              </a:lnSpc>
            </a:pPr>
            <a:r>
              <a:rPr sz="1200" b="1" spc="150">
                <a:solidFill>
                  <a:srgbClr val="A9531C"/>
                </a:solidFill>
                <a:latin typeface="Arial"/>
              </a:rPr>
              <a:t>CHAÎNE MYREO</a:t>
            </a:r>
          </a:p>
        </p:txBody>
      </p:sp>
      <p:sp>
        <p:nvSpPr>
          <p:cNvPr id="5" name="TextBox 4"/>
          <p:cNvSpPr txBox="1"/>
          <p:nvPr/>
        </p:nvSpPr>
        <p:spPr>
          <a:xfrm>
            <a:off x="812800" y="1079500"/>
            <a:ext cx="10566400" cy="447040"/>
          </a:xfrm>
          <a:prstGeom prst="rect">
            <a:avLst/>
          </a:prstGeom>
          <a:noFill/>
        </p:spPr>
        <p:txBody>
          <a:bodyPr wrap="square" lIns="0" rIns="0" tIns="0" bIns="0" anchor="t"/>
          <a:lstStyle/>
          <a:p>
            <a:pPr>
              <a:lnSpc>
                <a:spcPct val="110000"/>
              </a:lnSpc>
            </a:pPr>
            <a:r>
              <a:rPr sz="3200" b="1">
                <a:solidFill>
                  <a:srgbClr val="12233B"/>
                </a:solidFill>
                <a:latin typeface="Arial"/>
              </a:rPr>
              <a:t>MYREO : de deux jobs Talend à une application Spark</a:t>
            </a:r>
          </a:p>
        </p:txBody>
      </p:sp>
      <p:graphicFrame>
        <p:nvGraphicFramePr>
          <p:cNvPr id="6" name="Table 5"/>
          <p:cNvGraphicFramePr>
            <a:graphicFrameLocks noGrp="1"/>
          </p:cNvGraphicFramePr>
          <p:nvPr/>
        </p:nvGraphicFramePr>
        <p:xfrm>
          <a:off x="812800" y="1831339"/>
          <a:ext cx="10566398" cy="2400300"/>
        </p:xfrm>
        <a:graphic>
          <a:graphicData uri="http://schemas.openxmlformats.org/drawingml/2006/table">
            <a:tbl>
              <a:tblPr/>
              <a:tblGrid>
                <a:gridCol w="2747264"/>
                <a:gridCol w="3909567"/>
                <a:gridCol w="3909567"/>
              </a:tblGrid>
              <a:tr h="400050">
                <a:tc>
                  <a:txBody>
                    <a:bodyPr wrap="square"/>
                    <a:lstStyle/>
                    <a:p>
                      <a:pPr>
                        <a:lnSpc>
                          <a:spcPct val="125000"/>
                        </a:lnSpc>
                      </a:pPr>
                    </a:p>
                  </a:txBody>
                  <a:tcPr marL="101600" marR="101600" marT="76200" marB="76200" anchor="ctr">
                    <a:solidFill>
                      <a:srgbClr val="12233B"/>
                    </a:solidFill>
                  </a:tcPr>
                </a:tc>
                <a:tc>
                  <a:txBody>
                    <a:bodyPr wrap="square"/>
                    <a:lstStyle/>
                    <a:p>
                      <a:pPr>
                        <a:lnSpc>
                          <a:spcPct val="125000"/>
                        </a:lnSpc>
                      </a:pPr>
                      <a:r>
                        <a:rPr sz="1500" b="1">
                          <a:solidFill>
                            <a:srgbClr val="F5F3EE"/>
                          </a:solidFill>
                          <a:latin typeface="Arial"/>
                        </a:rPr>
                        <a:t>Talend</a:t>
                      </a:r>
                    </a:p>
                  </a:txBody>
                  <a:tcPr marL="101600" marR="101600" marT="76200" marB="76200" anchor="ctr">
                    <a:solidFill>
                      <a:srgbClr val="12233B"/>
                    </a:solidFill>
                  </a:tcPr>
                </a:tc>
                <a:tc>
                  <a:txBody>
                    <a:bodyPr wrap="square"/>
                    <a:lstStyle/>
                    <a:p>
                      <a:pPr>
                        <a:lnSpc>
                          <a:spcPct val="125000"/>
                        </a:lnSpc>
                      </a:pPr>
                      <a:r>
                        <a:rPr sz="1500" b="1">
                          <a:solidFill>
                            <a:srgbClr val="E9A06A"/>
                          </a:solidFill>
                          <a:latin typeface="Arial"/>
                        </a:rPr>
                        <a:t>Scala et Spark</a:t>
                      </a:r>
                    </a:p>
                  </a:txBody>
                  <a:tcPr marL="101600" marR="101600" marT="76200" marB="76200" anchor="ctr">
                    <a:solidFill>
                      <a:srgbClr val="12233B"/>
                    </a:solidFill>
                  </a:tcPr>
                </a:tc>
              </a:tr>
              <a:tr h="400050">
                <a:tc>
                  <a:txBody>
                    <a:bodyPr wrap="square"/>
                    <a:lstStyle/>
                    <a:p>
                      <a:pPr>
                        <a:lnSpc>
                          <a:spcPct val="125000"/>
                        </a:lnSpc>
                      </a:pPr>
                      <a:r>
                        <a:rPr sz="1500" b="1">
                          <a:solidFill>
                            <a:srgbClr val="12233B"/>
                          </a:solidFill>
                          <a:latin typeface="Arial"/>
                        </a:rPr>
                        <a:t>Applications</a:t>
                      </a:r>
                    </a:p>
                  </a:txBody>
                  <a:tcPr marL="101600" marR="101600" marT="76200" marB="76200" anchor="ctr">
                    <a:solidFill>
                      <a:srgbClr val="F5F3EE"/>
                    </a:solidFill>
                  </a:tcPr>
                </a:tc>
                <a:tc>
                  <a:txBody>
                    <a:bodyPr wrap="square"/>
                    <a:lstStyle/>
                    <a:p>
                      <a:pPr>
                        <a:lnSpc>
                          <a:spcPct val="125000"/>
                        </a:lnSpc>
                      </a:pPr>
                      <a:r>
                        <a:rPr sz="1500" b="0">
                          <a:solidFill>
                            <a:srgbClr val="12233B"/>
                          </a:solidFill>
                          <a:latin typeface="Arial"/>
                        </a:rPr>
                        <a:t>1 JVM par nouveau fichier</a:t>
                      </a:r>
                    </a:p>
                  </a:txBody>
                  <a:tcPr marL="101600" marR="101600" marT="76200" marB="76200" anchor="ctr">
                    <a:solidFill>
                      <a:srgbClr val="F5F3EE"/>
                    </a:solidFill>
                  </a:tcPr>
                </a:tc>
                <a:tc>
                  <a:txBody>
                    <a:bodyPr wrap="square"/>
                    <a:lstStyle/>
                    <a:p>
                      <a:pPr>
                        <a:lnSpc>
                          <a:spcPct val="125000"/>
                        </a:lnSpc>
                      </a:pPr>
                      <a:r>
                        <a:rPr sz="1500" b="0">
                          <a:solidFill>
                            <a:srgbClr val="12233B"/>
                          </a:solidFill>
                          <a:latin typeface="Arial"/>
                        </a:rPr>
                        <a:t>1 application, 4 étapes</a:t>
                      </a:r>
                    </a:p>
                  </a:txBody>
                  <a:tcPr marL="101600" marR="101600" marT="76200" marB="76200" anchor="ctr">
                    <a:solidFill>
                      <a:srgbClr val="F5F3EE"/>
                    </a:solidFill>
                  </a:tcPr>
                </a:tc>
              </a:tr>
              <a:tr h="400050">
                <a:tc>
                  <a:txBody>
                    <a:bodyPr wrap="square"/>
                    <a:lstStyle/>
                    <a:p>
                      <a:pPr>
                        <a:lnSpc>
                          <a:spcPct val="125000"/>
                        </a:lnSpc>
                      </a:pPr>
                      <a:r>
                        <a:rPr sz="1500" b="1">
                          <a:solidFill>
                            <a:srgbClr val="12233B"/>
                          </a:solidFill>
                          <a:latin typeface="Arial"/>
                        </a:rPr>
                        <a:t>Listing et historique</a:t>
                      </a:r>
                    </a:p>
                  </a:txBody>
                  <a:tcPr marL="101600" marR="101600" marT="76200" marB="76200" anchor="ctr">
                    <a:solidFill>
                      <a:srgbClr val="FBFAF6"/>
                    </a:solidFill>
                  </a:tcPr>
                </a:tc>
                <a:tc>
                  <a:txBody>
                    <a:bodyPr wrap="square"/>
                    <a:lstStyle/>
                    <a:p>
                      <a:pPr>
                        <a:lnSpc>
                          <a:spcPct val="125000"/>
                        </a:lnSpc>
                      </a:pPr>
                      <a:r>
                        <a:rPr sz="1500" b="0">
                          <a:solidFill>
                            <a:srgbClr val="12233B"/>
                          </a:solidFill>
                          <a:latin typeface="Arial"/>
                        </a:rPr>
                        <a:t>tHDFSList, APPEND HDFS</a:t>
                      </a:r>
                    </a:p>
                  </a:txBody>
                  <a:tcPr marL="101600" marR="101600" marT="76200" marB="76200" anchor="ctr">
                    <a:solidFill>
                      <a:srgbClr val="FBFAF6"/>
                    </a:solidFill>
                  </a:tcPr>
                </a:tc>
                <a:tc>
                  <a:txBody>
                    <a:bodyPr wrap="square"/>
                    <a:lstStyle/>
                    <a:p>
                      <a:pPr>
                        <a:lnSpc>
                          <a:spcPct val="125000"/>
                        </a:lnSpc>
                      </a:pPr>
                      <a:r>
                        <a:rPr sz="1500" b="0">
                          <a:solidFill>
                            <a:srgbClr val="12233B"/>
                          </a:solidFill>
                          <a:latin typeface="Arial"/>
                        </a:rPr>
                        <a:t>API FileSystem Hadoop</a:t>
                      </a:r>
                    </a:p>
                  </a:txBody>
                  <a:tcPr marL="101600" marR="101600" marT="76200" marB="76200" anchor="ctr">
                    <a:solidFill>
                      <a:srgbClr val="FBFAF6"/>
                    </a:solidFill>
                  </a:tcPr>
                </a:tc>
              </a:tr>
              <a:tr h="400050">
                <a:tc>
                  <a:txBody>
                    <a:bodyPr wrap="square"/>
                    <a:lstStyle/>
                    <a:p>
                      <a:pPr>
                        <a:lnSpc>
                          <a:spcPct val="125000"/>
                        </a:lnSpc>
                      </a:pPr>
                      <a:r>
                        <a:rPr sz="1500" b="1">
                          <a:solidFill>
                            <a:srgbClr val="12233B"/>
                          </a:solidFill>
                          <a:latin typeface="Arial"/>
                        </a:rPr>
                        <a:t>Fichier SV</a:t>
                      </a:r>
                    </a:p>
                  </a:txBody>
                  <a:tcPr marL="101600" marR="101600" marT="76200" marB="76200" anchor="ctr">
                    <a:solidFill>
                      <a:srgbClr val="F5F3EE"/>
                    </a:solidFill>
                  </a:tcPr>
                </a:tc>
                <a:tc>
                  <a:txBody>
                    <a:bodyPr wrap="square"/>
                    <a:lstStyle/>
                    <a:p>
                      <a:pPr>
                        <a:lnSpc>
                          <a:spcPct val="125000"/>
                        </a:lnSpc>
                      </a:pPr>
                      <a:r>
                        <a:rPr sz="1500" b="0">
                          <a:solidFill>
                            <a:srgbClr val="12233B"/>
                          </a:solidFill>
                          <a:latin typeface="Arial"/>
                        </a:rPr>
                        <a:t>Réécrit à chaque nouveau fichier</a:t>
                      </a:r>
                    </a:p>
                  </a:txBody>
                  <a:tcPr marL="101600" marR="101600" marT="76200" marB="76200" anchor="ctr">
                    <a:solidFill>
                      <a:srgbClr val="F5F3EE"/>
                    </a:solidFill>
                  </a:tcPr>
                </a:tc>
                <a:tc>
                  <a:txBody>
                    <a:bodyPr wrap="square"/>
                    <a:lstStyle/>
                    <a:p>
                      <a:pPr>
                        <a:lnSpc>
                          <a:spcPct val="125000"/>
                        </a:lnSpc>
                      </a:pPr>
                      <a:r>
                        <a:rPr sz="1500" b="0">
                          <a:solidFill>
                            <a:srgbClr val="12233B"/>
                          </a:solidFill>
                          <a:latin typeface="Arial"/>
                        </a:rPr>
                        <a:t>Écrit une fois, dernier fichier</a:t>
                      </a:r>
                    </a:p>
                  </a:txBody>
                  <a:tcPr marL="101600" marR="101600" marT="76200" marB="76200" anchor="ctr">
                    <a:solidFill>
                      <a:srgbClr val="F5F3EE"/>
                    </a:solidFill>
                  </a:tcPr>
                </a:tc>
              </a:tr>
              <a:tr h="400050">
                <a:tc>
                  <a:txBody>
                    <a:bodyPr wrap="square"/>
                    <a:lstStyle/>
                    <a:p>
                      <a:pPr>
                        <a:lnSpc>
                          <a:spcPct val="125000"/>
                        </a:lnSpc>
                      </a:pPr>
                      <a:r>
                        <a:rPr sz="1500" b="1">
                          <a:solidFill>
                            <a:srgbClr val="12233B"/>
                          </a:solidFill>
                          <a:latin typeface="Arial"/>
                        </a:rPr>
                        <a:t>Historique</a:t>
                      </a:r>
                    </a:p>
                  </a:txBody>
                  <a:tcPr marL="101600" marR="101600" marT="76200" marB="76200" anchor="ctr">
                    <a:solidFill>
                      <a:srgbClr val="FBFAF6"/>
                    </a:solidFill>
                  </a:tcPr>
                </a:tc>
                <a:tc>
                  <a:txBody>
                    <a:bodyPr wrap="square"/>
                    <a:lstStyle/>
                    <a:p>
                      <a:pPr>
                        <a:lnSpc>
                          <a:spcPct val="125000"/>
                        </a:lnSpc>
                      </a:pPr>
                      <a:r>
                        <a:rPr sz="1500" b="0">
                          <a:solidFill>
                            <a:srgbClr val="12233B"/>
                          </a:solidFill>
                          <a:latin typeface="Arial"/>
                        </a:rPr>
                        <a:t>Complété après chaque appel</a:t>
                      </a:r>
                    </a:p>
                  </a:txBody>
                  <a:tcPr marL="101600" marR="101600" marT="76200" marB="76200" anchor="ctr">
                    <a:solidFill>
                      <a:srgbClr val="FBFAF6"/>
                    </a:solidFill>
                  </a:tcPr>
                </a:tc>
                <a:tc>
                  <a:txBody>
                    <a:bodyPr wrap="square"/>
                    <a:lstStyle/>
                    <a:p>
                      <a:pPr>
                        <a:lnSpc>
                          <a:spcPct val="125000"/>
                        </a:lnSpc>
                      </a:pPr>
                      <a:r>
                        <a:rPr sz="1500" b="0">
                          <a:solidFill>
                            <a:srgbClr val="12233B"/>
                          </a:solidFill>
                          <a:latin typeface="Arial"/>
                        </a:rPr>
                        <a:t>Complété si le SV est écrit</a:t>
                      </a:r>
                    </a:p>
                  </a:txBody>
                  <a:tcPr marL="101600" marR="101600" marT="76200" marB="76200" anchor="ctr">
                    <a:solidFill>
                      <a:srgbClr val="FBFAF6"/>
                    </a:solidFill>
                  </a:tcPr>
                </a:tc>
              </a:tr>
              <a:tr h="400050">
                <a:tc>
                  <a:txBody>
                    <a:bodyPr wrap="square"/>
                    <a:lstStyle/>
                    <a:p>
                      <a:pPr>
                        <a:lnSpc>
                          <a:spcPct val="125000"/>
                        </a:lnSpc>
                      </a:pPr>
                      <a:r>
                        <a:rPr sz="1500" b="1">
                          <a:solidFill>
                            <a:srgbClr val="12233B"/>
                          </a:solidFill>
                          <a:latin typeface="Arial"/>
                        </a:rPr>
                        <a:t>Reprise</a:t>
                      </a:r>
                    </a:p>
                  </a:txBody>
                  <a:tcPr marL="101600" marR="101600" marT="76200" marB="76200" anchor="ctr">
                    <a:solidFill>
                      <a:srgbClr val="F5F3EE"/>
                    </a:solidFill>
                  </a:tcPr>
                </a:tc>
                <a:tc>
                  <a:txBody>
                    <a:bodyPr wrap="square"/>
                    <a:lstStyle/>
                    <a:p>
                      <a:pPr>
                        <a:lnSpc>
                          <a:spcPct val="125000"/>
                        </a:lnSpc>
                      </a:pPr>
                      <a:r>
                        <a:rPr sz="1500" b="0">
                          <a:solidFill>
                            <a:srgbClr val="12233B"/>
                          </a:solidFill>
                          <a:latin typeface="Arial"/>
                        </a:rPr>
                        <a:t>Relance complète</a:t>
                      </a:r>
                    </a:p>
                  </a:txBody>
                  <a:tcPr marL="101600" marR="101600" marT="76200" marB="76200" anchor="ctr">
                    <a:solidFill>
                      <a:srgbClr val="F5F3EE"/>
                    </a:solidFill>
                  </a:tcPr>
                </a:tc>
                <a:tc>
                  <a:txBody>
                    <a:bodyPr wrap="square"/>
                    <a:lstStyle/>
                    <a:p>
                      <a:pPr>
                        <a:lnSpc>
                          <a:spcPct val="125000"/>
                        </a:lnSpc>
                      </a:pPr>
                      <a:r>
                        <a:rPr sz="1500" b="0">
                          <a:solidFill>
                            <a:srgbClr val="12233B"/>
                          </a:solidFill>
                          <a:latin typeface="Arial"/>
                        </a:rPr>
                        <a:t>Interrupteur par étape</a:t>
                      </a:r>
                    </a:p>
                  </a:txBody>
                  <a:tcPr marL="101600" marR="101600" marT="76200" marB="76200" anchor="ctr">
                    <a:solidFill>
                      <a:srgbClr val="F5F3EE"/>
                    </a:solidFill>
                  </a:tcPr>
                </a:tc>
              </a:tr>
            </a:tbl>
          </a:graphicData>
        </a:graphic>
      </p:graphicFrame>
      <p:sp>
        <p:nvSpPr>
          <p:cNvPr id="7" name="TextBox 6"/>
          <p:cNvSpPr txBox="1"/>
          <p:nvPr/>
        </p:nvSpPr>
        <p:spPr>
          <a:xfrm>
            <a:off x="812800" y="4485640"/>
            <a:ext cx="10566400" cy="266700"/>
          </a:xfrm>
          <a:prstGeom prst="rect">
            <a:avLst/>
          </a:prstGeom>
          <a:noFill/>
        </p:spPr>
        <p:txBody>
          <a:bodyPr wrap="square" lIns="0" rIns="0" tIns="0" bIns="0" anchor="t"/>
          <a:lstStyle/>
          <a:p>
            <a:pPr>
              <a:lnSpc>
                <a:spcPct val="140000"/>
              </a:lnSpc>
            </a:pPr>
            <a:r>
              <a:rPr sz="1500" b="0">
                <a:solidFill>
                  <a:srgbClr val="46556A"/>
                </a:solidFill>
                <a:latin typeface="Arial"/>
              </a:rPr>
              <a:t>Même état final que Talend : seul le dernier nouveau fichier reste dans le SV, et tous sont marqués comme lus.</a:t>
            </a:r>
          </a:p>
        </p:txBody>
      </p:sp>
      <p:sp>
        <p:nvSpPr>
          <p:cNvPr id="8" name="TextBox 7"/>
          <p:cNvSpPr txBox="1"/>
          <p:nvPr/>
        </p:nvSpPr>
        <p:spPr>
          <a:xfrm>
            <a:off x="812800" y="6261100"/>
            <a:ext cx="3644503" cy="190500"/>
          </a:xfrm>
          <a:prstGeom prst="rect">
            <a:avLst/>
          </a:prstGeom>
          <a:noFill/>
        </p:spPr>
        <p:txBody>
          <a:bodyPr wrap="square" lIns="0" rIns="0" tIns="0" bIns="0" anchor="t"/>
          <a:lstStyle/>
          <a:p>
            <a:pPr>
              <a:lnSpc>
                <a:spcPct val="125000"/>
              </a:lnSpc>
            </a:pPr>
            <a:r>
              <a:rPr sz="1200" b="0">
                <a:solidFill>
                  <a:srgbClr val="5B6677"/>
                </a:solidFill>
                <a:latin typeface="Arial"/>
              </a:rPr>
              <a:t>BSY_REO · chaînes REO AJUST, MYREO et COVID</a:t>
            </a:r>
          </a:p>
        </p:txBody>
      </p:sp>
      <p:sp>
        <p:nvSpPr>
          <p:cNvPr id="9" name="TextBox 8"/>
          <p:cNvSpPr txBox="1"/>
          <p:nvPr/>
        </p:nvSpPr>
        <p:spPr>
          <a:xfrm>
            <a:off x="11201400" y="6261100"/>
            <a:ext cx="177800" cy="190500"/>
          </a:xfrm>
          <a:prstGeom prst="rect">
            <a:avLst/>
          </a:prstGeom>
          <a:noFill/>
        </p:spPr>
        <p:txBody>
          <a:bodyPr wrap="square" lIns="0" rIns="0" tIns="0" bIns="0" anchor="t"/>
          <a:lstStyle/>
          <a:p>
            <a:pPr>
              <a:lnSpc>
                <a:spcPct val="125000"/>
              </a:lnSpc>
            </a:pPr>
            <a:r>
              <a:rPr sz="1200" b="0">
                <a:solidFill>
                  <a:srgbClr val="5B6677"/>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6858000"/>
          </a:xfrm>
          <a:prstGeom prst="rect">
            <a:avLst/>
          </a:prstGeom>
          <a:solidFill>
            <a:srgbClr val="F5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12800" y="812800"/>
            <a:ext cx="10566400" cy="190500"/>
          </a:xfrm>
          <a:prstGeom prst="rect">
            <a:avLst/>
          </a:prstGeom>
          <a:noFill/>
        </p:spPr>
        <p:txBody>
          <a:bodyPr wrap="square" lIns="0" rIns="0" tIns="0" bIns="0" anchor="t"/>
          <a:lstStyle/>
          <a:p>
            <a:pPr>
              <a:lnSpc>
                <a:spcPct val="125000"/>
              </a:lnSpc>
            </a:pPr>
            <a:r>
              <a:rPr sz="1200" b="1" spc="150">
                <a:solidFill>
                  <a:srgbClr val="A9531C"/>
                </a:solidFill>
                <a:latin typeface="Arial"/>
              </a:rPr>
              <a:t>CHAÎNE MYREO</a:t>
            </a:r>
          </a:p>
        </p:txBody>
      </p:sp>
      <p:sp>
        <p:nvSpPr>
          <p:cNvPr id="5" name="TextBox 4"/>
          <p:cNvSpPr txBox="1"/>
          <p:nvPr/>
        </p:nvSpPr>
        <p:spPr>
          <a:xfrm>
            <a:off x="812800" y="1079500"/>
            <a:ext cx="10566400" cy="447040"/>
          </a:xfrm>
          <a:prstGeom prst="rect">
            <a:avLst/>
          </a:prstGeom>
          <a:noFill/>
        </p:spPr>
        <p:txBody>
          <a:bodyPr wrap="square" lIns="0" rIns="0" tIns="0" bIns="0" anchor="t"/>
          <a:lstStyle/>
          <a:p>
            <a:pPr>
              <a:lnSpc>
                <a:spcPct val="110000"/>
              </a:lnSpc>
            </a:pPr>
            <a:r>
              <a:rPr sz="3200" b="1">
                <a:solidFill>
                  <a:srgbClr val="12233B"/>
                </a:solidFill>
                <a:latin typeface="Arial"/>
              </a:rPr>
              <a:t>MYREO : quatre étapes autour de quatre fichiers</a:t>
            </a:r>
          </a:p>
        </p:txBody>
      </p:sp>
      <p:sp>
        <p:nvSpPr>
          <p:cNvPr id="6" name="Rounded Rectangle 5"/>
          <p:cNvSpPr/>
          <p:nvPr/>
        </p:nvSpPr>
        <p:spPr>
          <a:xfrm>
            <a:off x="812800" y="1831339"/>
            <a:ext cx="2260600" cy="1236980"/>
          </a:xfrm>
          <a:prstGeom prst="roundRect">
            <a:avLst>
              <a:gd name="adj" fmla="val 8213"/>
            </a:avLst>
          </a:prstGeom>
          <a:solidFill>
            <a:srgbClr val="FBFAF6"/>
          </a:solidFill>
          <a:ln w="6350">
            <a:solidFill>
              <a:srgbClr val="E2DE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65200" y="1983739"/>
            <a:ext cx="273050" cy="215900"/>
          </a:xfrm>
          <a:prstGeom prst="roundRect">
            <a:avLst>
              <a:gd name="adj" fmla="val 50000"/>
            </a:avLst>
          </a:prstGeom>
          <a:solidFill>
            <a:srgbClr val="E9A0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4100" y="1996439"/>
            <a:ext cx="95250" cy="190500"/>
          </a:xfrm>
          <a:prstGeom prst="rect">
            <a:avLst/>
          </a:prstGeom>
          <a:noFill/>
        </p:spPr>
        <p:txBody>
          <a:bodyPr wrap="square" lIns="0" rIns="0" tIns="0" bIns="0" anchor="ctr"/>
          <a:lstStyle/>
          <a:p>
            <a:pPr>
              <a:lnSpc>
                <a:spcPct val="125000"/>
              </a:lnSpc>
            </a:pPr>
            <a:r>
              <a:rPr sz="1200" b="1">
                <a:solidFill>
                  <a:srgbClr val="12233B"/>
                </a:solidFill>
                <a:latin typeface="Arial"/>
              </a:rPr>
              <a:t>1</a:t>
            </a:r>
          </a:p>
        </p:txBody>
      </p:sp>
      <p:sp>
        <p:nvSpPr>
          <p:cNvPr id="9" name="TextBox 8"/>
          <p:cNvSpPr txBox="1"/>
          <p:nvPr/>
        </p:nvSpPr>
        <p:spPr>
          <a:xfrm>
            <a:off x="1314450" y="1996439"/>
            <a:ext cx="1435100" cy="190500"/>
          </a:xfrm>
          <a:prstGeom prst="rect">
            <a:avLst/>
          </a:prstGeom>
          <a:noFill/>
        </p:spPr>
        <p:txBody>
          <a:bodyPr wrap="square" lIns="0" rIns="0" tIns="0" bIns="0" anchor="t"/>
          <a:lstStyle/>
          <a:p>
            <a:pPr>
              <a:lnSpc>
                <a:spcPct val="125000"/>
              </a:lnSpc>
            </a:pPr>
            <a:r>
              <a:rPr sz="1200" b="1">
                <a:solidFill>
                  <a:srgbClr val="12233B"/>
                </a:solidFill>
                <a:latin typeface="Courier New"/>
              </a:rPr>
              <a:t>myreo_list_files</a:t>
            </a:r>
          </a:p>
        </p:txBody>
      </p:sp>
      <p:sp>
        <p:nvSpPr>
          <p:cNvPr id="10" name="TextBox 9"/>
          <p:cNvSpPr txBox="1"/>
          <p:nvPr/>
        </p:nvSpPr>
        <p:spPr>
          <a:xfrm>
            <a:off x="965200" y="2275840"/>
            <a:ext cx="1955800" cy="640080"/>
          </a:xfrm>
          <a:prstGeom prst="rect">
            <a:avLst/>
          </a:prstGeom>
          <a:noFill/>
        </p:spPr>
        <p:txBody>
          <a:bodyPr wrap="square" lIns="0" rIns="0" tIns="0" bIns="0" anchor="t"/>
          <a:lstStyle/>
          <a:p>
            <a:pPr>
              <a:lnSpc>
                <a:spcPct val="140000"/>
              </a:lnSpc>
            </a:pPr>
            <a:r>
              <a:rPr sz="1200" b="0">
                <a:solidFill>
                  <a:srgbClr val="46556A"/>
                </a:solidFill>
                <a:latin typeface="Arial"/>
              </a:rPr>
              <a:t>Dossiers du dépôt par nom, puis fichiers *.RECU et *.PRET</a:t>
            </a:r>
          </a:p>
        </p:txBody>
      </p:sp>
      <p:sp>
        <p:nvSpPr>
          <p:cNvPr id="11" name="Right Arrow 10"/>
          <p:cNvSpPr/>
          <p:nvPr/>
        </p:nvSpPr>
        <p:spPr>
          <a:xfrm>
            <a:off x="3175000" y="2373629"/>
            <a:ext cx="304800" cy="152400"/>
          </a:xfrm>
          <a:prstGeom prst="rightArrow">
            <a:avLst/>
          </a:prstGeom>
          <a:solidFill>
            <a:srgbClr val="9AA6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581400" y="1831339"/>
            <a:ext cx="2260600" cy="1236980"/>
          </a:xfrm>
          <a:prstGeom prst="roundRect">
            <a:avLst>
              <a:gd name="adj" fmla="val 8213"/>
            </a:avLst>
          </a:prstGeom>
          <a:solidFill>
            <a:srgbClr val="FBFAF6"/>
          </a:solidFill>
          <a:ln w="6350">
            <a:solidFill>
              <a:srgbClr val="E2DE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733800" y="1983739"/>
            <a:ext cx="273050" cy="215900"/>
          </a:xfrm>
          <a:prstGeom prst="roundRect">
            <a:avLst>
              <a:gd name="adj" fmla="val 50000"/>
            </a:avLst>
          </a:prstGeom>
          <a:solidFill>
            <a:srgbClr val="E9A0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822700" y="1996439"/>
            <a:ext cx="95250" cy="190500"/>
          </a:xfrm>
          <a:prstGeom prst="rect">
            <a:avLst/>
          </a:prstGeom>
          <a:noFill/>
        </p:spPr>
        <p:txBody>
          <a:bodyPr wrap="square" lIns="0" rIns="0" tIns="0" bIns="0" anchor="ctr"/>
          <a:lstStyle/>
          <a:p>
            <a:pPr>
              <a:lnSpc>
                <a:spcPct val="125000"/>
              </a:lnSpc>
            </a:pPr>
            <a:r>
              <a:rPr sz="1200" b="1">
                <a:solidFill>
                  <a:srgbClr val="12233B"/>
                </a:solidFill>
                <a:latin typeface="Arial"/>
              </a:rPr>
              <a:t>2</a:t>
            </a:r>
          </a:p>
        </p:txBody>
      </p:sp>
      <p:sp>
        <p:nvSpPr>
          <p:cNvPr id="15" name="TextBox 14"/>
          <p:cNvSpPr txBox="1"/>
          <p:nvPr/>
        </p:nvSpPr>
        <p:spPr>
          <a:xfrm>
            <a:off x="4083050" y="1996439"/>
            <a:ext cx="990600" cy="190500"/>
          </a:xfrm>
          <a:prstGeom prst="rect">
            <a:avLst/>
          </a:prstGeom>
          <a:noFill/>
        </p:spPr>
        <p:txBody>
          <a:bodyPr wrap="square" lIns="0" rIns="0" tIns="0" bIns="0" anchor="t"/>
          <a:lstStyle/>
          <a:p>
            <a:pPr>
              <a:lnSpc>
                <a:spcPct val="125000"/>
              </a:lnSpc>
            </a:pPr>
            <a:r>
              <a:rPr sz="1200" b="1">
                <a:solidFill>
                  <a:srgbClr val="12233B"/>
                </a:solidFill>
                <a:latin typeface="Courier New"/>
              </a:rPr>
              <a:t>myreo_delta</a:t>
            </a:r>
          </a:p>
        </p:txBody>
      </p:sp>
      <p:sp>
        <p:nvSpPr>
          <p:cNvPr id="16" name="TextBox 15"/>
          <p:cNvSpPr txBox="1"/>
          <p:nvPr/>
        </p:nvSpPr>
        <p:spPr>
          <a:xfrm>
            <a:off x="3733800" y="2275840"/>
            <a:ext cx="1955800" cy="640080"/>
          </a:xfrm>
          <a:prstGeom prst="rect">
            <a:avLst/>
          </a:prstGeom>
          <a:noFill/>
        </p:spPr>
        <p:txBody>
          <a:bodyPr wrap="square" lIns="0" rIns="0" tIns="0" bIns="0" anchor="t"/>
          <a:lstStyle/>
          <a:p>
            <a:pPr>
              <a:lnSpc>
                <a:spcPct val="140000"/>
              </a:lnSpc>
            </a:pPr>
            <a:r>
              <a:rPr sz="1200" b="0">
                <a:solidFill>
                  <a:srgbClr val="46556A"/>
                </a:solidFill>
                <a:latin typeface="Arial"/>
              </a:rPr>
              <a:t>Fichiers absents de l’historique des fichiers lus, toujours exécutée</a:t>
            </a:r>
          </a:p>
        </p:txBody>
      </p:sp>
      <p:sp>
        <p:nvSpPr>
          <p:cNvPr id="17" name="Right Arrow 16"/>
          <p:cNvSpPr/>
          <p:nvPr/>
        </p:nvSpPr>
        <p:spPr>
          <a:xfrm>
            <a:off x="5943600" y="2373629"/>
            <a:ext cx="304800" cy="152400"/>
          </a:xfrm>
          <a:prstGeom prst="rightArrow">
            <a:avLst/>
          </a:prstGeom>
          <a:solidFill>
            <a:srgbClr val="9AA6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350000" y="1831339"/>
            <a:ext cx="2260600" cy="1236980"/>
          </a:xfrm>
          <a:prstGeom prst="roundRect">
            <a:avLst>
              <a:gd name="adj" fmla="val 8213"/>
            </a:avLst>
          </a:prstGeom>
          <a:solidFill>
            <a:srgbClr val="FBFAF6"/>
          </a:solidFill>
          <a:ln w="6350">
            <a:solidFill>
              <a:srgbClr val="E2DE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502400" y="1983739"/>
            <a:ext cx="273050" cy="215900"/>
          </a:xfrm>
          <a:prstGeom prst="roundRect">
            <a:avLst>
              <a:gd name="adj" fmla="val 50000"/>
            </a:avLst>
          </a:prstGeom>
          <a:solidFill>
            <a:srgbClr val="E9A0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91300" y="1996439"/>
            <a:ext cx="95250" cy="190500"/>
          </a:xfrm>
          <a:prstGeom prst="rect">
            <a:avLst/>
          </a:prstGeom>
          <a:noFill/>
        </p:spPr>
        <p:txBody>
          <a:bodyPr wrap="square" lIns="0" rIns="0" tIns="0" bIns="0" anchor="ctr"/>
          <a:lstStyle/>
          <a:p>
            <a:pPr>
              <a:lnSpc>
                <a:spcPct val="125000"/>
              </a:lnSpc>
            </a:pPr>
            <a:r>
              <a:rPr sz="1200" b="1">
                <a:solidFill>
                  <a:srgbClr val="12233B"/>
                </a:solidFill>
                <a:latin typeface="Arial"/>
              </a:rPr>
              <a:t>3</a:t>
            </a:r>
          </a:p>
        </p:txBody>
      </p:sp>
      <p:sp>
        <p:nvSpPr>
          <p:cNvPr id="21" name="TextBox 20"/>
          <p:cNvSpPr txBox="1"/>
          <p:nvPr/>
        </p:nvSpPr>
        <p:spPr>
          <a:xfrm>
            <a:off x="6851650" y="1996439"/>
            <a:ext cx="1257300" cy="190500"/>
          </a:xfrm>
          <a:prstGeom prst="rect">
            <a:avLst/>
          </a:prstGeom>
          <a:noFill/>
        </p:spPr>
        <p:txBody>
          <a:bodyPr wrap="square" lIns="0" rIns="0" tIns="0" bIns="0" anchor="t"/>
          <a:lstStyle/>
          <a:p>
            <a:pPr>
              <a:lnSpc>
                <a:spcPct val="125000"/>
              </a:lnSpc>
            </a:pPr>
            <a:r>
              <a:rPr sz="1200" b="1">
                <a:solidFill>
                  <a:srgbClr val="12233B"/>
                </a:solidFill>
                <a:latin typeface="Courier New"/>
              </a:rPr>
              <a:t>myreo_rd_to_sv</a:t>
            </a:r>
          </a:p>
        </p:txBody>
      </p:sp>
      <p:sp>
        <p:nvSpPr>
          <p:cNvPr id="22" name="TextBox 21"/>
          <p:cNvSpPr txBox="1"/>
          <p:nvPr/>
        </p:nvSpPr>
        <p:spPr>
          <a:xfrm>
            <a:off x="6502400" y="2275840"/>
            <a:ext cx="1955800" cy="640080"/>
          </a:xfrm>
          <a:prstGeom prst="rect">
            <a:avLst/>
          </a:prstGeom>
          <a:noFill/>
        </p:spPr>
        <p:txBody>
          <a:bodyPr wrap="square" lIns="0" rIns="0" tIns="0" bIns="0" anchor="t"/>
          <a:lstStyle/>
          <a:p>
            <a:pPr>
              <a:lnSpc>
                <a:spcPct val="140000"/>
              </a:lnSpc>
            </a:pPr>
            <a:r>
              <a:rPr sz="1200" b="0">
                <a:solidFill>
                  <a:srgbClr val="46556A"/>
                </a:solidFill>
                <a:latin typeface="Arial"/>
              </a:rPr>
              <a:t>Dernier nouveau fichier, une ligne par type actif, vers le SV</a:t>
            </a:r>
          </a:p>
        </p:txBody>
      </p:sp>
      <p:sp>
        <p:nvSpPr>
          <p:cNvPr id="23" name="Right Arrow 22"/>
          <p:cNvSpPr/>
          <p:nvPr/>
        </p:nvSpPr>
        <p:spPr>
          <a:xfrm>
            <a:off x="8712200" y="2373629"/>
            <a:ext cx="304800" cy="152400"/>
          </a:xfrm>
          <a:prstGeom prst="rightArrow">
            <a:avLst/>
          </a:prstGeom>
          <a:solidFill>
            <a:srgbClr val="9AA6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118600" y="1831339"/>
            <a:ext cx="2260600" cy="1236980"/>
          </a:xfrm>
          <a:prstGeom prst="roundRect">
            <a:avLst>
              <a:gd name="adj" fmla="val 8213"/>
            </a:avLst>
          </a:prstGeom>
          <a:solidFill>
            <a:srgbClr val="FBFAF6"/>
          </a:solidFill>
          <a:ln w="6350">
            <a:solidFill>
              <a:srgbClr val="E2DE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271000" y="1983739"/>
            <a:ext cx="273050" cy="215900"/>
          </a:xfrm>
          <a:prstGeom prst="roundRect">
            <a:avLst>
              <a:gd name="adj" fmla="val 50000"/>
            </a:avLst>
          </a:prstGeom>
          <a:solidFill>
            <a:srgbClr val="E9A0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359900" y="1996439"/>
            <a:ext cx="95250" cy="190500"/>
          </a:xfrm>
          <a:prstGeom prst="rect">
            <a:avLst/>
          </a:prstGeom>
          <a:noFill/>
        </p:spPr>
        <p:txBody>
          <a:bodyPr wrap="square" lIns="0" rIns="0" tIns="0" bIns="0" anchor="ctr"/>
          <a:lstStyle/>
          <a:p>
            <a:pPr>
              <a:lnSpc>
                <a:spcPct val="125000"/>
              </a:lnSpc>
            </a:pPr>
            <a:r>
              <a:rPr sz="1200" b="1">
                <a:solidFill>
                  <a:srgbClr val="12233B"/>
                </a:solidFill>
                <a:latin typeface="Arial"/>
              </a:rPr>
              <a:t>4</a:t>
            </a:r>
          </a:p>
        </p:txBody>
      </p:sp>
      <p:sp>
        <p:nvSpPr>
          <p:cNvPr id="27" name="TextBox 26"/>
          <p:cNvSpPr txBox="1"/>
          <p:nvPr/>
        </p:nvSpPr>
        <p:spPr>
          <a:xfrm>
            <a:off x="9620250" y="1996439"/>
            <a:ext cx="1435100" cy="190500"/>
          </a:xfrm>
          <a:prstGeom prst="rect">
            <a:avLst/>
          </a:prstGeom>
          <a:noFill/>
        </p:spPr>
        <p:txBody>
          <a:bodyPr wrap="square" lIns="0" rIns="0" tIns="0" bIns="0" anchor="t"/>
          <a:lstStyle/>
          <a:p>
            <a:pPr>
              <a:lnSpc>
                <a:spcPct val="125000"/>
              </a:lnSpc>
            </a:pPr>
            <a:r>
              <a:rPr sz="1200" b="1">
                <a:solidFill>
                  <a:srgbClr val="12233B"/>
                </a:solidFill>
                <a:latin typeface="Courier New"/>
              </a:rPr>
              <a:t>myreo_ref_update</a:t>
            </a:r>
          </a:p>
        </p:txBody>
      </p:sp>
      <p:sp>
        <p:nvSpPr>
          <p:cNvPr id="28" name="TextBox 27"/>
          <p:cNvSpPr txBox="1"/>
          <p:nvPr/>
        </p:nvSpPr>
        <p:spPr>
          <a:xfrm>
            <a:off x="9271000" y="2275840"/>
            <a:ext cx="1955800" cy="426719"/>
          </a:xfrm>
          <a:prstGeom prst="rect">
            <a:avLst/>
          </a:prstGeom>
          <a:noFill/>
        </p:spPr>
        <p:txBody>
          <a:bodyPr wrap="square" lIns="0" rIns="0" tIns="0" bIns="0" anchor="t"/>
          <a:lstStyle/>
          <a:p>
            <a:pPr>
              <a:lnSpc>
                <a:spcPct val="140000"/>
              </a:lnSpc>
            </a:pPr>
            <a:r>
              <a:rPr sz="1200" b="0">
                <a:solidFill>
                  <a:srgbClr val="46556A"/>
                </a:solidFill>
                <a:latin typeface="Arial"/>
              </a:rPr>
              <a:t>Nouveaux fichiers ajoutés à l’historique si le SV est écrit</a:t>
            </a:r>
          </a:p>
        </p:txBody>
      </p:sp>
      <p:sp>
        <p:nvSpPr>
          <p:cNvPr id="29" name="Rounded Rectangle 28"/>
          <p:cNvSpPr/>
          <p:nvPr/>
        </p:nvSpPr>
        <p:spPr>
          <a:xfrm>
            <a:off x="812800" y="3322320"/>
            <a:ext cx="10566400" cy="1574800"/>
          </a:xfrm>
          <a:prstGeom prst="roundRect">
            <a:avLst>
              <a:gd name="adj" fmla="val 6451"/>
            </a:avLst>
          </a:prstGeom>
          <a:solidFill>
            <a:srgbClr val="FBFAF6"/>
          </a:solidFill>
          <a:ln w="6350">
            <a:solidFill>
              <a:srgbClr val="E2DE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6000" y="3500120"/>
            <a:ext cx="2794000" cy="190500"/>
          </a:xfrm>
          <a:prstGeom prst="rect">
            <a:avLst/>
          </a:prstGeom>
          <a:noFill/>
        </p:spPr>
        <p:txBody>
          <a:bodyPr wrap="square" lIns="0" rIns="0" tIns="0" bIns="0" anchor="t"/>
          <a:lstStyle/>
          <a:p>
            <a:pPr>
              <a:lnSpc>
                <a:spcPct val="125000"/>
              </a:lnSpc>
            </a:pPr>
            <a:r>
              <a:rPr sz="1200" b="1">
                <a:solidFill>
                  <a:srgbClr val="12233B"/>
                </a:solidFill>
                <a:latin typeface="Arial"/>
              </a:rPr>
              <a:t>Dépôt MyREO</a:t>
            </a:r>
          </a:p>
        </p:txBody>
      </p:sp>
      <p:sp>
        <p:nvSpPr>
          <p:cNvPr id="31" name="TextBox 30"/>
          <p:cNvSpPr txBox="1"/>
          <p:nvPr/>
        </p:nvSpPr>
        <p:spPr>
          <a:xfrm>
            <a:off x="4013200" y="3500120"/>
            <a:ext cx="7162800" cy="190500"/>
          </a:xfrm>
          <a:prstGeom prst="rect">
            <a:avLst/>
          </a:prstGeom>
          <a:noFill/>
        </p:spPr>
        <p:txBody>
          <a:bodyPr wrap="square" lIns="0" rIns="0" tIns="0" bIns="0" anchor="t"/>
          <a:lstStyle/>
          <a:p>
            <a:pPr>
              <a:lnSpc>
                <a:spcPct val="125000"/>
              </a:lnSpc>
            </a:pPr>
            <a:r>
              <a:rPr sz="1200" b="0">
                <a:solidFill>
                  <a:srgbClr val="46556A"/>
                </a:solidFill>
                <a:latin typeface="Courier New"/>
              </a:rPr>
              <a:t>raw/ajust/AJU_RES_CLE/&lt;dossier&gt;/*.RECU et *.PRET</a:t>
            </a:r>
          </a:p>
        </p:txBody>
      </p:sp>
      <p:sp>
        <p:nvSpPr>
          <p:cNvPr id="32" name="TextBox 31"/>
          <p:cNvSpPr txBox="1"/>
          <p:nvPr/>
        </p:nvSpPr>
        <p:spPr>
          <a:xfrm>
            <a:off x="1016000" y="3843020"/>
            <a:ext cx="2794000" cy="190500"/>
          </a:xfrm>
          <a:prstGeom prst="rect">
            <a:avLst/>
          </a:prstGeom>
          <a:noFill/>
        </p:spPr>
        <p:txBody>
          <a:bodyPr wrap="square" lIns="0" rIns="0" tIns="0" bIns="0" anchor="t"/>
          <a:lstStyle/>
          <a:p>
            <a:pPr>
              <a:lnSpc>
                <a:spcPct val="125000"/>
              </a:lnSpc>
            </a:pPr>
            <a:r>
              <a:rPr sz="1200" b="1">
                <a:solidFill>
                  <a:srgbClr val="12233B"/>
                </a:solidFill>
                <a:latin typeface="Arial"/>
              </a:rPr>
              <a:t>Liste des candidats du run</a:t>
            </a:r>
          </a:p>
        </p:txBody>
      </p:sp>
      <p:sp>
        <p:nvSpPr>
          <p:cNvPr id="33" name="TextBox 32"/>
          <p:cNvSpPr txBox="1"/>
          <p:nvPr/>
        </p:nvSpPr>
        <p:spPr>
          <a:xfrm>
            <a:off x="4013200" y="3843020"/>
            <a:ext cx="7162800" cy="190500"/>
          </a:xfrm>
          <a:prstGeom prst="rect">
            <a:avLst/>
          </a:prstGeom>
          <a:noFill/>
        </p:spPr>
        <p:txBody>
          <a:bodyPr wrap="square" lIns="0" rIns="0" tIns="0" bIns="0" anchor="t"/>
          <a:lstStyle/>
          <a:p>
            <a:pPr>
              <a:lnSpc>
                <a:spcPct val="125000"/>
              </a:lnSpc>
            </a:pPr>
            <a:r>
              <a:rPr sz="1200" b="0">
                <a:solidFill>
                  <a:srgbClr val="46556A"/>
                </a:solidFill>
                <a:latin typeface="Courier New"/>
              </a:rPr>
              <a:t>wp_reo/params/my_reo/myreo_path_new_files.csv</a:t>
            </a:r>
          </a:p>
        </p:txBody>
      </p:sp>
      <p:sp>
        <p:nvSpPr>
          <p:cNvPr id="34" name="TextBox 33"/>
          <p:cNvSpPr txBox="1"/>
          <p:nvPr/>
        </p:nvSpPr>
        <p:spPr>
          <a:xfrm>
            <a:off x="1016000" y="4185920"/>
            <a:ext cx="2794000" cy="190500"/>
          </a:xfrm>
          <a:prstGeom prst="rect">
            <a:avLst/>
          </a:prstGeom>
          <a:noFill/>
        </p:spPr>
        <p:txBody>
          <a:bodyPr wrap="square" lIns="0" rIns="0" tIns="0" bIns="0" anchor="t"/>
          <a:lstStyle/>
          <a:p>
            <a:pPr>
              <a:lnSpc>
                <a:spcPct val="125000"/>
              </a:lnSpc>
            </a:pPr>
            <a:r>
              <a:rPr sz="1200" b="1">
                <a:solidFill>
                  <a:srgbClr val="12233B"/>
                </a:solidFill>
                <a:latin typeface="Arial"/>
              </a:rPr>
              <a:t>Historique des fichiers lus</a:t>
            </a:r>
          </a:p>
        </p:txBody>
      </p:sp>
      <p:sp>
        <p:nvSpPr>
          <p:cNvPr id="35" name="TextBox 34"/>
          <p:cNvSpPr txBox="1"/>
          <p:nvPr/>
        </p:nvSpPr>
        <p:spPr>
          <a:xfrm>
            <a:off x="4013200" y="4185920"/>
            <a:ext cx="7162800" cy="190500"/>
          </a:xfrm>
          <a:prstGeom prst="rect">
            <a:avLst/>
          </a:prstGeom>
          <a:noFill/>
        </p:spPr>
        <p:txBody>
          <a:bodyPr wrap="square" lIns="0" rIns="0" tIns="0" bIns="0" anchor="t"/>
          <a:lstStyle/>
          <a:p>
            <a:pPr>
              <a:lnSpc>
                <a:spcPct val="125000"/>
              </a:lnSpc>
            </a:pPr>
            <a:r>
              <a:rPr sz="1200" b="0">
                <a:solidFill>
                  <a:srgbClr val="46556A"/>
                </a:solidFill>
                <a:latin typeface="Courier New"/>
              </a:rPr>
              <a:t>wp_reo/params/my_reo/myreo_path_ref_files.csv</a:t>
            </a:r>
          </a:p>
        </p:txBody>
      </p:sp>
      <p:sp>
        <p:nvSpPr>
          <p:cNvPr id="36" name="TextBox 35"/>
          <p:cNvSpPr txBox="1"/>
          <p:nvPr/>
        </p:nvSpPr>
        <p:spPr>
          <a:xfrm>
            <a:off x="1016000" y="4528820"/>
            <a:ext cx="2794000" cy="190500"/>
          </a:xfrm>
          <a:prstGeom prst="rect">
            <a:avLst/>
          </a:prstGeom>
          <a:noFill/>
        </p:spPr>
        <p:txBody>
          <a:bodyPr wrap="square" lIns="0" rIns="0" tIns="0" bIns="0" anchor="t"/>
          <a:lstStyle/>
          <a:p>
            <a:pPr>
              <a:lnSpc>
                <a:spcPct val="125000"/>
              </a:lnSpc>
            </a:pPr>
            <a:r>
              <a:rPr sz="1200" b="1">
                <a:solidFill>
                  <a:srgbClr val="12233B"/>
                </a:solidFill>
                <a:latin typeface="Arial"/>
              </a:rPr>
              <a:t>Fichier SV produit</a:t>
            </a:r>
          </a:p>
        </p:txBody>
      </p:sp>
      <p:sp>
        <p:nvSpPr>
          <p:cNvPr id="37" name="TextBox 36"/>
          <p:cNvSpPr txBox="1"/>
          <p:nvPr/>
        </p:nvSpPr>
        <p:spPr>
          <a:xfrm>
            <a:off x="4013200" y="4528820"/>
            <a:ext cx="7162800" cy="190500"/>
          </a:xfrm>
          <a:prstGeom prst="rect">
            <a:avLst/>
          </a:prstGeom>
          <a:noFill/>
        </p:spPr>
        <p:txBody>
          <a:bodyPr wrap="square" lIns="0" rIns="0" tIns="0" bIns="0" anchor="t"/>
          <a:lstStyle/>
          <a:p>
            <a:pPr>
              <a:lnSpc>
                <a:spcPct val="125000"/>
              </a:lnSpc>
            </a:pPr>
            <a:r>
              <a:rPr sz="1200" b="0">
                <a:solidFill>
                  <a:srgbClr val="46556A"/>
                </a:solidFill>
                <a:latin typeface="Courier New"/>
              </a:rPr>
              <a:t>sv_reo/my_reo/Extract_Ajus_Outil_REO_pour_BSY_REO.csv</a:t>
            </a:r>
          </a:p>
        </p:txBody>
      </p:sp>
      <p:sp>
        <p:nvSpPr>
          <p:cNvPr id="38" name="TextBox 37"/>
          <p:cNvSpPr txBox="1"/>
          <p:nvPr/>
        </p:nvSpPr>
        <p:spPr>
          <a:xfrm>
            <a:off x="812800" y="6261100"/>
            <a:ext cx="3644503" cy="190500"/>
          </a:xfrm>
          <a:prstGeom prst="rect">
            <a:avLst/>
          </a:prstGeom>
          <a:noFill/>
        </p:spPr>
        <p:txBody>
          <a:bodyPr wrap="square" lIns="0" rIns="0" tIns="0" bIns="0" anchor="t"/>
          <a:lstStyle/>
          <a:p>
            <a:pPr>
              <a:lnSpc>
                <a:spcPct val="125000"/>
              </a:lnSpc>
            </a:pPr>
            <a:r>
              <a:rPr sz="1200" b="0">
                <a:solidFill>
                  <a:srgbClr val="5B6677"/>
                </a:solidFill>
                <a:latin typeface="Arial"/>
              </a:rPr>
              <a:t>BSY_REO · chaînes REO AJUST, MYREO et COVID</a:t>
            </a:r>
          </a:p>
        </p:txBody>
      </p:sp>
      <p:sp>
        <p:nvSpPr>
          <p:cNvPr id="39" name="TextBox 38"/>
          <p:cNvSpPr txBox="1"/>
          <p:nvPr/>
        </p:nvSpPr>
        <p:spPr>
          <a:xfrm>
            <a:off x="11201598" y="6261100"/>
            <a:ext cx="177601" cy="190500"/>
          </a:xfrm>
          <a:prstGeom prst="rect">
            <a:avLst/>
          </a:prstGeom>
          <a:noFill/>
        </p:spPr>
        <p:txBody>
          <a:bodyPr wrap="square" lIns="0" rIns="0" tIns="0" bIns="0" anchor="t"/>
          <a:lstStyle/>
          <a:p>
            <a:pPr>
              <a:lnSpc>
                <a:spcPct val="125000"/>
              </a:lnSpc>
            </a:pPr>
            <a:r>
              <a:rPr sz="1200" b="0">
                <a:solidFill>
                  <a:srgbClr val="5B6677"/>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6858000"/>
          </a:xfrm>
          <a:prstGeom prst="rect">
            <a:avLst/>
          </a:prstGeom>
          <a:solidFill>
            <a:srgbClr val="F5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12800" y="812800"/>
            <a:ext cx="10566400" cy="190500"/>
          </a:xfrm>
          <a:prstGeom prst="rect">
            <a:avLst/>
          </a:prstGeom>
          <a:noFill/>
        </p:spPr>
        <p:txBody>
          <a:bodyPr wrap="square" lIns="0" rIns="0" tIns="0" bIns="0" anchor="t"/>
          <a:lstStyle/>
          <a:p>
            <a:pPr>
              <a:lnSpc>
                <a:spcPct val="125000"/>
              </a:lnSpc>
            </a:pPr>
            <a:r>
              <a:rPr sz="1200" b="1" spc="150">
                <a:solidFill>
                  <a:srgbClr val="A9531C"/>
                </a:solidFill>
                <a:latin typeface="Arial"/>
              </a:rPr>
              <a:t>CHAÎNE MYREO</a:t>
            </a:r>
          </a:p>
        </p:txBody>
      </p:sp>
      <p:sp>
        <p:nvSpPr>
          <p:cNvPr id="5" name="TextBox 4"/>
          <p:cNvSpPr txBox="1"/>
          <p:nvPr/>
        </p:nvSpPr>
        <p:spPr>
          <a:xfrm>
            <a:off x="812800" y="1079500"/>
            <a:ext cx="10566400" cy="447040"/>
          </a:xfrm>
          <a:prstGeom prst="rect">
            <a:avLst/>
          </a:prstGeom>
          <a:noFill/>
        </p:spPr>
        <p:txBody>
          <a:bodyPr wrap="square" lIns="0" rIns="0" tIns="0" bIns="0" anchor="t"/>
          <a:lstStyle/>
          <a:p>
            <a:pPr>
              <a:lnSpc>
                <a:spcPct val="110000"/>
              </a:lnSpc>
            </a:pPr>
            <a:r>
              <a:rPr sz="3200" b="1">
                <a:solidFill>
                  <a:srgbClr val="12233B"/>
                </a:solidFill>
                <a:latin typeface="Arial"/>
              </a:rPr>
              <a:t>MYREO : la règle de transformation</a:t>
            </a:r>
          </a:p>
        </p:txBody>
      </p:sp>
      <p:sp>
        <p:nvSpPr>
          <p:cNvPr id="6" name="Rounded Rectangle 5"/>
          <p:cNvSpPr/>
          <p:nvPr/>
        </p:nvSpPr>
        <p:spPr>
          <a:xfrm>
            <a:off x="812800" y="1831339"/>
            <a:ext cx="10566400" cy="1765300"/>
          </a:xfrm>
          <a:prstGeom prst="roundRect">
            <a:avLst>
              <a:gd name="adj" fmla="val 5755"/>
            </a:avLst>
          </a:prstGeom>
          <a:solidFill>
            <a:srgbClr val="12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66800" y="2034539"/>
            <a:ext cx="10058400" cy="190500"/>
          </a:xfrm>
          <a:prstGeom prst="rect">
            <a:avLst/>
          </a:prstGeom>
          <a:noFill/>
        </p:spPr>
        <p:txBody>
          <a:bodyPr wrap="square" lIns="0" rIns="0" tIns="0" bIns="0" anchor="t"/>
          <a:lstStyle/>
          <a:p>
            <a:pPr>
              <a:lnSpc>
                <a:spcPct val="125000"/>
              </a:lnSpc>
            </a:pPr>
            <a:r>
              <a:rPr sz="1200" b="1" spc="100">
                <a:solidFill>
                  <a:srgbClr val="E9A06A"/>
                </a:solidFill>
                <a:latin typeface="Arial"/>
              </a:rPr>
              <a:t>LIGNE DE L’EXTRACTION MYREO</a:t>
            </a:r>
          </a:p>
        </p:txBody>
      </p:sp>
      <p:sp>
        <p:nvSpPr>
          <p:cNvPr id="8" name="TextBox 7"/>
          <p:cNvSpPr txBox="1"/>
          <p:nvPr/>
        </p:nvSpPr>
        <p:spPr>
          <a:xfrm>
            <a:off x="1066800" y="2326640"/>
            <a:ext cx="10058400" cy="190500"/>
          </a:xfrm>
          <a:prstGeom prst="rect">
            <a:avLst/>
          </a:prstGeom>
          <a:noFill/>
        </p:spPr>
        <p:txBody>
          <a:bodyPr wrap="square" lIns="0" rIns="0" tIns="0" bIns="0" anchor="t"/>
          <a:lstStyle/>
          <a:p>
            <a:pPr>
              <a:lnSpc>
                <a:spcPct val="125000"/>
              </a:lnSpc>
            </a:pPr>
            <a:r>
              <a:rPr sz="1200" b="0">
                <a:solidFill>
                  <a:srgbClr val="F5F3EE"/>
                </a:solidFill>
                <a:latin typeface="Courier New"/>
              </a:rPr>
              <a:t>"2026";"04";"E1";"EUROHIST";"IND";"RE";"FY";"CA1";"SRC";"1234.5"</a:t>
            </a:r>
          </a:p>
        </p:txBody>
      </p:sp>
      <p:sp>
        <p:nvSpPr>
          <p:cNvPr id="9" name="TextBox 8"/>
          <p:cNvSpPr txBox="1"/>
          <p:nvPr/>
        </p:nvSpPr>
        <p:spPr>
          <a:xfrm>
            <a:off x="1066800" y="2618740"/>
            <a:ext cx="10058400" cy="190500"/>
          </a:xfrm>
          <a:prstGeom prst="rect">
            <a:avLst/>
          </a:prstGeom>
          <a:noFill/>
        </p:spPr>
        <p:txBody>
          <a:bodyPr wrap="square" lIns="0" rIns="0" tIns="0" bIns="0" anchor="t"/>
          <a:lstStyle/>
          <a:p>
            <a:pPr>
              <a:lnSpc>
                <a:spcPct val="125000"/>
              </a:lnSpc>
            </a:pPr>
            <a:r>
              <a:rPr sz="1200" b="1" spc="100">
                <a:solidFill>
                  <a:srgbClr val="E9A06A"/>
                </a:solidFill>
                <a:latin typeface="Arial"/>
              </a:rPr>
              <a:t>LIGNES DU FICHIER SV, AVEC DEUX TYPES ACTIFS</a:t>
            </a:r>
          </a:p>
        </p:txBody>
      </p:sp>
      <p:sp>
        <p:nvSpPr>
          <p:cNvPr id="10" name="TextBox 9"/>
          <p:cNvSpPr txBox="1"/>
          <p:nvPr/>
        </p:nvSpPr>
        <p:spPr>
          <a:xfrm>
            <a:off x="1066800" y="2910840"/>
            <a:ext cx="10058400" cy="190500"/>
          </a:xfrm>
          <a:prstGeom prst="rect">
            <a:avLst/>
          </a:prstGeom>
          <a:noFill/>
        </p:spPr>
        <p:txBody>
          <a:bodyPr wrap="square" lIns="0" rIns="0" tIns="0" bIns="0" anchor="t"/>
          <a:lstStyle/>
          <a:p>
            <a:pPr>
              <a:lnSpc>
                <a:spcPct val="125000"/>
              </a:lnSpc>
            </a:pPr>
            <a:r>
              <a:rPr sz="1200" b="0">
                <a:solidFill>
                  <a:srgbClr val="F5F3EE"/>
                </a:solidFill>
                <a:latin typeface="Courier New"/>
              </a:rPr>
              <a:t>RE;202604;FY;EUROHIST;TYPE_ACTIF_1;MYREO_TOOL;E1;CA1;IND;1234.5</a:t>
            </a:r>
          </a:p>
        </p:txBody>
      </p:sp>
      <p:sp>
        <p:nvSpPr>
          <p:cNvPr id="11" name="TextBox 10"/>
          <p:cNvSpPr txBox="1"/>
          <p:nvPr/>
        </p:nvSpPr>
        <p:spPr>
          <a:xfrm>
            <a:off x="1066800" y="3202940"/>
            <a:ext cx="10058400" cy="190500"/>
          </a:xfrm>
          <a:prstGeom prst="rect">
            <a:avLst/>
          </a:prstGeom>
          <a:noFill/>
        </p:spPr>
        <p:txBody>
          <a:bodyPr wrap="square" lIns="0" rIns="0" tIns="0" bIns="0" anchor="t"/>
          <a:lstStyle/>
          <a:p>
            <a:pPr>
              <a:lnSpc>
                <a:spcPct val="125000"/>
              </a:lnSpc>
            </a:pPr>
            <a:r>
              <a:rPr sz="1200" b="0">
                <a:solidFill>
                  <a:srgbClr val="F5F3EE"/>
                </a:solidFill>
                <a:latin typeface="Courier New"/>
              </a:rPr>
              <a:t>RE;202604;FY;EUROHIST;TYPE_ACTIF_2;MYREO_TOOL;E1;CA1;IND;1234.5</a:t>
            </a:r>
          </a:p>
        </p:txBody>
      </p:sp>
      <p:sp>
        <p:nvSpPr>
          <p:cNvPr id="12" name="Rounded Rectangle 11"/>
          <p:cNvSpPr/>
          <p:nvPr/>
        </p:nvSpPr>
        <p:spPr>
          <a:xfrm>
            <a:off x="812800" y="3799840"/>
            <a:ext cx="2527300" cy="1249680"/>
          </a:xfrm>
          <a:prstGeom prst="roundRect">
            <a:avLst>
              <a:gd name="adj" fmla="val 8130"/>
            </a:avLst>
          </a:prstGeom>
          <a:solidFill>
            <a:srgbClr val="FBFAF6"/>
          </a:solidFill>
          <a:ln w="6350">
            <a:solidFill>
              <a:srgbClr val="E2DE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5200" y="3952240"/>
            <a:ext cx="2222500" cy="228600"/>
          </a:xfrm>
          <a:prstGeom prst="rect">
            <a:avLst/>
          </a:prstGeom>
          <a:noFill/>
        </p:spPr>
        <p:txBody>
          <a:bodyPr wrap="square" lIns="0" rIns="0" tIns="0" bIns="0" anchor="t"/>
          <a:lstStyle/>
          <a:p>
            <a:pPr>
              <a:lnSpc>
                <a:spcPct val="120000"/>
              </a:lnSpc>
            </a:pPr>
            <a:r>
              <a:rPr sz="1500" b="1">
                <a:solidFill>
                  <a:srgbClr val="12233B"/>
                </a:solidFill>
                <a:latin typeface="Arial"/>
              </a:rPr>
              <a:t>Guillemets retirés</a:t>
            </a:r>
          </a:p>
        </p:txBody>
      </p:sp>
      <p:sp>
        <p:nvSpPr>
          <p:cNvPr id="14" name="TextBox 13"/>
          <p:cNvSpPr txBox="1"/>
          <p:nvPr/>
        </p:nvSpPr>
        <p:spPr>
          <a:xfrm>
            <a:off x="965200" y="4257040"/>
            <a:ext cx="2222500" cy="426719"/>
          </a:xfrm>
          <a:prstGeom prst="rect">
            <a:avLst/>
          </a:prstGeom>
          <a:noFill/>
        </p:spPr>
        <p:txBody>
          <a:bodyPr wrap="square" lIns="0" rIns="0" tIns="0" bIns="0" anchor="t"/>
          <a:lstStyle/>
          <a:p>
            <a:pPr>
              <a:lnSpc>
                <a:spcPct val="140000"/>
              </a:lnSpc>
            </a:pPr>
            <a:r>
              <a:rPr sz="1200" b="0">
                <a:solidFill>
                  <a:srgbClr val="46556A"/>
                </a:solidFill>
                <a:latin typeface="Arial"/>
              </a:rPr>
              <a:t>Premier et dernier caractère de chaque valeur supprimés</a:t>
            </a:r>
          </a:p>
        </p:txBody>
      </p:sp>
      <p:sp>
        <p:nvSpPr>
          <p:cNvPr id="15" name="Rounded Rectangle 14"/>
          <p:cNvSpPr/>
          <p:nvPr/>
        </p:nvSpPr>
        <p:spPr>
          <a:xfrm>
            <a:off x="3492500" y="3799840"/>
            <a:ext cx="2527300" cy="1249680"/>
          </a:xfrm>
          <a:prstGeom prst="roundRect">
            <a:avLst>
              <a:gd name="adj" fmla="val 8130"/>
            </a:avLst>
          </a:prstGeom>
          <a:solidFill>
            <a:srgbClr val="FBFAF6"/>
          </a:solidFill>
          <a:ln w="6350">
            <a:solidFill>
              <a:srgbClr val="E2DE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44900" y="3952240"/>
            <a:ext cx="2222500" cy="228600"/>
          </a:xfrm>
          <a:prstGeom prst="rect">
            <a:avLst/>
          </a:prstGeom>
          <a:noFill/>
        </p:spPr>
        <p:txBody>
          <a:bodyPr wrap="square" lIns="0" rIns="0" tIns="0" bIns="0" anchor="t"/>
          <a:lstStyle/>
          <a:p>
            <a:pPr>
              <a:lnSpc>
                <a:spcPct val="120000"/>
              </a:lnSpc>
            </a:pPr>
            <a:r>
              <a:rPr sz="1500" b="1">
                <a:solidFill>
                  <a:srgbClr val="12233B"/>
                </a:solidFill>
                <a:latin typeface="Arial"/>
              </a:rPr>
              <a:t>Période et source</a:t>
            </a:r>
          </a:p>
        </p:txBody>
      </p:sp>
      <p:sp>
        <p:nvSpPr>
          <p:cNvPr id="17" name="TextBox 16"/>
          <p:cNvSpPr txBox="1"/>
          <p:nvPr/>
        </p:nvSpPr>
        <p:spPr>
          <a:xfrm>
            <a:off x="3644900" y="4257040"/>
            <a:ext cx="2222500" cy="640080"/>
          </a:xfrm>
          <a:prstGeom prst="rect">
            <a:avLst/>
          </a:prstGeom>
          <a:noFill/>
        </p:spPr>
        <p:txBody>
          <a:bodyPr wrap="square" lIns="0" rIns="0" tIns="0" bIns="0" anchor="t"/>
          <a:lstStyle/>
          <a:p>
            <a:pPr>
              <a:lnSpc>
                <a:spcPct val="140000"/>
              </a:lnSpc>
            </a:pPr>
            <a:r>
              <a:rPr sz="1200" b="0">
                <a:solidFill>
                  <a:srgbClr val="46556A"/>
                </a:solidFill>
                <a:latin typeface="Arial"/>
              </a:rPr>
              <a:t>Period = année + mois, Data_Source fixée à MYREO_TOOL</a:t>
            </a:r>
          </a:p>
        </p:txBody>
      </p:sp>
      <p:sp>
        <p:nvSpPr>
          <p:cNvPr id="18" name="Rounded Rectangle 17"/>
          <p:cNvSpPr/>
          <p:nvPr/>
        </p:nvSpPr>
        <p:spPr>
          <a:xfrm>
            <a:off x="6172200" y="3799840"/>
            <a:ext cx="2527300" cy="1249680"/>
          </a:xfrm>
          <a:prstGeom prst="roundRect">
            <a:avLst>
              <a:gd name="adj" fmla="val 8130"/>
            </a:avLst>
          </a:prstGeom>
          <a:solidFill>
            <a:srgbClr val="FBFAF6"/>
          </a:solidFill>
          <a:ln w="6350">
            <a:solidFill>
              <a:srgbClr val="E2DE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24600" y="3952240"/>
            <a:ext cx="2222500" cy="228600"/>
          </a:xfrm>
          <a:prstGeom prst="rect">
            <a:avLst/>
          </a:prstGeom>
          <a:noFill/>
        </p:spPr>
        <p:txBody>
          <a:bodyPr wrap="square" lIns="0" rIns="0" tIns="0" bIns="0" anchor="t"/>
          <a:lstStyle/>
          <a:p>
            <a:pPr>
              <a:lnSpc>
                <a:spcPct val="120000"/>
              </a:lnSpc>
            </a:pPr>
            <a:r>
              <a:rPr sz="1500" b="1">
                <a:solidFill>
                  <a:srgbClr val="12233B"/>
                </a:solidFill>
                <a:latin typeface="Arial"/>
              </a:rPr>
              <a:t>Un type, une ligne</a:t>
            </a:r>
          </a:p>
        </p:txBody>
      </p:sp>
      <p:sp>
        <p:nvSpPr>
          <p:cNvPr id="20" name="TextBox 19"/>
          <p:cNvSpPr txBox="1"/>
          <p:nvPr/>
        </p:nvSpPr>
        <p:spPr>
          <a:xfrm>
            <a:off x="6324600" y="4257040"/>
            <a:ext cx="2222500" cy="426719"/>
          </a:xfrm>
          <a:prstGeom prst="rect">
            <a:avLst/>
          </a:prstGeom>
          <a:noFill/>
        </p:spPr>
        <p:txBody>
          <a:bodyPr wrap="square" lIns="0" rIns="0" tIns="0" bIns="0" anchor="t"/>
          <a:lstStyle/>
          <a:p>
            <a:pPr>
              <a:lnSpc>
                <a:spcPct val="140000"/>
              </a:lnSpc>
            </a:pPr>
            <a:r>
              <a:rPr sz="1200" b="0">
                <a:solidFill>
                  <a:srgbClr val="46556A"/>
                </a:solidFill>
                <a:latin typeface="Arial"/>
              </a:rPr>
              <a:t>Chaque ligne sort une fois par type actif du référentiel ERK SV</a:t>
            </a:r>
          </a:p>
        </p:txBody>
      </p:sp>
      <p:sp>
        <p:nvSpPr>
          <p:cNvPr id="21" name="Rounded Rectangle 20"/>
          <p:cNvSpPr/>
          <p:nvPr/>
        </p:nvSpPr>
        <p:spPr>
          <a:xfrm>
            <a:off x="8851900" y="3799840"/>
            <a:ext cx="2527300" cy="1249680"/>
          </a:xfrm>
          <a:prstGeom prst="roundRect">
            <a:avLst>
              <a:gd name="adj" fmla="val 8130"/>
            </a:avLst>
          </a:prstGeom>
          <a:solidFill>
            <a:srgbClr val="FBFAF6"/>
          </a:solidFill>
          <a:ln w="6350">
            <a:solidFill>
              <a:srgbClr val="E2DE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004300" y="3952240"/>
            <a:ext cx="2222500" cy="228600"/>
          </a:xfrm>
          <a:prstGeom prst="rect">
            <a:avLst/>
          </a:prstGeom>
          <a:noFill/>
        </p:spPr>
        <p:txBody>
          <a:bodyPr wrap="square" lIns="0" rIns="0" tIns="0" bIns="0" anchor="t"/>
          <a:lstStyle/>
          <a:p>
            <a:pPr>
              <a:lnSpc>
                <a:spcPct val="120000"/>
              </a:lnSpc>
            </a:pPr>
            <a:r>
              <a:rPr sz="1500" b="1">
                <a:solidFill>
                  <a:srgbClr val="12233B"/>
                </a:solidFill>
                <a:latin typeface="Arial"/>
              </a:rPr>
              <a:t>Montant</a:t>
            </a:r>
          </a:p>
        </p:txBody>
      </p:sp>
      <p:sp>
        <p:nvSpPr>
          <p:cNvPr id="23" name="TextBox 22"/>
          <p:cNvSpPr txBox="1"/>
          <p:nvPr/>
        </p:nvSpPr>
        <p:spPr>
          <a:xfrm>
            <a:off x="9004300" y="4257040"/>
            <a:ext cx="2222500" cy="426719"/>
          </a:xfrm>
          <a:prstGeom prst="rect">
            <a:avLst/>
          </a:prstGeom>
          <a:noFill/>
        </p:spPr>
        <p:txBody>
          <a:bodyPr wrap="square" lIns="0" rIns="0" tIns="0" bIns="0" anchor="t"/>
          <a:lstStyle/>
          <a:p>
            <a:pPr>
              <a:lnSpc>
                <a:spcPct val="140000"/>
              </a:lnSpc>
            </a:pPr>
            <a:r>
              <a:rPr sz="1200" b="0">
                <a:solidFill>
                  <a:srgbClr val="46556A"/>
                </a:solidFill>
                <a:latin typeface="Arial"/>
              </a:rPr>
              <a:t>Converti en Double, 0.0 s’il n’est pas numérique</a:t>
            </a:r>
          </a:p>
        </p:txBody>
      </p:sp>
      <p:sp>
        <p:nvSpPr>
          <p:cNvPr id="24" name="TextBox 23"/>
          <p:cNvSpPr txBox="1"/>
          <p:nvPr/>
        </p:nvSpPr>
        <p:spPr>
          <a:xfrm>
            <a:off x="812800" y="6261100"/>
            <a:ext cx="3644503" cy="190500"/>
          </a:xfrm>
          <a:prstGeom prst="rect">
            <a:avLst/>
          </a:prstGeom>
          <a:noFill/>
        </p:spPr>
        <p:txBody>
          <a:bodyPr wrap="square" lIns="0" rIns="0" tIns="0" bIns="0" anchor="t"/>
          <a:lstStyle/>
          <a:p>
            <a:pPr>
              <a:lnSpc>
                <a:spcPct val="125000"/>
              </a:lnSpc>
            </a:pPr>
            <a:r>
              <a:rPr sz="1200" b="0">
                <a:solidFill>
                  <a:srgbClr val="5B6677"/>
                </a:solidFill>
                <a:latin typeface="Arial"/>
              </a:rPr>
              <a:t>BSY_REO · chaînes REO AJUST, MYREO et COVID</a:t>
            </a:r>
          </a:p>
        </p:txBody>
      </p:sp>
      <p:sp>
        <p:nvSpPr>
          <p:cNvPr id="25" name="TextBox 24"/>
          <p:cNvSpPr txBox="1"/>
          <p:nvPr/>
        </p:nvSpPr>
        <p:spPr>
          <a:xfrm>
            <a:off x="11201400" y="6261100"/>
            <a:ext cx="177800" cy="190500"/>
          </a:xfrm>
          <a:prstGeom prst="rect">
            <a:avLst/>
          </a:prstGeom>
          <a:noFill/>
        </p:spPr>
        <p:txBody>
          <a:bodyPr wrap="square" lIns="0" rIns="0" tIns="0" bIns="0" anchor="t"/>
          <a:lstStyle/>
          <a:p>
            <a:pPr>
              <a:lnSpc>
                <a:spcPct val="125000"/>
              </a:lnSpc>
            </a:pPr>
            <a:r>
              <a:rPr sz="1200" b="0">
                <a:solidFill>
                  <a:srgbClr val="5B6677"/>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6858000"/>
          </a:xfrm>
          <a:prstGeom prst="rect">
            <a:avLst/>
          </a:prstGeom>
          <a:solidFill>
            <a:srgbClr val="F5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12800" y="812800"/>
            <a:ext cx="10566400" cy="190500"/>
          </a:xfrm>
          <a:prstGeom prst="rect">
            <a:avLst/>
          </a:prstGeom>
          <a:noFill/>
        </p:spPr>
        <p:txBody>
          <a:bodyPr wrap="square" lIns="0" rIns="0" tIns="0" bIns="0" anchor="t"/>
          <a:lstStyle/>
          <a:p>
            <a:pPr>
              <a:lnSpc>
                <a:spcPct val="125000"/>
              </a:lnSpc>
            </a:pPr>
            <a:r>
              <a:rPr sz="1200" b="1" spc="150">
                <a:solidFill>
                  <a:srgbClr val="24685A"/>
                </a:solidFill>
                <a:latin typeface="Arial"/>
              </a:rPr>
              <a:t>CHAÎNE COVID</a:t>
            </a:r>
          </a:p>
        </p:txBody>
      </p:sp>
      <p:sp>
        <p:nvSpPr>
          <p:cNvPr id="5" name="TextBox 4"/>
          <p:cNvSpPr txBox="1"/>
          <p:nvPr/>
        </p:nvSpPr>
        <p:spPr>
          <a:xfrm>
            <a:off x="812800" y="1079500"/>
            <a:ext cx="10566400" cy="447040"/>
          </a:xfrm>
          <a:prstGeom prst="rect">
            <a:avLst/>
          </a:prstGeom>
          <a:noFill/>
        </p:spPr>
        <p:txBody>
          <a:bodyPr wrap="square" lIns="0" rIns="0" tIns="0" bIns="0" anchor="t"/>
          <a:lstStyle/>
          <a:p>
            <a:pPr>
              <a:lnSpc>
                <a:spcPct val="110000"/>
              </a:lnSpc>
            </a:pPr>
            <a:r>
              <a:rPr sz="3200" b="1">
                <a:solidFill>
                  <a:srgbClr val="12233B"/>
                </a:solidFill>
                <a:latin typeface="Arial"/>
              </a:rPr>
              <a:t>COVID : vingt jobs Talend, une application</a:t>
            </a:r>
          </a:p>
        </p:txBody>
      </p:sp>
      <p:graphicFrame>
        <p:nvGraphicFramePr>
          <p:cNvPr id="6" name="Table 5"/>
          <p:cNvGraphicFramePr>
            <a:graphicFrameLocks noGrp="1"/>
          </p:cNvGraphicFramePr>
          <p:nvPr/>
        </p:nvGraphicFramePr>
        <p:xfrm>
          <a:off x="812800" y="1831339"/>
          <a:ext cx="10566398" cy="3200400"/>
        </p:xfrm>
        <a:graphic>
          <a:graphicData uri="http://schemas.openxmlformats.org/drawingml/2006/table">
            <a:tbl>
              <a:tblPr/>
              <a:tblGrid>
                <a:gridCol w="2747264"/>
                <a:gridCol w="3909567"/>
                <a:gridCol w="3909567"/>
              </a:tblGrid>
              <a:tr h="400050">
                <a:tc>
                  <a:txBody>
                    <a:bodyPr wrap="square"/>
                    <a:lstStyle/>
                    <a:p>
                      <a:pPr>
                        <a:lnSpc>
                          <a:spcPct val="125000"/>
                        </a:lnSpc>
                      </a:pPr>
                    </a:p>
                  </a:txBody>
                  <a:tcPr marL="101600" marR="101600" marT="76200" marB="76200" anchor="ctr">
                    <a:solidFill>
                      <a:srgbClr val="12233B"/>
                    </a:solidFill>
                  </a:tcPr>
                </a:tc>
                <a:tc>
                  <a:txBody>
                    <a:bodyPr wrap="square"/>
                    <a:lstStyle/>
                    <a:p>
                      <a:pPr>
                        <a:lnSpc>
                          <a:spcPct val="125000"/>
                        </a:lnSpc>
                      </a:pPr>
                      <a:r>
                        <a:rPr sz="1500" b="1">
                          <a:solidFill>
                            <a:srgbClr val="F5F3EE"/>
                          </a:solidFill>
                          <a:latin typeface="Arial"/>
                        </a:rPr>
                        <a:t>Talend</a:t>
                      </a:r>
                    </a:p>
                  </a:txBody>
                  <a:tcPr marL="101600" marR="101600" marT="76200" marB="76200" anchor="ctr">
                    <a:solidFill>
                      <a:srgbClr val="12233B"/>
                    </a:solidFill>
                  </a:tcPr>
                </a:tc>
                <a:tc>
                  <a:txBody>
                    <a:bodyPr wrap="square"/>
                    <a:lstStyle/>
                    <a:p>
                      <a:pPr>
                        <a:lnSpc>
                          <a:spcPct val="125000"/>
                        </a:lnSpc>
                      </a:pPr>
                      <a:r>
                        <a:rPr sz="1500" b="1">
                          <a:solidFill>
                            <a:srgbClr val="8CCBB8"/>
                          </a:solidFill>
                          <a:latin typeface="Arial"/>
                        </a:rPr>
                        <a:t>Scala et Spark</a:t>
                      </a:r>
                    </a:p>
                  </a:txBody>
                  <a:tcPr marL="101600" marR="101600" marT="76200" marB="76200" anchor="ctr">
                    <a:solidFill>
                      <a:srgbClr val="12233B"/>
                    </a:solidFill>
                  </a:tcPr>
                </a:tc>
              </a:tr>
              <a:tr h="400050">
                <a:tc>
                  <a:txBody>
                    <a:bodyPr wrap="square"/>
                    <a:lstStyle/>
                    <a:p>
                      <a:pPr>
                        <a:lnSpc>
                          <a:spcPct val="125000"/>
                        </a:lnSpc>
                      </a:pPr>
                      <a:r>
                        <a:rPr sz="1500" b="1">
                          <a:solidFill>
                            <a:srgbClr val="12233B"/>
                          </a:solidFill>
                          <a:latin typeface="Arial"/>
                        </a:rPr>
                        <a:t>Applications</a:t>
                      </a:r>
                    </a:p>
                  </a:txBody>
                  <a:tcPr marL="101600" marR="101600" marT="76200" marB="76200" anchor="ctr">
                    <a:solidFill>
                      <a:srgbClr val="F5F3EE"/>
                    </a:solidFill>
                  </a:tcPr>
                </a:tc>
                <a:tc>
                  <a:txBody>
                    <a:bodyPr wrap="square"/>
                    <a:lstStyle/>
                    <a:p>
                      <a:pPr>
                        <a:lnSpc>
                          <a:spcPct val="125000"/>
                        </a:lnSpc>
                      </a:pPr>
                      <a:r>
                        <a:rPr sz="1500" b="0">
                          <a:solidFill>
                            <a:srgbClr val="12233B"/>
                          </a:solidFill>
                          <a:latin typeface="Arial"/>
                        </a:rPr>
                        <a:t>20 jobs, dont 7 jobs Spark</a:t>
                      </a:r>
                    </a:p>
                  </a:txBody>
                  <a:tcPr marL="101600" marR="101600" marT="76200" marB="76200" anchor="ctr">
                    <a:solidFill>
                      <a:srgbClr val="F5F3EE"/>
                    </a:solidFill>
                  </a:tcPr>
                </a:tc>
                <a:tc>
                  <a:txBody>
                    <a:bodyPr wrap="square"/>
                    <a:lstStyle/>
                    <a:p>
                      <a:pPr>
                        <a:lnSpc>
                          <a:spcPct val="125000"/>
                        </a:lnSpc>
                      </a:pPr>
                      <a:r>
                        <a:rPr sz="1500" b="0">
                          <a:solidFill>
                            <a:srgbClr val="12233B"/>
                          </a:solidFill>
                          <a:latin typeface="Arial"/>
                        </a:rPr>
                        <a:t>1 application, 17 étapes</a:t>
                      </a:r>
                    </a:p>
                  </a:txBody>
                  <a:tcPr marL="101600" marR="101600" marT="76200" marB="76200" anchor="ctr">
                    <a:solidFill>
                      <a:srgbClr val="F5F3EE"/>
                    </a:solidFill>
                  </a:tcPr>
                </a:tc>
              </a:tr>
              <a:tr h="400050">
                <a:tc>
                  <a:txBody>
                    <a:bodyPr wrap="square"/>
                    <a:lstStyle/>
                    <a:p>
                      <a:pPr>
                        <a:lnSpc>
                          <a:spcPct val="125000"/>
                        </a:lnSpc>
                      </a:pPr>
                      <a:r>
                        <a:rPr sz="1500" b="1">
                          <a:solidFill>
                            <a:srgbClr val="12233B"/>
                          </a:solidFill>
                          <a:latin typeface="Arial"/>
                        </a:rPr>
                        <a:t>Table NRG -&gt; PCI</a:t>
                      </a:r>
                    </a:p>
                  </a:txBody>
                  <a:tcPr marL="101600" marR="101600" marT="76200" marB="76200" anchor="ctr">
                    <a:solidFill>
                      <a:srgbClr val="FBFAF6"/>
                    </a:solidFill>
                  </a:tcPr>
                </a:tc>
                <a:tc>
                  <a:txBody>
                    <a:bodyPr wrap="square"/>
                    <a:lstStyle/>
                    <a:p>
                      <a:pPr>
                        <a:lnSpc>
                          <a:spcPct val="125000"/>
                        </a:lnSpc>
                      </a:pPr>
                      <a:r>
                        <a:rPr sz="1500" b="0">
                          <a:solidFill>
                            <a:srgbClr val="12233B"/>
                          </a:solidFill>
                          <a:latin typeface="Arial"/>
                        </a:rPr>
                        <a:t>Recalculée à chaque type actif</a:t>
                      </a:r>
                    </a:p>
                  </a:txBody>
                  <a:tcPr marL="101600" marR="101600" marT="76200" marB="76200" anchor="ctr">
                    <a:solidFill>
                      <a:srgbClr val="FBFAF6"/>
                    </a:solidFill>
                  </a:tcPr>
                </a:tc>
                <a:tc>
                  <a:txBody>
                    <a:bodyPr wrap="square"/>
                    <a:lstStyle/>
                    <a:p>
                      <a:pPr>
                        <a:lnSpc>
                          <a:spcPct val="125000"/>
                        </a:lnSpc>
                      </a:pPr>
                      <a:r>
                        <a:rPr sz="1500" b="0">
                          <a:solidFill>
                            <a:srgbClr val="12233B"/>
                          </a:solidFill>
                          <a:latin typeface="Arial"/>
                        </a:rPr>
                        <a:t>Calculée une fois, en tête</a:t>
                      </a:r>
                    </a:p>
                  </a:txBody>
                  <a:tcPr marL="101600" marR="101600" marT="76200" marB="76200" anchor="ctr">
                    <a:solidFill>
                      <a:srgbClr val="FBFAF6"/>
                    </a:solidFill>
                  </a:tcPr>
                </a:tc>
              </a:tr>
              <a:tr h="400050">
                <a:tc>
                  <a:txBody>
                    <a:bodyPr wrap="square"/>
                    <a:lstStyle/>
                    <a:p>
                      <a:pPr>
                        <a:lnSpc>
                          <a:spcPct val="125000"/>
                        </a:lnSpc>
                      </a:pPr>
                      <a:r>
                        <a:rPr sz="1500" b="1">
                          <a:solidFill>
                            <a:srgbClr val="12233B"/>
                          </a:solidFill>
                          <a:latin typeface="Arial"/>
                        </a:rPr>
                        <a:t>Bloc MyREO</a:t>
                      </a:r>
                    </a:p>
                  </a:txBody>
                  <a:tcPr marL="101600" marR="101600" marT="76200" marB="76200" anchor="ctr">
                    <a:solidFill>
                      <a:srgbClr val="F5F3EE"/>
                    </a:solidFill>
                  </a:tcPr>
                </a:tc>
                <a:tc>
                  <a:txBody>
                    <a:bodyPr wrap="square"/>
                    <a:lstStyle/>
                    <a:p>
                      <a:pPr>
                        <a:lnSpc>
                          <a:spcPct val="125000"/>
                        </a:lnSpc>
                      </a:pPr>
                      <a:r>
                        <a:rPr sz="1500" b="0">
                          <a:solidFill>
                            <a:srgbClr val="12233B"/>
                          </a:solidFill>
                          <a:latin typeface="Arial"/>
                        </a:rPr>
                        <a:t>Rejoué par ligne de pilotage</a:t>
                      </a:r>
                    </a:p>
                  </a:txBody>
                  <a:tcPr marL="101600" marR="101600" marT="76200" marB="76200" anchor="ctr">
                    <a:solidFill>
                      <a:srgbClr val="F5F3EE"/>
                    </a:solidFill>
                  </a:tcPr>
                </a:tc>
                <a:tc>
                  <a:txBody>
                    <a:bodyPr wrap="square"/>
                    <a:lstStyle/>
                    <a:p>
                      <a:pPr>
                        <a:lnSpc>
                          <a:spcPct val="125000"/>
                        </a:lnSpc>
                      </a:pPr>
                      <a:r>
                        <a:rPr sz="1500" b="0">
                          <a:solidFill>
                            <a:srgbClr val="12233B"/>
                          </a:solidFill>
                          <a:latin typeface="Arial"/>
                        </a:rPr>
                        <a:t>Exécuté une seule fois</a:t>
                      </a:r>
                    </a:p>
                  </a:txBody>
                  <a:tcPr marL="101600" marR="101600" marT="76200" marB="76200" anchor="ctr">
                    <a:solidFill>
                      <a:srgbClr val="F5F3EE"/>
                    </a:solidFill>
                  </a:tcPr>
                </a:tc>
              </a:tr>
              <a:tr h="400050">
                <a:tc>
                  <a:txBody>
                    <a:bodyPr wrap="square"/>
                    <a:lstStyle/>
                    <a:p>
                      <a:pPr>
                        <a:lnSpc>
                          <a:spcPct val="125000"/>
                        </a:lnSpc>
                      </a:pPr>
                      <a:r>
                        <a:rPr sz="1500" b="1">
                          <a:solidFill>
                            <a:srgbClr val="12233B"/>
                          </a:solidFill>
                          <a:latin typeface="Arial"/>
                        </a:rPr>
                        <a:t>Ventilations</a:t>
                      </a:r>
                    </a:p>
                  </a:txBody>
                  <a:tcPr marL="101600" marR="101600" marT="76200" marB="76200" anchor="ctr">
                    <a:solidFill>
                      <a:srgbClr val="FBFAF6"/>
                    </a:solidFill>
                  </a:tcPr>
                </a:tc>
                <a:tc>
                  <a:txBody>
                    <a:bodyPr wrap="square"/>
                    <a:lstStyle/>
                    <a:p>
                      <a:pPr>
                        <a:lnSpc>
                          <a:spcPct val="125000"/>
                        </a:lnSpc>
                      </a:pPr>
                      <a:r>
                        <a:rPr sz="1500" b="0">
                          <a:solidFill>
                            <a:srgbClr val="12233B"/>
                          </a:solidFill>
                          <a:latin typeface="Arial"/>
                        </a:rPr>
                        <a:t>2 jobs à la même topologie</a:t>
                      </a:r>
                    </a:p>
                  </a:txBody>
                  <a:tcPr marL="101600" marR="101600" marT="76200" marB="76200" anchor="ctr">
                    <a:solidFill>
                      <a:srgbClr val="FBFAF6"/>
                    </a:solidFill>
                  </a:tcPr>
                </a:tc>
                <a:tc>
                  <a:txBody>
                    <a:bodyPr wrap="square"/>
                    <a:lstStyle/>
                    <a:p>
                      <a:pPr>
                        <a:lnSpc>
                          <a:spcPct val="125000"/>
                        </a:lnSpc>
                      </a:pPr>
                      <a:r>
                        <a:rPr sz="1500" b="0">
                          <a:solidFill>
                            <a:srgbClr val="12233B"/>
                          </a:solidFill>
                          <a:latin typeface="Arial"/>
                        </a:rPr>
                        <a:t>1 mapper, 2 dispositions</a:t>
                      </a:r>
                    </a:p>
                  </a:txBody>
                  <a:tcPr marL="101600" marR="101600" marT="76200" marB="76200" anchor="ctr">
                    <a:solidFill>
                      <a:srgbClr val="FBFAF6"/>
                    </a:solidFill>
                  </a:tcPr>
                </a:tc>
              </a:tr>
              <a:tr h="400050">
                <a:tc>
                  <a:txBody>
                    <a:bodyPr wrap="square"/>
                    <a:lstStyle/>
                    <a:p>
                      <a:pPr>
                        <a:lnSpc>
                          <a:spcPct val="125000"/>
                        </a:lnSpc>
                      </a:pPr>
                      <a:r>
                        <a:rPr sz="1500" b="1">
                          <a:solidFill>
                            <a:srgbClr val="12233B"/>
                          </a:solidFill>
                          <a:latin typeface="Arial"/>
                        </a:rPr>
                        <a:t>Erreurs SQL Server</a:t>
                      </a:r>
                    </a:p>
                  </a:txBody>
                  <a:tcPr marL="101600" marR="101600" marT="76200" marB="76200" anchor="ctr">
                    <a:solidFill>
                      <a:srgbClr val="F5F3EE"/>
                    </a:solidFill>
                  </a:tcPr>
                </a:tc>
                <a:tc>
                  <a:txBody>
                    <a:bodyPr wrap="square"/>
                    <a:lstStyle/>
                    <a:p>
                      <a:pPr>
                        <a:lnSpc>
                          <a:spcPct val="125000"/>
                        </a:lnSpc>
                      </a:pPr>
                      <a:r>
                        <a:rPr sz="1500" b="0">
                          <a:solidFill>
                            <a:srgbClr val="12233B"/>
                          </a:solidFill>
                          <a:latin typeface="Arial"/>
                        </a:rPr>
                        <a:t>Souvent avalées, code 0</a:t>
                      </a:r>
                    </a:p>
                  </a:txBody>
                  <a:tcPr marL="101600" marR="101600" marT="76200" marB="76200" anchor="ctr">
                    <a:solidFill>
                      <a:srgbClr val="F5F3EE"/>
                    </a:solidFill>
                  </a:tcPr>
                </a:tc>
                <a:tc>
                  <a:txBody>
                    <a:bodyPr wrap="square"/>
                    <a:lstStyle/>
                    <a:p>
                      <a:pPr>
                        <a:lnSpc>
                          <a:spcPct val="125000"/>
                        </a:lnSpc>
                      </a:pPr>
                      <a:r>
                        <a:rPr sz="1500" b="0">
                          <a:solidFill>
                            <a:srgbClr val="12233B"/>
                          </a:solidFill>
                          <a:latin typeface="Arial"/>
                        </a:rPr>
                        <a:t>Arrêt de la chaîne</a:t>
                      </a:r>
                    </a:p>
                  </a:txBody>
                  <a:tcPr marL="101600" marR="101600" marT="76200" marB="76200" anchor="ctr">
                    <a:solidFill>
                      <a:srgbClr val="F5F3EE"/>
                    </a:solidFill>
                  </a:tcPr>
                </a:tc>
              </a:tr>
              <a:tr h="400050">
                <a:tc>
                  <a:txBody>
                    <a:bodyPr wrap="square"/>
                    <a:lstStyle/>
                    <a:p>
                      <a:pPr>
                        <a:lnSpc>
                          <a:spcPct val="125000"/>
                        </a:lnSpc>
                      </a:pPr>
                      <a:r>
                        <a:rPr sz="1500" b="1">
                          <a:solidFill>
                            <a:srgbClr val="12233B"/>
                          </a:solidFill>
                          <a:latin typeface="Arial"/>
                        </a:rPr>
                        <a:t>Vidage des tables</a:t>
                      </a:r>
                    </a:p>
                  </a:txBody>
                  <a:tcPr marL="101600" marR="101600" marT="76200" marB="76200" anchor="ctr">
                    <a:solidFill>
                      <a:srgbClr val="FBFAF6"/>
                    </a:solidFill>
                  </a:tcPr>
                </a:tc>
                <a:tc>
                  <a:txBody>
                    <a:bodyPr wrap="square"/>
                    <a:lstStyle/>
                    <a:p>
                      <a:pPr>
                        <a:lnSpc>
                          <a:spcPct val="125000"/>
                        </a:lnSpc>
                      </a:pPr>
                      <a:r>
                        <a:rPr sz="1500" b="0">
                          <a:solidFill>
                            <a:srgbClr val="12233B"/>
                          </a:solidFill>
                          <a:latin typeface="Arial"/>
                        </a:rPr>
                        <a:t>Avant tout contrôle</a:t>
                      </a:r>
                    </a:p>
                  </a:txBody>
                  <a:tcPr marL="101600" marR="101600" marT="76200" marB="76200" anchor="ctr">
                    <a:solidFill>
                      <a:srgbClr val="FBFAF6"/>
                    </a:solidFill>
                  </a:tcPr>
                </a:tc>
                <a:tc>
                  <a:txBody>
                    <a:bodyPr wrap="square"/>
                    <a:lstStyle/>
                    <a:p>
                      <a:pPr>
                        <a:lnSpc>
                          <a:spcPct val="125000"/>
                        </a:lnSpc>
                      </a:pPr>
                      <a:r>
                        <a:rPr sz="1500" b="0">
                          <a:solidFill>
                            <a:srgbClr val="12233B"/>
                          </a:solidFill>
                          <a:latin typeface="Arial"/>
                        </a:rPr>
                        <a:t>Après contrôle des données</a:t>
                      </a:r>
                    </a:p>
                  </a:txBody>
                  <a:tcPr marL="101600" marR="101600" marT="76200" marB="76200" anchor="ctr">
                    <a:solidFill>
                      <a:srgbClr val="FBFAF6"/>
                    </a:solidFill>
                  </a:tcPr>
                </a:tc>
              </a:tr>
              <a:tr h="400050">
                <a:tc>
                  <a:txBody>
                    <a:bodyPr wrap="square"/>
                    <a:lstStyle/>
                    <a:p>
                      <a:pPr>
                        <a:lnSpc>
                          <a:spcPct val="125000"/>
                        </a:lnSpc>
                      </a:pPr>
                      <a:r>
                        <a:rPr sz="1500" b="1">
                          <a:solidFill>
                            <a:srgbClr val="12233B"/>
                          </a:solidFill>
                          <a:latin typeface="Arial"/>
                        </a:rPr>
                        <a:t>Reprise</a:t>
                      </a:r>
                    </a:p>
                  </a:txBody>
                  <a:tcPr marL="101600" marR="101600" marT="76200" marB="76200" anchor="ctr">
                    <a:solidFill>
                      <a:srgbClr val="F5F3EE"/>
                    </a:solidFill>
                  </a:tcPr>
                </a:tc>
                <a:tc>
                  <a:txBody>
                    <a:bodyPr wrap="square"/>
                    <a:lstStyle/>
                    <a:p>
                      <a:pPr>
                        <a:lnSpc>
                          <a:spcPct val="125000"/>
                        </a:lnSpc>
                      </a:pPr>
                      <a:r>
                        <a:rPr sz="1500" b="0">
                          <a:solidFill>
                            <a:srgbClr val="12233B"/>
                          </a:solidFill>
                          <a:latin typeface="Arial"/>
                        </a:rPr>
                        <a:t>Relance complète</a:t>
                      </a:r>
                    </a:p>
                  </a:txBody>
                  <a:tcPr marL="101600" marR="101600" marT="76200" marB="76200" anchor="ctr">
                    <a:solidFill>
                      <a:srgbClr val="F5F3EE"/>
                    </a:solidFill>
                  </a:tcPr>
                </a:tc>
                <a:tc>
                  <a:txBody>
                    <a:bodyPr wrap="square"/>
                    <a:lstStyle/>
                    <a:p>
                      <a:pPr>
                        <a:lnSpc>
                          <a:spcPct val="125000"/>
                        </a:lnSpc>
                      </a:pPr>
                      <a:r>
                        <a:rPr sz="1500" b="0">
                          <a:solidFill>
                            <a:srgbClr val="12233B"/>
                          </a:solidFill>
                          <a:latin typeface="Arial"/>
                        </a:rPr>
                        <a:t>Interrupteur par étape</a:t>
                      </a:r>
                    </a:p>
                  </a:txBody>
                  <a:tcPr marL="101600" marR="101600" marT="76200" marB="76200" anchor="ctr">
                    <a:solidFill>
                      <a:srgbClr val="F5F3EE"/>
                    </a:solidFill>
                  </a:tcPr>
                </a:tc>
              </a:tr>
            </a:tbl>
          </a:graphicData>
        </a:graphic>
      </p:graphicFrame>
      <p:sp>
        <p:nvSpPr>
          <p:cNvPr id="7" name="TextBox 6"/>
          <p:cNvSpPr txBox="1"/>
          <p:nvPr/>
        </p:nvSpPr>
        <p:spPr>
          <a:xfrm>
            <a:off x="812800" y="5285740"/>
            <a:ext cx="10566400" cy="266700"/>
          </a:xfrm>
          <a:prstGeom prst="rect">
            <a:avLst/>
          </a:prstGeom>
          <a:noFill/>
        </p:spPr>
        <p:txBody>
          <a:bodyPr wrap="square" lIns="0" rIns="0" tIns="0" bIns="0" anchor="t"/>
          <a:lstStyle/>
          <a:p>
            <a:pPr>
              <a:lnSpc>
                <a:spcPct val="140000"/>
              </a:lnSpc>
            </a:pPr>
            <a:r>
              <a:rPr sz="1500" b="0">
                <a:solidFill>
                  <a:srgbClr val="46556A"/>
                </a:solidFill>
                <a:latin typeface="Arial"/>
              </a:rPr>
              <a:t>Même état final que Talend : la table NRG -&gt; PCI et le bloc MyREO donnaient à chaque passage le même résultat.</a:t>
            </a:r>
          </a:p>
        </p:txBody>
      </p:sp>
      <p:sp>
        <p:nvSpPr>
          <p:cNvPr id="8" name="TextBox 7"/>
          <p:cNvSpPr txBox="1"/>
          <p:nvPr/>
        </p:nvSpPr>
        <p:spPr>
          <a:xfrm>
            <a:off x="812800" y="6261100"/>
            <a:ext cx="3644503" cy="190500"/>
          </a:xfrm>
          <a:prstGeom prst="rect">
            <a:avLst/>
          </a:prstGeom>
          <a:noFill/>
        </p:spPr>
        <p:txBody>
          <a:bodyPr wrap="square" lIns="0" rIns="0" tIns="0" bIns="0" anchor="t"/>
          <a:lstStyle/>
          <a:p>
            <a:pPr>
              <a:lnSpc>
                <a:spcPct val="125000"/>
              </a:lnSpc>
            </a:pPr>
            <a:r>
              <a:rPr sz="1200" b="0">
                <a:solidFill>
                  <a:srgbClr val="5B6677"/>
                </a:solidFill>
                <a:latin typeface="Arial"/>
              </a:rPr>
              <a:t>BSY_REO · chaînes REO AJUST, MYREO et COVID</a:t>
            </a:r>
          </a:p>
        </p:txBody>
      </p:sp>
      <p:sp>
        <p:nvSpPr>
          <p:cNvPr id="9" name="TextBox 8"/>
          <p:cNvSpPr txBox="1"/>
          <p:nvPr/>
        </p:nvSpPr>
        <p:spPr>
          <a:xfrm>
            <a:off x="11201400" y="6261100"/>
            <a:ext cx="177800" cy="190500"/>
          </a:xfrm>
          <a:prstGeom prst="rect">
            <a:avLst/>
          </a:prstGeom>
          <a:noFill/>
        </p:spPr>
        <p:txBody>
          <a:bodyPr wrap="square" lIns="0" rIns="0" tIns="0" bIns="0" anchor="t"/>
          <a:lstStyle/>
          <a:p>
            <a:pPr>
              <a:lnSpc>
                <a:spcPct val="125000"/>
              </a:lnSpc>
            </a:pPr>
            <a:r>
              <a:rPr sz="1200" b="0">
                <a:solidFill>
                  <a:srgbClr val="5B6677"/>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6858000"/>
          </a:xfrm>
          <a:prstGeom prst="rect">
            <a:avLst/>
          </a:prstGeom>
          <a:solidFill>
            <a:srgbClr val="F5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12800" y="812800"/>
            <a:ext cx="10566400" cy="190500"/>
          </a:xfrm>
          <a:prstGeom prst="rect">
            <a:avLst/>
          </a:prstGeom>
          <a:noFill/>
        </p:spPr>
        <p:txBody>
          <a:bodyPr wrap="square" lIns="0" rIns="0" tIns="0" bIns="0" anchor="t"/>
          <a:lstStyle/>
          <a:p>
            <a:pPr>
              <a:lnSpc>
                <a:spcPct val="125000"/>
              </a:lnSpc>
            </a:pPr>
            <a:r>
              <a:rPr sz="1200" b="1" spc="150">
                <a:solidFill>
                  <a:srgbClr val="24685A"/>
                </a:solidFill>
                <a:latin typeface="Arial"/>
              </a:rPr>
              <a:t>CHAÎNE COVID</a:t>
            </a:r>
          </a:p>
        </p:txBody>
      </p:sp>
      <p:sp>
        <p:nvSpPr>
          <p:cNvPr id="5" name="TextBox 4"/>
          <p:cNvSpPr txBox="1"/>
          <p:nvPr/>
        </p:nvSpPr>
        <p:spPr>
          <a:xfrm>
            <a:off x="812800" y="1079500"/>
            <a:ext cx="10566400" cy="447040"/>
          </a:xfrm>
          <a:prstGeom prst="rect">
            <a:avLst/>
          </a:prstGeom>
          <a:noFill/>
        </p:spPr>
        <p:txBody>
          <a:bodyPr wrap="square" lIns="0" rIns="0" tIns="0" bIns="0" anchor="t"/>
          <a:lstStyle/>
          <a:p>
            <a:pPr>
              <a:lnSpc>
                <a:spcPct val="110000"/>
              </a:lnSpc>
            </a:pPr>
            <a:r>
              <a:rPr sz="3200" b="1">
                <a:solidFill>
                  <a:srgbClr val="12233B"/>
                </a:solidFill>
                <a:latin typeface="Arial"/>
              </a:rPr>
              <a:t>COVID : dix-sept étapes en trois blocs</a:t>
            </a:r>
          </a:p>
        </p:txBody>
      </p:sp>
      <p:sp>
        <p:nvSpPr>
          <p:cNvPr id="6" name="Rounded Rectangle 5"/>
          <p:cNvSpPr/>
          <p:nvPr/>
        </p:nvSpPr>
        <p:spPr>
          <a:xfrm>
            <a:off x="812800" y="1831339"/>
            <a:ext cx="3386666" cy="1092200"/>
          </a:xfrm>
          <a:prstGeom prst="roundRect">
            <a:avLst>
              <a:gd name="adj" fmla="val 9302"/>
            </a:avLst>
          </a:prstGeom>
          <a:solidFill>
            <a:srgbClr val="FBFAF6"/>
          </a:solidFill>
          <a:ln w="6350">
            <a:solidFill>
              <a:srgbClr val="E2DE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16000" y="1983739"/>
            <a:ext cx="2980266" cy="228600"/>
          </a:xfrm>
          <a:prstGeom prst="rect">
            <a:avLst/>
          </a:prstGeom>
          <a:noFill/>
        </p:spPr>
        <p:txBody>
          <a:bodyPr wrap="square" lIns="0" rIns="0" tIns="0" bIns="0" anchor="t"/>
          <a:lstStyle/>
          <a:p>
            <a:pPr>
              <a:lnSpc>
                <a:spcPct val="120000"/>
              </a:lnSpc>
            </a:pPr>
            <a:r>
              <a:rPr sz="1500" b="1">
                <a:solidFill>
                  <a:srgbClr val="24685A"/>
                </a:solidFill>
                <a:latin typeface="Arial"/>
              </a:rPr>
              <a:t>Table NRG -&gt; PCI et pilotage</a:t>
            </a:r>
          </a:p>
        </p:txBody>
      </p:sp>
      <p:sp>
        <p:nvSpPr>
          <p:cNvPr id="8" name="Rounded Rectangle 7"/>
          <p:cNvSpPr/>
          <p:nvPr/>
        </p:nvSpPr>
        <p:spPr>
          <a:xfrm>
            <a:off x="1016000" y="2275840"/>
            <a:ext cx="355600" cy="215900"/>
          </a:xfrm>
          <a:prstGeom prst="roundRect">
            <a:avLst>
              <a:gd name="adj" fmla="val 50000"/>
            </a:avLst>
          </a:prstGeom>
          <a:solidFill>
            <a:srgbClr val="246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16000" y="2288540"/>
            <a:ext cx="355600" cy="190500"/>
          </a:xfrm>
          <a:prstGeom prst="rect">
            <a:avLst/>
          </a:prstGeom>
          <a:noFill/>
        </p:spPr>
        <p:txBody>
          <a:bodyPr wrap="square" lIns="0" rIns="0" tIns="0" bIns="0" anchor="ctr"/>
          <a:lstStyle/>
          <a:p>
            <a:pPr algn="ctr">
              <a:lnSpc>
                <a:spcPct val="125000"/>
              </a:lnSpc>
            </a:pPr>
            <a:r>
              <a:rPr sz="1200" b="1">
                <a:solidFill>
                  <a:srgbClr val="F5F3EE"/>
                </a:solidFill>
                <a:latin typeface="Arial"/>
              </a:rPr>
              <a:t>1</a:t>
            </a:r>
          </a:p>
        </p:txBody>
      </p:sp>
      <p:sp>
        <p:nvSpPr>
          <p:cNvPr id="10" name="TextBox 9"/>
          <p:cNvSpPr txBox="1"/>
          <p:nvPr/>
        </p:nvSpPr>
        <p:spPr>
          <a:xfrm>
            <a:off x="1447800" y="2288540"/>
            <a:ext cx="990600" cy="190500"/>
          </a:xfrm>
          <a:prstGeom prst="rect">
            <a:avLst/>
          </a:prstGeom>
          <a:noFill/>
        </p:spPr>
        <p:txBody>
          <a:bodyPr wrap="square" lIns="0" rIns="0" tIns="0" bIns="0" anchor="t"/>
          <a:lstStyle/>
          <a:p>
            <a:pPr>
              <a:lnSpc>
                <a:spcPct val="125000"/>
              </a:lnSpc>
            </a:pPr>
            <a:r>
              <a:rPr sz="1200" b="1">
                <a:solidFill>
                  <a:srgbClr val="12233B"/>
                </a:solidFill>
                <a:latin typeface="Courier New"/>
              </a:rPr>
              <a:t>nrg_pci_map</a:t>
            </a:r>
          </a:p>
        </p:txBody>
      </p:sp>
      <p:sp>
        <p:nvSpPr>
          <p:cNvPr id="11" name="Rounded Rectangle 10"/>
          <p:cNvSpPr/>
          <p:nvPr/>
        </p:nvSpPr>
        <p:spPr>
          <a:xfrm>
            <a:off x="1016000" y="2555240"/>
            <a:ext cx="355600" cy="215900"/>
          </a:xfrm>
          <a:prstGeom prst="roundRect">
            <a:avLst>
              <a:gd name="adj" fmla="val 50000"/>
            </a:avLst>
          </a:prstGeom>
          <a:solidFill>
            <a:srgbClr val="246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16000" y="2567940"/>
            <a:ext cx="355600" cy="190500"/>
          </a:xfrm>
          <a:prstGeom prst="rect">
            <a:avLst/>
          </a:prstGeom>
          <a:noFill/>
        </p:spPr>
        <p:txBody>
          <a:bodyPr wrap="square" lIns="0" rIns="0" tIns="0" bIns="0" anchor="ctr"/>
          <a:lstStyle/>
          <a:p>
            <a:pPr algn="ctr">
              <a:lnSpc>
                <a:spcPct val="125000"/>
              </a:lnSpc>
            </a:pPr>
            <a:r>
              <a:rPr sz="1200" b="1">
                <a:solidFill>
                  <a:srgbClr val="F5F3EE"/>
                </a:solidFill>
                <a:latin typeface="Arial"/>
              </a:rPr>
              <a:t>2</a:t>
            </a:r>
          </a:p>
        </p:txBody>
      </p:sp>
      <p:sp>
        <p:nvSpPr>
          <p:cNvPr id="13" name="TextBox 12"/>
          <p:cNvSpPr txBox="1"/>
          <p:nvPr/>
        </p:nvSpPr>
        <p:spPr>
          <a:xfrm>
            <a:off x="1447800" y="2567940"/>
            <a:ext cx="1257300" cy="190500"/>
          </a:xfrm>
          <a:prstGeom prst="rect">
            <a:avLst/>
          </a:prstGeom>
          <a:noFill/>
        </p:spPr>
        <p:txBody>
          <a:bodyPr wrap="square" lIns="0" rIns="0" tIns="0" bIns="0" anchor="t"/>
          <a:lstStyle/>
          <a:p>
            <a:pPr>
              <a:lnSpc>
                <a:spcPct val="125000"/>
              </a:lnSpc>
            </a:pPr>
            <a:r>
              <a:rPr sz="1200" b="1">
                <a:solidFill>
                  <a:srgbClr val="12233B"/>
                </a:solidFill>
                <a:latin typeface="Courier New"/>
              </a:rPr>
              <a:t>reomaker_check</a:t>
            </a:r>
          </a:p>
        </p:txBody>
      </p:sp>
      <p:sp>
        <p:nvSpPr>
          <p:cNvPr id="14" name="Rounded Rectangle 13"/>
          <p:cNvSpPr/>
          <p:nvPr/>
        </p:nvSpPr>
        <p:spPr>
          <a:xfrm>
            <a:off x="4402666" y="1831339"/>
            <a:ext cx="3386666" cy="3048000"/>
          </a:xfrm>
          <a:prstGeom prst="roundRect">
            <a:avLst>
              <a:gd name="adj" fmla="val 3333"/>
            </a:avLst>
          </a:prstGeom>
          <a:solidFill>
            <a:srgbClr val="FBFAF6"/>
          </a:solidFill>
          <a:ln w="6350">
            <a:solidFill>
              <a:srgbClr val="E2DE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05866" y="1983739"/>
            <a:ext cx="2980266" cy="228600"/>
          </a:xfrm>
          <a:prstGeom prst="rect">
            <a:avLst/>
          </a:prstGeom>
          <a:noFill/>
        </p:spPr>
        <p:txBody>
          <a:bodyPr wrap="square" lIns="0" rIns="0" tIns="0" bIns="0" anchor="t"/>
          <a:lstStyle/>
          <a:p>
            <a:pPr>
              <a:lnSpc>
                <a:spcPct val="120000"/>
              </a:lnSpc>
            </a:pPr>
            <a:r>
              <a:rPr sz="1500" b="1">
                <a:solidFill>
                  <a:srgbClr val="24685A"/>
                </a:solidFill>
                <a:latin typeface="Arial"/>
              </a:rPr>
              <a:t>Bloc MyREO</a:t>
            </a:r>
          </a:p>
        </p:txBody>
      </p:sp>
      <p:sp>
        <p:nvSpPr>
          <p:cNvPr id="16" name="Rounded Rectangle 15"/>
          <p:cNvSpPr/>
          <p:nvPr/>
        </p:nvSpPr>
        <p:spPr>
          <a:xfrm>
            <a:off x="4605866" y="2275840"/>
            <a:ext cx="355600" cy="215900"/>
          </a:xfrm>
          <a:prstGeom prst="roundRect">
            <a:avLst>
              <a:gd name="adj" fmla="val 50000"/>
            </a:avLst>
          </a:prstGeom>
          <a:solidFill>
            <a:srgbClr val="246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05866" y="2288540"/>
            <a:ext cx="355600" cy="190500"/>
          </a:xfrm>
          <a:prstGeom prst="rect">
            <a:avLst/>
          </a:prstGeom>
          <a:noFill/>
        </p:spPr>
        <p:txBody>
          <a:bodyPr wrap="square" lIns="0" rIns="0" tIns="0" bIns="0" anchor="ctr"/>
          <a:lstStyle/>
          <a:p>
            <a:pPr algn="ctr">
              <a:lnSpc>
                <a:spcPct val="125000"/>
              </a:lnSpc>
            </a:pPr>
            <a:r>
              <a:rPr sz="1200" b="1">
                <a:solidFill>
                  <a:srgbClr val="F5F3EE"/>
                </a:solidFill>
                <a:latin typeface="Arial"/>
              </a:rPr>
              <a:t>3</a:t>
            </a:r>
          </a:p>
        </p:txBody>
      </p:sp>
      <p:sp>
        <p:nvSpPr>
          <p:cNvPr id="18" name="TextBox 17"/>
          <p:cNvSpPr txBox="1"/>
          <p:nvPr/>
        </p:nvSpPr>
        <p:spPr>
          <a:xfrm>
            <a:off x="5037666" y="2288540"/>
            <a:ext cx="1257300" cy="190500"/>
          </a:xfrm>
          <a:prstGeom prst="rect">
            <a:avLst/>
          </a:prstGeom>
          <a:noFill/>
        </p:spPr>
        <p:txBody>
          <a:bodyPr wrap="square" lIns="0" rIns="0" tIns="0" bIns="0" anchor="t"/>
          <a:lstStyle/>
          <a:p>
            <a:pPr>
              <a:lnSpc>
                <a:spcPct val="125000"/>
              </a:lnSpc>
            </a:pPr>
            <a:r>
              <a:rPr sz="1200" b="1">
                <a:solidFill>
                  <a:srgbClr val="12233B"/>
                </a:solidFill>
                <a:latin typeface="Courier New"/>
              </a:rPr>
              <a:t>reomaker_to_sv</a:t>
            </a:r>
          </a:p>
        </p:txBody>
      </p:sp>
      <p:sp>
        <p:nvSpPr>
          <p:cNvPr id="19" name="Rounded Rectangle 18"/>
          <p:cNvSpPr/>
          <p:nvPr/>
        </p:nvSpPr>
        <p:spPr>
          <a:xfrm>
            <a:off x="4605866" y="2555240"/>
            <a:ext cx="355600" cy="215900"/>
          </a:xfrm>
          <a:prstGeom prst="roundRect">
            <a:avLst>
              <a:gd name="adj" fmla="val 50000"/>
            </a:avLst>
          </a:prstGeom>
          <a:solidFill>
            <a:srgbClr val="246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605866" y="2567940"/>
            <a:ext cx="355600" cy="190500"/>
          </a:xfrm>
          <a:prstGeom prst="rect">
            <a:avLst/>
          </a:prstGeom>
          <a:noFill/>
        </p:spPr>
        <p:txBody>
          <a:bodyPr wrap="square" lIns="0" rIns="0" tIns="0" bIns="0" anchor="ctr"/>
          <a:lstStyle/>
          <a:p>
            <a:pPr algn="ctr">
              <a:lnSpc>
                <a:spcPct val="125000"/>
              </a:lnSpc>
            </a:pPr>
            <a:r>
              <a:rPr sz="1200" b="1">
                <a:solidFill>
                  <a:srgbClr val="F5F3EE"/>
                </a:solidFill>
                <a:latin typeface="Arial"/>
              </a:rPr>
              <a:t>4</a:t>
            </a:r>
          </a:p>
        </p:txBody>
      </p:sp>
      <p:sp>
        <p:nvSpPr>
          <p:cNvPr id="21" name="TextBox 20"/>
          <p:cNvSpPr txBox="1"/>
          <p:nvPr/>
        </p:nvSpPr>
        <p:spPr>
          <a:xfrm>
            <a:off x="5037666" y="2567940"/>
            <a:ext cx="1524000" cy="190500"/>
          </a:xfrm>
          <a:prstGeom prst="rect">
            <a:avLst/>
          </a:prstGeom>
          <a:noFill/>
        </p:spPr>
        <p:txBody>
          <a:bodyPr wrap="square" lIns="0" rIns="0" tIns="0" bIns="0" anchor="t"/>
          <a:lstStyle/>
          <a:p>
            <a:pPr>
              <a:lnSpc>
                <a:spcPct val="125000"/>
              </a:lnSpc>
            </a:pPr>
            <a:r>
              <a:rPr sz="1200" b="1">
                <a:solidFill>
                  <a:srgbClr val="12233B"/>
                </a:solidFill>
                <a:latin typeface="Courier New"/>
              </a:rPr>
              <a:t>myreo_calculation</a:t>
            </a:r>
          </a:p>
        </p:txBody>
      </p:sp>
      <p:sp>
        <p:nvSpPr>
          <p:cNvPr id="22" name="Rounded Rectangle 21"/>
          <p:cNvSpPr/>
          <p:nvPr/>
        </p:nvSpPr>
        <p:spPr>
          <a:xfrm>
            <a:off x="4605866" y="2834640"/>
            <a:ext cx="355600" cy="215900"/>
          </a:xfrm>
          <a:prstGeom prst="roundRect">
            <a:avLst>
              <a:gd name="adj" fmla="val 50000"/>
            </a:avLst>
          </a:prstGeom>
          <a:solidFill>
            <a:srgbClr val="246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605866" y="2847340"/>
            <a:ext cx="355600" cy="190500"/>
          </a:xfrm>
          <a:prstGeom prst="rect">
            <a:avLst/>
          </a:prstGeom>
          <a:noFill/>
        </p:spPr>
        <p:txBody>
          <a:bodyPr wrap="square" lIns="0" rIns="0" tIns="0" bIns="0" anchor="ctr"/>
          <a:lstStyle/>
          <a:p>
            <a:pPr algn="ctr">
              <a:lnSpc>
                <a:spcPct val="125000"/>
              </a:lnSpc>
            </a:pPr>
            <a:r>
              <a:rPr sz="1200" b="1">
                <a:solidFill>
                  <a:srgbClr val="F5F3EE"/>
                </a:solidFill>
                <a:latin typeface="Arial"/>
              </a:rPr>
              <a:t>5</a:t>
            </a:r>
          </a:p>
        </p:txBody>
      </p:sp>
      <p:sp>
        <p:nvSpPr>
          <p:cNvPr id="24" name="TextBox 23"/>
          <p:cNvSpPr txBox="1"/>
          <p:nvPr/>
        </p:nvSpPr>
        <p:spPr>
          <a:xfrm>
            <a:off x="5037666" y="2847340"/>
            <a:ext cx="1879600" cy="190500"/>
          </a:xfrm>
          <a:prstGeom prst="rect">
            <a:avLst/>
          </a:prstGeom>
          <a:noFill/>
        </p:spPr>
        <p:txBody>
          <a:bodyPr wrap="square" lIns="0" rIns="0" tIns="0" bIns="0" anchor="t"/>
          <a:lstStyle/>
          <a:p>
            <a:pPr>
              <a:lnSpc>
                <a:spcPct val="125000"/>
              </a:lnSpc>
            </a:pPr>
            <a:r>
              <a:rPr sz="1200" b="1">
                <a:solidFill>
                  <a:srgbClr val="12233B"/>
                </a:solidFill>
                <a:latin typeface="Courier New"/>
              </a:rPr>
              <a:t>myreo_plan_data_types</a:t>
            </a:r>
          </a:p>
        </p:txBody>
      </p:sp>
      <p:sp>
        <p:nvSpPr>
          <p:cNvPr id="25" name="Rounded Rectangle 24"/>
          <p:cNvSpPr/>
          <p:nvPr/>
        </p:nvSpPr>
        <p:spPr>
          <a:xfrm>
            <a:off x="4605866" y="3114040"/>
            <a:ext cx="355600" cy="215900"/>
          </a:xfrm>
          <a:prstGeom prst="roundRect">
            <a:avLst>
              <a:gd name="adj" fmla="val 50000"/>
            </a:avLst>
          </a:prstGeom>
          <a:solidFill>
            <a:srgbClr val="246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605866" y="3126740"/>
            <a:ext cx="355600" cy="190500"/>
          </a:xfrm>
          <a:prstGeom prst="rect">
            <a:avLst/>
          </a:prstGeom>
          <a:noFill/>
        </p:spPr>
        <p:txBody>
          <a:bodyPr wrap="square" lIns="0" rIns="0" tIns="0" bIns="0" anchor="ctr"/>
          <a:lstStyle/>
          <a:p>
            <a:pPr algn="ctr">
              <a:lnSpc>
                <a:spcPct val="125000"/>
              </a:lnSpc>
            </a:pPr>
            <a:r>
              <a:rPr sz="1200" b="1">
                <a:solidFill>
                  <a:srgbClr val="F5F3EE"/>
                </a:solidFill>
                <a:latin typeface="Arial"/>
              </a:rPr>
              <a:t>6</a:t>
            </a:r>
          </a:p>
        </p:txBody>
      </p:sp>
      <p:sp>
        <p:nvSpPr>
          <p:cNvPr id="27" name="TextBox 26"/>
          <p:cNvSpPr txBox="1"/>
          <p:nvPr/>
        </p:nvSpPr>
        <p:spPr>
          <a:xfrm>
            <a:off x="5037666" y="3126740"/>
            <a:ext cx="1257300" cy="190500"/>
          </a:xfrm>
          <a:prstGeom prst="rect">
            <a:avLst/>
          </a:prstGeom>
          <a:noFill/>
        </p:spPr>
        <p:txBody>
          <a:bodyPr wrap="square" lIns="0" rIns="0" tIns="0" bIns="0" anchor="t"/>
          <a:lstStyle/>
          <a:p>
            <a:pPr>
              <a:lnSpc>
                <a:spcPct val="125000"/>
              </a:lnSpc>
            </a:pPr>
            <a:r>
              <a:rPr sz="1200" b="1">
                <a:solidFill>
                  <a:srgbClr val="12233B"/>
                </a:solidFill>
                <a:latin typeface="Courier New"/>
              </a:rPr>
              <a:t>myreo_conso_bv</a:t>
            </a:r>
          </a:p>
        </p:txBody>
      </p:sp>
      <p:sp>
        <p:nvSpPr>
          <p:cNvPr id="28" name="Rounded Rectangle 27"/>
          <p:cNvSpPr/>
          <p:nvPr/>
        </p:nvSpPr>
        <p:spPr>
          <a:xfrm>
            <a:off x="4605866" y="3393440"/>
            <a:ext cx="355600" cy="215900"/>
          </a:xfrm>
          <a:prstGeom prst="roundRect">
            <a:avLst>
              <a:gd name="adj" fmla="val 50000"/>
            </a:avLst>
          </a:prstGeom>
          <a:solidFill>
            <a:srgbClr val="246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605866" y="3406140"/>
            <a:ext cx="355600" cy="190500"/>
          </a:xfrm>
          <a:prstGeom prst="rect">
            <a:avLst/>
          </a:prstGeom>
          <a:noFill/>
        </p:spPr>
        <p:txBody>
          <a:bodyPr wrap="square" lIns="0" rIns="0" tIns="0" bIns="0" anchor="ctr"/>
          <a:lstStyle/>
          <a:p>
            <a:pPr algn="ctr">
              <a:lnSpc>
                <a:spcPct val="125000"/>
              </a:lnSpc>
            </a:pPr>
            <a:r>
              <a:rPr sz="1200" b="1">
                <a:solidFill>
                  <a:srgbClr val="F5F3EE"/>
                </a:solidFill>
                <a:latin typeface="Arial"/>
              </a:rPr>
              <a:t>7</a:t>
            </a:r>
          </a:p>
        </p:txBody>
      </p:sp>
      <p:sp>
        <p:nvSpPr>
          <p:cNvPr id="30" name="TextBox 29"/>
          <p:cNvSpPr txBox="1"/>
          <p:nvPr/>
        </p:nvSpPr>
        <p:spPr>
          <a:xfrm>
            <a:off x="5037666" y="3406140"/>
            <a:ext cx="1524000" cy="190500"/>
          </a:xfrm>
          <a:prstGeom prst="rect">
            <a:avLst/>
          </a:prstGeom>
          <a:noFill/>
        </p:spPr>
        <p:txBody>
          <a:bodyPr wrap="square" lIns="0" rIns="0" tIns="0" bIns="0" anchor="t"/>
          <a:lstStyle/>
          <a:p>
            <a:pPr>
              <a:lnSpc>
                <a:spcPct val="125000"/>
              </a:lnSpc>
            </a:pPr>
            <a:r>
              <a:rPr sz="1200" b="1">
                <a:solidFill>
                  <a:srgbClr val="12233B"/>
                </a:solidFill>
                <a:latin typeface="Courier New"/>
              </a:rPr>
              <a:t>myreo_gts_skipper</a:t>
            </a:r>
          </a:p>
        </p:txBody>
      </p:sp>
      <p:sp>
        <p:nvSpPr>
          <p:cNvPr id="31" name="Rounded Rectangle 30"/>
          <p:cNvSpPr/>
          <p:nvPr/>
        </p:nvSpPr>
        <p:spPr>
          <a:xfrm>
            <a:off x="4605866" y="3672840"/>
            <a:ext cx="355600" cy="215900"/>
          </a:xfrm>
          <a:prstGeom prst="roundRect">
            <a:avLst>
              <a:gd name="adj" fmla="val 50000"/>
            </a:avLst>
          </a:prstGeom>
          <a:solidFill>
            <a:srgbClr val="246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605866" y="3685540"/>
            <a:ext cx="355600" cy="190500"/>
          </a:xfrm>
          <a:prstGeom prst="rect">
            <a:avLst/>
          </a:prstGeom>
          <a:noFill/>
        </p:spPr>
        <p:txBody>
          <a:bodyPr wrap="square" lIns="0" rIns="0" tIns="0" bIns="0" anchor="ctr"/>
          <a:lstStyle/>
          <a:p>
            <a:pPr algn="ctr">
              <a:lnSpc>
                <a:spcPct val="125000"/>
              </a:lnSpc>
            </a:pPr>
            <a:r>
              <a:rPr sz="1200" b="1">
                <a:solidFill>
                  <a:srgbClr val="F5F3EE"/>
                </a:solidFill>
                <a:latin typeface="Arial"/>
              </a:rPr>
              <a:t>8</a:t>
            </a:r>
          </a:p>
        </p:txBody>
      </p:sp>
      <p:sp>
        <p:nvSpPr>
          <p:cNvPr id="33" name="TextBox 32"/>
          <p:cNvSpPr txBox="1"/>
          <p:nvPr/>
        </p:nvSpPr>
        <p:spPr>
          <a:xfrm>
            <a:off x="5037666" y="3685540"/>
            <a:ext cx="1524000" cy="190500"/>
          </a:xfrm>
          <a:prstGeom prst="rect">
            <a:avLst/>
          </a:prstGeom>
          <a:noFill/>
        </p:spPr>
        <p:txBody>
          <a:bodyPr wrap="square" lIns="0" rIns="0" tIns="0" bIns="0" anchor="t"/>
          <a:lstStyle/>
          <a:p>
            <a:pPr>
              <a:lnSpc>
                <a:spcPct val="125000"/>
              </a:lnSpc>
            </a:pPr>
            <a:r>
              <a:rPr sz="1200" b="1">
                <a:solidFill>
                  <a:srgbClr val="12233B"/>
                </a:solidFill>
                <a:latin typeface="Courier New"/>
              </a:rPr>
              <a:t>myreo_dc_conso_uv</a:t>
            </a:r>
          </a:p>
        </p:txBody>
      </p:sp>
      <p:sp>
        <p:nvSpPr>
          <p:cNvPr id="34" name="Rounded Rectangle 33"/>
          <p:cNvSpPr/>
          <p:nvPr/>
        </p:nvSpPr>
        <p:spPr>
          <a:xfrm>
            <a:off x="4605866" y="3952240"/>
            <a:ext cx="355600" cy="215900"/>
          </a:xfrm>
          <a:prstGeom prst="roundRect">
            <a:avLst>
              <a:gd name="adj" fmla="val 50000"/>
            </a:avLst>
          </a:prstGeom>
          <a:solidFill>
            <a:srgbClr val="246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605866" y="3964940"/>
            <a:ext cx="355600" cy="190500"/>
          </a:xfrm>
          <a:prstGeom prst="rect">
            <a:avLst/>
          </a:prstGeom>
          <a:noFill/>
        </p:spPr>
        <p:txBody>
          <a:bodyPr wrap="square" lIns="0" rIns="0" tIns="0" bIns="0" anchor="ctr"/>
          <a:lstStyle/>
          <a:p>
            <a:pPr algn="ctr">
              <a:lnSpc>
                <a:spcPct val="125000"/>
              </a:lnSpc>
            </a:pPr>
            <a:r>
              <a:rPr sz="1200" b="1">
                <a:solidFill>
                  <a:srgbClr val="F5F3EE"/>
                </a:solidFill>
                <a:latin typeface="Arial"/>
              </a:rPr>
              <a:t>9</a:t>
            </a:r>
          </a:p>
        </p:txBody>
      </p:sp>
      <p:sp>
        <p:nvSpPr>
          <p:cNvPr id="36" name="TextBox 35"/>
          <p:cNvSpPr txBox="1"/>
          <p:nvPr/>
        </p:nvSpPr>
        <p:spPr>
          <a:xfrm>
            <a:off x="5037666" y="3964940"/>
            <a:ext cx="1968500" cy="190500"/>
          </a:xfrm>
          <a:prstGeom prst="rect">
            <a:avLst/>
          </a:prstGeom>
          <a:noFill/>
        </p:spPr>
        <p:txBody>
          <a:bodyPr wrap="square" lIns="0" rIns="0" tIns="0" bIns="0" anchor="t"/>
          <a:lstStyle/>
          <a:p>
            <a:pPr>
              <a:lnSpc>
                <a:spcPct val="125000"/>
              </a:lnSpc>
            </a:pPr>
            <a:r>
              <a:rPr sz="1200" b="1">
                <a:solidFill>
                  <a:srgbClr val="12233B"/>
                </a:solidFill>
                <a:latin typeface="Courier New"/>
              </a:rPr>
              <a:t>myreo_archive_inactive</a:t>
            </a:r>
          </a:p>
        </p:txBody>
      </p:sp>
      <p:sp>
        <p:nvSpPr>
          <p:cNvPr id="37" name="Rounded Rectangle 36"/>
          <p:cNvSpPr/>
          <p:nvPr/>
        </p:nvSpPr>
        <p:spPr>
          <a:xfrm>
            <a:off x="4605866" y="4231640"/>
            <a:ext cx="355600" cy="215900"/>
          </a:xfrm>
          <a:prstGeom prst="roundRect">
            <a:avLst>
              <a:gd name="adj" fmla="val 50000"/>
            </a:avLst>
          </a:prstGeom>
          <a:solidFill>
            <a:srgbClr val="12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605866" y="4244340"/>
            <a:ext cx="355600" cy="190500"/>
          </a:xfrm>
          <a:prstGeom prst="rect">
            <a:avLst/>
          </a:prstGeom>
          <a:noFill/>
        </p:spPr>
        <p:txBody>
          <a:bodyPr wrap="square" lIns="0" rIns="0" tIns="0" bIns="0" anchor="ctr"/>
          <a:lstStyle/>
          <a:p>
            <a:pPr algn="ctr">
              <a:lnSpc>
                <a:spcPct val="125000"/>
              </a:lnSpc>
            </a:pPr>
            <a:r>
              <a:rPr sz="1200" b="1">
                <a:solidFill>
                  <a:srgbClr val="F5F3EE"/>
                </a:solidFill>
                <a:latin typeface="Arial"/>
              </a:rPr>
              <a:t>10</a:t>
            </a:r>
          </a:p>
        </p:txBody>
      </p:sp>
      <p:sp>
        <p:nvSpPr>
          <p:cNvPr id="39" name="TextBox 38"/>
          <p:cNvSpPr txBox="1"/>
          <p:nvPr/>
        </p:nvSpPr>
        <p:spPr>
          <a:xfrm>
            <a:off x="5037666" y="4244340"/>
            <a:ext cx="1524000" cy="190500"/>
          </a:xfrm>
          <a:prstGeom prst="rect">
            <a:avLst/>
          </a:prstGeom>
          <a:noFill/>
        </p:spPr>
        <p:txBody>
          <a:bodyPr wrap="square" lIns="0" rIns="0" tIns="0" bIns="0" anchor="t"/>
          <a:lstStyle/>
          <a:p>
            <a:pPr>
              <a:lnSpc>
                <a:spcPct val="125000"/>
              </a:lnSpc>
            </a:pPr>
            <a:r>
              <a:rPr sz="1200" b="1">
                <a:solidFill>
                  <a:srgbClr val="12233B"/>
                </a:solidFill>
                <a:latin typeface="Courier New"/>
              </a:rPr>
              <a:t>mssql_conso_delta</a:t>
            </a:r>
          </a:p>
        </p:txBody>
      </p:sp>
      <p:sp>
        <p:nvSpPr>
          <p:cNvPr id="40" name="Rounded Rectangle 39"/>
          <p:cNvSpPr/>
          <p:nvPr/>
        </p:nvSpPr>
        <p:spPr>
          <a:xfrm>
            <a:off x="4605866" y="4511040"/>
            <a:ext cx="355600" cy="215900"/>
          </a:xfrm>
          <a:prstGeom prst="roundRect">
            <a:avLst>
              <a:gd name="adj" fmla="val 50000"/>
            </a:avLst>
          </a:prstGeom>
          <a:solidFill>
            <a:srgbClr val="12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605866" y="4523740"/>
            <a:ext cx="355600" cy="190500"/>
          </a:xfrm>
          <a:prstGeom prst="rect">
            <a:avLst/>
          </a:prstGeom>
          <a:noFill/>
        </p:spPr>
        <p:txBody>
          <a:bodyPr wrap="square" lIns="0" rIns="0" tIns="0" bIns="0" anchor="ctr"/>
          <a:lstStyle/>
          <a:p>
            <a:pPr algn="ctr">
              <a:lnSpc>
                <a:spcPct val="125000"/>
              </a:lnSpc>
            </a:pPr>
            <a:r>
              <a:rPr sz="1200" b="1">
                <a:solidFill>
                  <a:srgbClr val="F5F3EE"/>
                </a:solidFill>
                <a:latin typeface="Arial"/>
              </a:rPr>
              <a:t>11</a:t>
            </a:r>
          </a:p>
        </p:txBody>
      </p:sp>
      <p:sp>
        <p:nvSpPr>
          <p:cNvPr id="42" name="TextBox 41"/>
          <p:cNvSpPr txBox="1"/>
          <p:nvPr/>
        </p:nvSpPr>
        <p:spPr>
          <a:xfrm>
            <a:off x="5037666" y="4523740"/>
            <a:ext cx="901700" cy="190500"/>
          </a:xfrm>
          <a:prstGeom prst="rect">
            <a:avLst/>
          </a:prstGeom>
          <a:noFill/>
        </p:spPr>
        <p:txBody>
          <a:bodyPr wrap="square" lIns="0" rIns="0" tIns="0" bIns="0" anchor="t"/>
          <a:lstStyle/>
          <a:p>
            <a:pPr>
              <a:lnSpc>
                <a:spcPct val="125000"/>
              </a:lnSpc>
            </a:pPr>
            <a:r>
              <a:rPr sz="1200" b="1">
                <a:solidFill>
                  <a:srgbClr val="12233B"/>
                </a:solidFill>
                <a:latin typeface="Courier New"/>
              </a:rPr>
              <a:t>mssql_cube</a:t>
            </a:r>
          </a:p>
        </p:txBody>
      </p:sp>
      <p:sp>
        <p:nvSpPr>
          <p:cNvPr id="43" name="Rounded Rectangle 42"/>
          <p:cNvSpPr/>
          <p:nvPr/>
        </p:nvSpPr>
        <p:spPr>
          <a:xfrm>
            <a:off x="7992533" y="1831339"/>
            <a:ext cx="3386666" cy="2209800"/>
          </a:xfrm>
          <a:prstGeom prst="roundRect">
            <a:avLst>
              <a:gd name="adj" fmla="val 4597"/>
            </a:avLst>
          </a:prstGeom>
          <a:solidFill>
            <a:srgbClr val="FBFAF6"/>
          </a:solidFill>
          <a:ln w="6350">
            <a:solidFill>
              <a:srgbClr val="E2DE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195733" y="1983739"/>
            <a:ext cx="2980266" cy="228600"/>
          </a:xfrm>
          <a:prstGeom prst="rect">
            <a:avLst/>
          </a:prstGeom>
          <a:noFill/>
        </p:spPr>
        <p:txBody>
          <a:bodyPr wrap="square" lIns="0" rIns="0" tIns="0" bIns="0" anchor="t"/>
          <a:lstStyle/>
          <a:p>
            <a:pPr>
              <a:lnSpc>
                <a:spcPct val="120000"/>
              </a:lnSpc>
            </a:pPr>
            <a:r>
              <a:rPr sz="1500" b="1">
                <a:solidFill>
                  <a:srgbClr val="24685A"/>
                </a:solidFill>
                <a:latin typeface="Arial"/>
              </a:rPr>
              <a:t>Ajustements SQL Server</a:t>
            </a:r>
          </a:p>
        </p:txBody>
      </p:sp>
      <p:sp>
        <p:nvSpPr>
          <p:cNvPr id="45" name="Rounded Rectangle 44"/>
          <p:cNvSpPr/>
          <p:nvPr/>
        </p:nvSpPr>
        <p:spPr>
          <a:xfrm>
            <a:off x="8195733" y="2275840"/>
            <a:ext cx="355600" cy="215900"/>
          </a:xfrm>
          <a:prstGeom prst="roundRect">
            <a:avLst>
              <a:gd name="adj" fmla="val 50000"/>
            </a:avLst>
          </a:prstGeom>
          <a:solidFill>
            <a:srgbClr val="12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195733" y="2288540"/>
            <a:ext cx="355600" cy="190500"/>
          </a:xfrm>
          <a:prstGeom prst="rect">
            <a:avLst/>
          </a:prstGeom>
          <a:noFill/>
        </p:spPr>
        <p:txBody>
          <a:bodyPr wrap="square" lIns="0" rIns="0" tIns="0" bIns="0" anchor="ctr"/>
          <a:lstStyle/>
          <a:p>
            <a:pPr algn="ctr">
              <a:lnSpc>
                <a:spcPct val="125000"/>
              </a:lnSpc>
            </a:pPr>
            <a:r>
              <a:rPr sz="1200" b="1">
                <a:solidFill>
                  <a:srgbClr val="F5F3EE"/>
                </a:solidFill>
                <a:latin typeface="Arial"/>
              </a:rPr>
              <a:t>12</a:t>
            </a:r>
          </a:p>
        </p:txBody>
      </p:sp>
      <p:sp>
        <p:nvSpPr>
          <p:cNvPr id="47" name="TextBox 46"/>
          <p:cNvSpPr txBox="1"/>
          <p:nvPr/>
        </p:nvSpPr>
        <p:spPr>
          <a:xfrm>
            <a:off x="8627533" y="2288540"/>
            <a:ext cx="1435100" cy="190500"/>
          </a:xfrm>
          <a:prstGeom prst="rect">
            <a:avLst/>
          </a:prstGeom>
          <a:noFill/>
        </p:spPr>
        <p:txBody>
          <a:bodyPr wrap="square" lIns="0" rIns="0" tIns="0" bIns="0" anchor="t"/>
          <a:lstStyle/>
          <a:p>
            <a:pPr>
              <a:lnSpc>
                <a:spcPct val="125000"/>
              </a:lnSpc>
            </a:pPr>
            <a:r>
              <a:rPr sz="1200" b="1">
                <a:solidFill>
                  <a:srgbClr val="12233B"/>
                </a:solidFill>
                <a:latin typeface="Courier New"/>
              </a:rPr>
              <a:t>mssql_aju_import</a:t>
            </a:r>
          </a:p>
        </p:txBody>
      </p:sp>
      <p:sp>
        <p:nvSpPr>
          <p:cNvPr id="48" name="Rounded Rectangle 47"/>
          <p:cNvSpPr/>
          <p:nvPr/>
        </p:nvSpPr>
        <p:spPr>
          <a:xfrm>
            <a:off x="8195733" y="2555240"/>
            <a:ext cx="355600" cy="215900"/>
          </a:xfrm>
          <a:prstGeom prst="roundRect">
            <a:avLst>
              <a:gd name="adj" fmla="val 50000"/>
            </a:avLst>
          </a:prstGeom>
          <a:solidFill>
            <a:srgbClr val="12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195733" y="2567940"/>
            <a:ext cx="355600" cy="190500"/>
          </a:xfrm>
          <a:prstGeom prst="rect">
            <a:avLst/>
          </a:prstGeom>
          <a:noFill/>
        </p:spPr>
        <p:txBody>
          <a:bodyPr wrap="square" lIns="0" rIns="0" tIns="0" bIns="0" anchor="ctr"/>
          <a:lstStyle/>
          <a:p>
            <a:pPr algn="ctr">
              <a:lnSpc>
                <a:spcPct val="125000"/>
              </a:lnSpc>
            </a:pPr>
            <a:r>
              <a:rPr sz="1200" b="1">
                <a:solidFill>
                  <a:srgbClr val="F5F3EE"/>
                </a:solidFill>
                <a:latin typeface="Arial"/>
              </a:rPr>
              <a:t>13</a:t>
            </a:r>
          </a:p>
        </p:txBody>
      </p:sp>
      <p:sp>
        <p:nvSpPr>
          <p:cNvPr id="50" name="TextBox 49"/>
          <p:cNvSpPr txBox="1"/>
          <p:nvPr/>
        </p:nvSpPr>
        <p:spPr>
          <a:xfrm>
            <a:off x="8627533" y="2567940"/>
            <a:ext cx="1879600" cy="190500"/>
          </a:xfrm>
          <a:prstGeom prst="rect">
            <a:avLst/>
          </a:prstGeom>
          <a:noFill/>
        </p:spPr>
        <p:txBody>
          <a:bodyPr wrap="square" lIns="0" rIns="0" tIns="0" bIns="0" anchor="t"/>
          <a:lstStyle/>
          <a:p>
            <a:pPr>
              <a:lnSpc>
                <a:spcPct val="125000"/>
              </a:lnSpc>
            </a:pPr>
            <a:r>
              <a:rPr sz="1200" b="1">
                <a:solidFill>
                  <a:srgbClr val="12233B"/>
                </a:solidFill>
                <a:latin typeface="Courier New"/>
              </a:rPr>
              <a:t>mssql_truncate_import</a:t>
            </a:r>
          </a:p>
        </p:txBody>
      </p:sp>
      <p:sp>
        <p:nvSpPr>
          <p:cNvPr id="51" name="Rounded Rectangle 50"/>
          <p:cNvSpPr/>
          <p:nvPr/>
        </p:nvSpPr>
        <p:spPr>
          <a:xfrm>
            <a:off x="8195733" y="2834640"/>
            <a:ext cx="355600" cy="215900"/>
          </a:xfrm>
          <a:prstGeom prst="roundRect">
            <a:avLst>
              <a:gd name="adj" fmla="val 50000"/>
            </a:avLst>
          </a:prstGeom>
          <a:solidFill>
            <a:srgbClr val="246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195733" y="2847340"/>
            <a:ext cx="355600" cy="190500"/>
          </a:xfrm>
          <a:prstGeom prst="rect">
            <a:avLst/>
          </a:prstGeom>
          <a:noFill/>
        </p:spPr>
        <p:txBody>
          <a:bodyPr wrap="square" lIns="0" rIns="0" tIns="0" bIns="0" anchor="ctr"/>
          <a:lstStyle/>
          <a:p>
            <a:pPr algn="ctr">
              <a:lnSpc>
                <a:spcPct val="125000"/>
              </a:lnSpc>
            </a:pPr>
            <a:r>
              <a:rPr sz="1200" b="1">
                <a:solidFill>
                  <a:srgbClr val="F5F3EE"/>
                </a:solidFill>
                <a:latin typeface="Arial"/>
              </a:rPr>
              <a:t>14</a:t>
            </a:r>
          </a:p>
        </p:txBody>
      </p:sp>
      <p:sp>
        <p:nvSpPr>
          <p:cNvPr id="53" name="TextBox 52"/>
          <p:cNvSpPr txBox="1"/>
          <p:nvPr/>
        </p:nvSpPr>
        <p:spPr>
          <a:xfrm>
            <a:off x="8627533" y="2847340"/>
            <a:ext cx="1524000" cy="190500"/>
          </a:xfrm>
          <a:prstGeom prst="rect">
            <a:avLst/>
          </a:prstGeom>
          <a:noFill/>
        </p:spPr>
        <p:txBody>
          <a:bodyPr wrap="square" lIns="0" rIns="0" tIns="0" bIns="0" anchor="t"/>
          <a:lstStyle/>
          <a:p>
            <a:pPr>
              <a:lnSpc>
                <a:spcPct val="125000"/>
              </a:lnSpc>
            </a:pPr>
            <a:r>
              <a:rPr sz="1200" b="1">
                <a:solidFill>
                  <a:srgbClr val="12233B"/>
                </a:solidFill>
                <a:latin typeface="Courier New"/>
              </a:rPr>
              <a:t>ajust_calculation</a:t>
            </a:r>
          </a:p>
        </p:txBody>
      </p:sp>
      <p:sp>
        <p:nvSpPr>
          <p:cNvPr id="54" name="Rounded Rectangle 53"/>
          <p:cNvSpPr/>
          <p:nvPr/>
        </p:nvSpPr>
        <p:spPr>
          <a:xfrm>
            <a:off x="8195733" y="3114040"/>
            <a:ext cx="355600" cy="215900"/>
          </a:xfrm>
          <a:prstGeom prst="roundRect">
            <a:avLst>
              <a:gd name="adj" fmla="val 50000"/>
            </a:avLst>
          </a:prstGeom>
          <a:solidFill>
            <a:srgbClr val="12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195733" y="3126740"/>
            <a:ext cx="355600" cy="190500"/>
          </a:xfrm>
          <a:prstGeom prst="rect">
            <a:avLst/>
          </a:prstGeom>
          <a:noFill/>
        </p:spPr>
        <p:txBody>
          <a:bodyPr wrap="square" lIns="0" rIns="0" tIns="0" bIns="0" anchor="ctr"/>
          <a:lstStyle/>
          <a:p>
            <a:pPr algn="ctr">
              <a:lnSpc>
                <a:spcPct val="125000"/>
              </a:lnSpc>
            </a:pPr>
            <a:r>
              <a:rPr sz="1200" b="1">
                <a:solidFill>
                  <a:srgbClr val="F5F3EE"/>
                </a:solidFill>
                <a:latin typeface="Arial"/>
              </a:rPr>
              <a:t>15</a:t>
            </a:r>
          </a:p>
        </p:txBody>
      </p:sp>
      <p:sp>
        <p:nvSpPr>
          <p:cNvPr id="56" name="TextBox 55"/>
          <p:cNvSpPr txBox="1"/>
          <p:nvPr/>
        </p:nvSpPr>
        <p:spPr>
          <a:xfrm>
            <a:off x="8627533" y="3126740"/>
            <a:ext cx="1435100" cy="190500"/>
          </a:xfrm>
          <a:prstGeom prst="rect">
            <a:avLst/>
          </a:prstGeom>
          <a:noFill/>
        </p:spPr>
        <p:txBody>
          <a:bodyPr wrap="square" lIns="0" rIns="0" tIns="0" bIns="0" anchor="t"/>
          <a:lstStyle/>
          <a:p>
            <a:pPr>
              <a:lnSpc>
                <a:spcPct val="125000"/>
              </a:lnSpc>
            </a:pPr>
            <a:r>
              <a:rPr sz="1200" b="1">
                <a:solidFill>
                  <a:srgbClr val="12233B"/>
                </a:solidFill>
                <a:latin typeface="Courier New"/>
              </a:rPr>
              <a:t>mssql_aju_export</a:t>
            </a:r>
          </a:p>
        </p:txBody>
      </p:sp>
      <p:sp>
        <p:nvSpPr>
          <p:cNvPr id="57" name="Rounded Rectangle 56"/>
          <p:cNvSpPr/>
          <p:nvPr/>
        </p:nvSpPr>
        <p:spPr>
          <a:xfrm>
            <a:off x="8195733" y="3393440"/>
            <a:ext cx="355600" cy="215900"/>
          </a:xfrm>
          <a:prstGeom prst="roundRect">
            <a:avLst>
              <a:gd name="adj" fmla="val 50000"/>
            </a:avLst>
          </a:prstGeom>
          <a:solidFill>
            <a:srgbClr val="12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8195733" y="3406140"/>
            <a:ext cx="355600" cy="190500"/>
          </a:xfrm>
          <a:prstGeom prst="rect">
            <a:avLst/>
          </a:prstGeom>
          <a:noFill/>
        </p:spPr>
        <p:txBody>
          <a:bodyPr wrap="square" lIns="0" rIns="0" tIns="0" bIns="0" anchor="ctr"/>
          <a:lstStyle/>
          <a:p>
            <a:pPr algn="ctr">
              <a:lnSpc>
                <a:spcPct val="125000"/>
              </a:lnSpc>
            </a:pPr>
            <a:r>
              <a:rPr sz="1200" b="1">
                <a:solidFill>
                  <a:srgbClr val="F5F3EE"/>
                </a:solidFill>
                <a:latin typeface="Arial"/>
              </a:rPr>
              <a:t>16</a:t>
            </a:r>
          </a:p>
        </p:txBody>
      </p:sp>
      <p:sp>
        <p:nvSpPr>
          <p:cNvPr id="59" name="TextBox 58"/>
          <p:cNvSpPr txBox="1"/>
          <p:nvPr/>
        </p:nvSpPr>
        <p:spPr>
          <a:xfrm>
            <a:off x="8627533" y="3406140"/>
            <a:ext cx="1612900" cy="190500"/>
          </a:xfrm>
          <a:prstGeom prst="rect">
            <a:avLst/>
          </a:prstGeom>
          <a:noFill/>
        </p:spPr>
        <p:txBody>
          <a:bodyPr wrap="square" lIns="0" rIns="0" tIns="0" bIns="0" anchor="t"/>
          <a:lstStyle/>
          <a:p>
            <a:pPr>
              <a:lnSpc>
                <a:spcPct val="125000"/>
              </a:lnSpc>
            </a:pPr>
            <a:r>
              <a:rPr sz="1200" b="1">
                <a:solidFill>
                  <a:srgbClr val="12233B"/>
                </a:solidFill>
                <a:latin typeface="Courier New"/>
              </a:rPr>
              <a:t>mssql_send_to_fact</a:t>
            </a:r>
          </a:p>
        </p:txBody>
      </p:sp>
      <p:sp>
        <p:nvSpPr>
          <p:cNvPr id="60" name="Rounded Rectangle 59"/>
          <p:cNvSpPr/>
          <p:nvPr/>
        </p:nvSpPr>
        <p:spPr>
          <a:xfrm>
            <a:off x="8195733" y="3672840"/>
            <a:ext cx="355600" cy="215900"/>
          </a:xfrm>
          <a:prstGeom prst="roundRect">
            <a:avLst>
              <a:gd name="adj" fmla="val 50000"/>
            </a:avLst>
          </a:prstGeom>
          <a:solidFill>
            <a:srgbClr val="246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8195733" y="3685540"/>
            <a:ext cx="355600" cy="190500"/>
          </a:xfrm>
          <a:prstGeom prst="rect">
            <a:avLst/>
          </a:prstGeom>
          <a:noFill/>
        </p:spPr>
        <p:txBody>
          <a:bodyPr wrap="square" lIns="0" rIns="0" tIns="0" bIns="0" anchor="ctr"/>
          <a:lstStyle/>
          <a:p>
            <a:pPr algn="ctr">
              <a:lnSpc>
                <a:spcPct val="125000"/>
              </a:lnSpc>
            </a:pPr>
            <a:r>
              <a:rPr sz="1200" b="1">
                <a:solidFill>
                  <a:srgbClr val="F5F3EE"/>
                </a:solidFill>
                <a:latin typeface="Arial"/>
              </a:rPr>
              <a:t>17</a:t>
            </a:r>
          </a:p>
        </p:txBody>
      </p:sp>
      <p:sp>
        <p:nvSpPr>
          <p:cNvPr id="62" name="TextBox 61"/>
          <p:cNvSpPr txBox="1"/>
          <p:nvPr/>
        </p:nvSpPr>
        <p:spPr>
          <a:xfrm>
            <a:off x="8627533" y="3685540"/>
            <a:ext cx="1257300" cy="190500"/>
          </a:xfrm>
          <a:prstGeom prst="rect">
            <a:avLst/>
          </a:prstGeom>
          <a:noFill/>
        </p:spPr>
        <p:txBody>
          <a:bodyPr wrap="square" lIns="0" rIns="0" tIns="0" bIns="0" anchor="t"/>
          <a:lstStyle/>
          <a:p>
            <a:pPr>
              <a:lnSpc>
                <a:spcPct val="125000"/>
              </a:lnSpc>
            </a:pPr>
            <a:r>
              <a:rPr sz="1200" b="1">
                <a:solidFill>
                  <a:srgbClr val="12233B"/>
                </a:solidFill>
                <a:latin typeface="Courier New"/>
              </a:rPr>
              <a:t>ajust_to_depot</a:t>
            </a:r>
          </a:p>
        </p:txBody>
      </p:sp>
      <p:sp>
        <p:nvSpPr>
          <p:cNvPr id="63" name="TextBox 62"/>
          <p:cNvSpPr txBox="1"/>
          <p:nvPr/>
        </p:nvSpPr>
        <p:spPr>
          <a:xfrm>
            <a:off x="812800" y="5082540"/>
            <a:ext cx="10566400" cy="266700"/>
          </a:xfrm>
          <a:prstGeom prst="rect">
            <a:avLst/>
          </a:prstGeom>
          <a:noFill/>
        </p:spPr>
        <p:txBody>
          <a:bodyPr wrap="square" lIns="0" rIns="0" tIns="0" bIns="0" anchor="t"/>
          <a:lstStyle/>
          <a:p>
            <a:pPr>
              <a:lnSpc>
                <a:spcPct val="140000"/>
              </a:lnSpc>
            </a:pPr>
            <a:r>
              <a:rPr sz="1500" b="0">
                <a:solidFill>
                  <a:srgbClr val="46556A"/>
                </a:solidFill>
                <a:latin typeface="Arial"/>
              </a:rPr>
              <a:t>Pastille foncée : échange avec SQL Server. Sans ligne active dans le pilotage, le bloc MyREO est sauté.</a:t>
            </a:r>
          </a:p>
        </p:txBody>
      </p:sp>
      <p:sp>
        <p:nvSpPr>
          <p:cNvPr id="64" name="TextBox 63"/>
          <p:cNvSpPr txBox="1"/>
          <p:nvPr/>
        </p:nvSpPr>
        <p:spPr>
          <a:xfrm>
            <a:off x="812800" y="6261100"/>
            <a:ext cx="3644503" cy="190500"/>
          </a:xfrm>
          <a:prstGeom prst="rect">
            <a:avLst/>
          </a:prstGeom>
          <a:noFill/>
        </p:spPr>
        <p:txBody>
          <a:bodyPr wrap="square" lIns="0" rIns="0" tIns="0" bIns="0" anchor="t"/>
          <a:lstStyle/>
          <a:p>
            <a:pPr>
              <a:lnSpc>
                <a:spcPct val="125000"/>
              </a:lnSpc>
            </a:pPr>
            <a:r>
              <a:rPr sz="1200" b="0">
                <a:solidFill>
                  <a:srgbClr val="5B6677"/>
                </a:solidFill>
                <a:latin typeface="Arial"/>
              </a:rPr>
              <a:t>BSY_REO · chaînes REO AJUST, MYREO et COVID</a:t>
            </a:r>
          </a:p>
        </p:txBody>
      </p:sp>
      <p:sp>
        <p:nvSpPr>
          <p:cNvPr id="65" name="TextBox 64"/>
          <p:cNvSpPr txBox="1"/>
          <p:nvPr/>
        </p:nvSpPr>
        <p:spPr>
          <a:xfrm>
            <a:off x="11201400" y="6261100"/>
            <a:ext cx="177800" cy="190500"/>
          </a:xfrm>
          <a:prstGeom prst="rect">
            <a:avLst/>
          </a:prstGeom>
          <a:noFill/>
        </p:spPr>
        <p:txBody>
          <a:bodyPr wrap="square" lIns="0" rIns="0" tIns="0" bIns="0" anchor="t"/>
          <a:lstStyle/>
          <a:p>
            <a:pPr>
              <a:lnSpc>
                <a:spcPct val="125000"/>
              </a:lnSpc>
            </a:pPr>
            <a:r>
              <a:rPr sz="1200" b="0">
                <a:solidFill>
                  <a:srgbClr val="5B6677"/>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6858000"/>
          </a:xfrm>
          <a:prstGeom prst="rect">
            <a:avLst/>
          </a:prstGeom>
          <a:solidFill>
            <a:srgbClr val="F5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12800" y="812800"/>
            <a:ext cx="10566400" cy="190500"/>
          </a:xfrm>
          <a:prstGeom prst="rect">
            <a:avLst/>
          </a:prstGeom>
          <a:noFill/>
        </p:spPr>
        <p:txBody>
          <a:bodyPr wrap="square" lIns="0" rIns="0" tIns="0" bIns="0" anchor="t"/>
          <a:lstStyle/>
          <a:p>
            <a:pPr>
              <a:lnSpc>
                <a:spcPct val="125000"/>
              </a:lnSpc>
            </a:pPr>
            <a:r>
              <a:rPr sz="1200" b="1" spc="150">
                <a:solidFill>
                  <a:srgbClr val="24685A"/>
                </a:solidFill>
                <a:latin typeface="Arial"/>
              </a:rPr>
              <a:t>CHAÎNE COVID</a:t>
            </a:r>
          </a:p>
        </p:txBody>
      </p:sp>
      <p:sp>
        <p:nvSpPr>
          <p:cNvPr id="5" name="TextBox 4"/>
          <p:cNvSpPr txBox="1"/>
          <p:nvPr/>
        </p:nvSpPr>
        <p:spPr>
          <a:xfrm>
            <a:off x="812800" y="1079500"/>
            <a:ext cx="10566400" cy="447040"/>
          </a:xfrm>
          <a:prstGeom prst="rect">
            <a:avLst/>
          </a:prstGeom>
          <a:noFill/>
        </p:spPr>
        <p:txBody>
          <a:bodyPr wrap="square" lIns="0" rIns="0" tIns="0" bIns="0" anchor="t"/>
          <a:lstStyle/>
          <a:p>
            <a:pPr>
              <a:lnSpc>
                <a:spcPct val="110000"/>
              </a:lnSpc>
            </a:pPr>
            <a:r>
              <a:rPr sz="3200" b="1">
                <a:solidFill>
                  <a:srgbClr val="12233B"/>
                </a:solidFill>
                <a:latin typeface="Arial"/>
              </a:rPr>
              <a:t>COVID : la ventilation des ajustements</a:t>
            </a:r>
          </a:p>
        </p:txBody>
      </p:sp>
      <p:sp>
        <p:nvSpPr>
          <p:cNvPr id="6" name="Rounded Rectangle 5"/>
          <p:cNvSpPr/>
          <p:nvPr/>
        </p:nvSpPr>
        <p:spPr>
          <a:xfrm>
            <a:off x="812800" y="1831339"/>
            <a:ext cx="2260600" cy="1249680"/>
          </a:xfrm>
          <a:prstGeom prst="roundRect">
            <a:avLst>
              <a:gd name="adj" fmla="val 8130"/>
            </a:avLst>
          </a:prstGeom>
          <a:solidFill>
            <a:srgbClr val="FBFAF6"/>
          </a:solidFill>
          <a:ln w="6350">
            <a:solidFill>
              <a:srgbClr val="E2DE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5200" y="1983739"/>
            <a:ext cx="1955800" cy="228600"/>
          </a:xfrm>
          <a:prstGeom prst="rect">
            <a:avLst/>
          </a:prstGeom>
          <a:noFill/>
        </p:spPr>
        <p:txBody>
          <a:bodyPr wrap="square" lIns="0" rIns="0" tIns="0" bIns="0" anchor="t"/>
          <a:lstStyle/>
          <a:p>
            <a:pPr>
              <a:lnSpc>
                <a:spcPct val="120000"/>
              </a:lnSpc>
            </a:pPr>
            <a:r>
              <a:rPr sz="1500" b="1">
                <a:solidFill>
                  <a:srgbClr val="12233B"/>
                </a:solidFill>
                <a:latin typeface="Arial"/>
              </a:rPr>
              <a:t>Conversions</a:t>
            </a:r>
          </a:p>
        </p:txBody>
      </p:sp>
      <p:sp>
        <p:nvSpPr>
          <p:cNvPr id="8" name="TextBox 7"/>
          <p:cNvSpPr txBox="1"/>
          <p:nvPr/>
        </p:nvSpPr>
        <p:spPr>
          <a:xfrm>
            <a:off x="965200" y="2288540"/>
            <a:ext cx="1955800" cy="426719"/>
          </a:xfrm>
          <a:prstGeom prst="rect">
            <a:avLst/>
          </a:prstGeom>
          <a:noFill/>
        </p:spPr>
        <p:txBody>
          <a:bodyPr wrap="square" lIns="0" rIns="0" tIns="0" bIns="0" anchor="t"/>
          <a:lstStyle/>
          <a:p>
            <a:pPr>
              <a:lnSpc>
                <a:spcPct val="140000"/>
              </a:lnSpc>
            </a:pPr>
            <a:r>
              <a:rPr sz="1200" b="0">
                <a:solidFill>
                  <a:srgbClr val="46556A"/>
                </a:solidFill>
                <a:latin typeface="Arial"/>
              </a:rPr>
              <a:t>Chaque ajustement YTD sort en trois conversions</a:t>
            </a:r>
          </a:p>
        </p:txBody>
      </p:sp>
      <p:sp>
        <p:nvSpPr>
          <p:cNvPr id="9" name="Right Arrow 8"/>
          <p:cNvSpPr/>
          <p:nvPr/>
        </p:nvSpPr>
        <p:spPr>
          <a:xfrm>
            <a:off x="3175000" y="2379979"/>
            <a:ext cx="304800" cy="152400"/>
          </a:xfrm>
          <a:prstGeom prst="rightArrow">
            <a:avLst/>
          </a:prstGeom>
          <a:solidFill>
            <a:srgbClr val="9AA6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581400" y="1831339"/>
            <a:ext cx="2260600" cy="1249680"/>
          </a:xfrm>
          <a:prstGeom prst="roundRect">
            <a:avLst>
              <a:gd name="adj" fmla="val 8130"/>
            </a:avLst>
          </a:prstGeom>
          <a:solidFill>
            <a:srgbClr val="FBFAF6"/>
          </a:solidFill>
          <a:ln w="6350">
            <a:solidFill>
              <a:srgbClr val="E2DE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733800" y="1983739"/>
            <a:ext cx="1955800" cy="228600"/>
          </a:xfrm>
          <a:prstGeom prst="rect">
            <a:avLst/>
          </a:prstGeom>
          <a:noFill/>
        </p:spPr>
        <p:txBody>
          <a:bodyPr wrap="square" lIns="0" rIns="0" tIns="0" bIns="0" anchor="t"/>
          <a:lstStyle/>
          <a:p>
            <a:pPr>
              <a:lnSpc>
                <a:spcPct val="120000"/>
              </a:lnSpc>
            </a:pPr>
            <a:r>
              <a:rPr sz="1500" b="1">
                <a:solidFill>
                  <a:srgbClr val="12233B"/>
                </a:solidFill>
                <a:latin typeface="Arial"/>
              </a:rPr>
              <a:t>Hors effectifs</a:t>
            </a:r>
          </a:p>
        </p:txBody>
      </p:sp>
      <p:sp>
        <p:nvSpPr>
          <p:cNvPr id="12" name="TextBox 11"/>
          <p:cNvSpPr txBox="1"/>
          <p:nvPr/>
        </p:nvSpPr>
        <p:spPr>
          <a:xfrm>
            <a:off x="3733800" y="2288540"/>
            <a:ext cx="1955800" cy="640080"/>
          </a:xfrm>
          <a:prstGeom prst="rect">
            <a:avLst/>
          </a:prstGeom>
          <a:noFill/>
        </p:spPr>
        <p:txBody>
          <a:bodyPr wrap="square" lIns="0" rIns="0" tIns="0" bIns="0" anchor="t"/>
          <a:lstStyle/>
          <a:p>
            <a:pPr>
              <a:lnSpc>
                <a:spcPct val="140000"/>
              </a:lnSpc>
            </a:pPr>
            <a:r>
              <a:rPr sz="1200" b="0">
                <a:solidFill>
                  <a:srgbClr val="46556A"/>
                </a:solidFill>
                <a:latin typeface="Arial"/>
              </a:rPr>
              <a:t>MTD × facteur en DECIMAL64, puis QTD, FQ et FY</a:t>
            </a:r>
          </a:p>
        </p:txBody>
      </p:sp>
      <p:sp>
        <p:nvSpPr>
          <p:cNvPr id="13" name="Right Arrow 12"/>
          <p:cNvSpPr/>
          <p:nvPr/>
        </p:nvSpPr>
        <p:spPr>
          <a:xfrm>
            <a:off x="5943600" y="2379979"/>
            <a:ext cx="304800" cy="152400"/>
          </a:xfrm>
          <a:prstGeom prst="rightArrow">
            <a:avLst/>
          </a:prstGeom>
          <a:solidFill>
            <a:srgbClr val="9AA6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350000" y="1831339"/>
            <a:ext cx="2260600" cy="1249680"/>
          </a:xfrm>
          <a:prstGeom prst="roundRect">
            <a:avLst>
              <a:gd name="adj" fmla="val 8130"/>
            </a:avLst>
          </a:prstGeom>
          <a:solidFill>
            <a:srgbClr val="FBFAF6"/>
          </a:solidFill>
          <a:ln w="6350">
            <a:solidFill>
              <a:srgbClr val="E2DE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02400" y="1983739"/>
            <a:ext cx="1955800" cy="228600"/>
          </a:xfrm>
          <a:prstGeom prst="rect">
            <a:avLst/>
          </a:prstGeom>
          <a:noFill/>
        </p:spPr>
        <p:txBody>
          <a:bodyPr wrap="square" lIns="0" rIns="0" tIns="0" bIns="0" anchor="t"/>
          <a:lstStyle/>
          <a:p>
            <a:pPr>
              <a:lnSpc>
                <a:spcPct val="120000"/>
              </a:lnSpc>
            </a:pPr>
            <a:r>
              <a:rPr sz="1500" b="1">
                <a:solidFill>
                  <a:srgbClr val="12233B"/>
                </a:solidFill>
                <a:latin typeface="Arial"/>
              </a:rPr>
              <a:t>Effectifs GD</a:t>
            </a:r>
          </a:p>
        </p:txBody>
      </p:sp>
      <p:sp>
        <p:nvSpPr>
          <p:cNvPr id="16" name="TextBox 15"/>
          <p:cNvSpPr txBox="1"/>
          <p:nvPr/>
        </p:nvSpPr>
        <p:spPr>
          <a:xfrm>
            <a:off x="6502400" y="2288540"/>
            <a:ext cx="1955800" cy="426719"/>
          </a:xfrm>
          <a:prstGeom prst="rect">
            <a:avLst/>
          </a:prstGeom>
          <a:noFill/>
        </p:spPr>
        <p:txBody>
          <a:bodyPr wrap="square" lIns="0" rIns="0" tIns="0" bIns="0" anchor="t"/>
          <a:lstStyle/>
          <a:p>
            <a:pPr>
              <a:lnSpc>
                <a:spcPct val="140000"/>
              </a:lnSpc>
            </a:pPr>
            <a:r>
              <a:rPr sz="1200" b="0">
                <a:solidFill>
                  <a:srgbClr val="46556A"/>
                </a:solidFill>
                <a:latin typeface="Arial"/>
              </a:rPr>
              <a:t>Recopiés ; GD1 dérivé en GD2 × taux en DECIMAL32</a:t>
            </a:r>
          </a:p>
        </p:txBody>
      </p:sp>
      <p:sp>
        <p:nvSpPr>
          <p:cNvPr id="17" name="Right Arrow 16"/>
          <p:cNvSpPr/>
          <p:nvPr/>
        </p:nvSpPr>
        <p:spPr>
          <a:xfrm>
            <a:off x="8712200" y="2379979"/>
            <a:ext cx="304800" cy="152400"/>
          </a:xfrm>
          <a:prstGeom prst="rightArrow">
            <a:avLst/>
          </a:prstGeom>
          <a:solidFill>
            <a:srgbClr val="9AA6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9118600" y="1831339"/>
            <a:ext cx="2260600" cy="1249680"/>
          </a:xfrm>
          <a:prstGeom prst="roundRect">
            <a:avLst>
              <a:gd name="adj" fmla="val 8130"/>
            </a:avLst>
          </a:prstGeom>
          <a:solidFill>
            <a:srgbClr val="FBFAF6"/>
          </a:solidFill>
          <a:ln w="6350">
            <a:solidFill>
              <a:srgbClr val="E2DE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271000" y="1983739"/>
            <a:ext cx="1955800" cy="228600"/>
          </a:xfrm>
          <a:prstGeom prst="rect">
            <a:avLst/>
          </a:prstGeom>
          <a:noFill/>
        </p:spPr>
        <p:txBody>
          <a:bodyPr wrap="square" lIns="0" rIns="0" tIns="0" bIns="0" anchor="t"/>
          <a:lstStyle/>
          <a:p>
            <a:pPr>
              <a:lnSpc>
                <a:spcPct val="120000"/>
              </a:lnSpc>
            </a:pPr>
            <a:r>
              <a:rPr sz="1500" b="1">
                <a:solidFill>
                  <a:srgbClr val="12233B"/>
                </a:solidFill>
                <a:latin typeface="Arial"/>
              </a:rPr>
              <a:t>Agrégat</a:t>
            </a:r>
          </a:p>
        </p:txBody>
      </p:sp>
      <p:sp>
        <p:nvSpPr>
          <p:cNvPr id="20" name="TextBox 19"/>
          <p:cNvSpPr txBox="1"/>
          <p:nvPr/>
        </p:nvSpPr>
        <p:spPr>
          <a:xfrm>
            <a:off x="9271000" y="2288540"/>
            <a:ext cx="1955800" cy="426719"/>
          </a:xfrm>
          <a:prstGeom prst="rect">
            <a:avLst/>
          </a:prstGeom>
          <a:noFill/>
        </p:spPr>
        <p:txBody>
          <a:bodyPr wrap="square" lIns="0" rIns="0" tIns="0" bIns="0" anchor="t"/>
          <a:lstStyle/>
          <a:p>
            <a:pPr>
              <a:lnSpc>
                <a:spcPct val="140000"/>
              </a:lnSpc>
            </a:pPr>
            <a:r>
              <a:rPr sz="1200" b="0">
                <a:solidFill>
                  <a:srgbClr val="46556A"/>
                </a:solidFill>
                <a:latin typeface="Arial"/>
              </a:rPr>
              <a:t>Somme des 14 branches par axe, montants nuls écartés</a:t>
            </a:r>
          </a:p>
        </p:txBody>
      </p:sp>
      <p:graphicFrame>
        <p:nvGraphicFramePr>
          <p:cNvPr id="21" name="Table 20"/>
          <p:cNvGraphicFramePr>
            <a:graphicFrameLocks noGrp="1"/>
          </p:cNvGraphicFramePr>
          <p:nvPr/>
        </p:nvGraphicFramePr>
        <p:xfrm>
          <a:off x="812800" y="3335020"/>
          <a:ext cx="10566400" cy="2000250"/>
        </p:xfrm>
        <a:graphic>
          <a:graphicData uri="http://schemas.openxmlformats.org/drawingml/2006/table">
            <a:tbl>
              <a:tblPr/>
              <a:tblGrid>
                <a:gridCol w="2958592"/>
                <a:gridCol w="3803904"/>
                <a:gridCol w="3803904"/>
              </a:tblGrid>
              <a:tr h="400050">
                <a:tc>
                  <a:txBody>
                    <a:bodyPr wrap="square"/>
                    <a:lstStyle/>
                    <a:p>
                      <a:pPr>
                        <a:lnSpc>
                          <a:spcPct val="125000"/>
                        </a:lnSpc>
                      </a:pPr>
                    </a:p>
                  </a:txBody>
                  <a:tcPr marL="101600" marR="101600" marT="76200" marB="76200" anchor="ctr">
                    <a:solidFill>
                      <a:srgbClr val="12233B"/>
                    </a:solidFill>
                  </a:tcPr>
                </a:tc>
                <a:tc>
                  <a:txBody>
                    <a:bodyPr wrap="square"/>
                    <a:lstStyle/>
                    <a:p>
                      <a:pPr>
                        <a:lnSpc>
                          <a:spcPct val="125000"/>
                        </a:lnSpc>
                      </a:pPr>
                      <a:r>
                        <a:rPr sz="1500" b="1">
                          <a:solidFill>
                            <a:srgbClr val="E9A06A"/>
                          </a:solidFill>
                          <a:latin typeface="Arial"/>
                        </a:rPr>
                        <a:t>J1 · ajustements MyREO</a:t>
                      </a:r>
                    </a:p>
                  </a:txBody>
                  <a:tcPr marL="101600" marR="101600" marT="76200" marB="76200" anchor="ctr">
                    <a:solidFill>
                      <a:srgbClr val="12233B"/>
                    </a:solidFill>
                  </a:tcPr>
                </a:tc>
                <a:tc>
                  <a:txBody>
                    <a:bodyPr wrap="square"/>
                    <a:lstStyle/>
                    <a:p>
                      <a:pPr>
                        <a:lnSpc>
                          <a:spcPct val="125000"/>
                        </a:lnSpc>
                      </a:pPr>
                      <a:r>
                        <a:rPr sz="1500" b="1">
                          <a:solidFill>
                            <a:srgbClr val="7FB0DA"/>
                          </a:solidFill>
                          <a:latin typeface="Arial"/>
                        </a:rPr>
                        <a:t>J2 · ajustements SQL Server</a:t>
                      </a:r>
                    </a:p>
                  </a:txBody>
                  <a:tcPr marL="101600" marR="101600" marT="76200" marB="76200" anchor="ctr">
                    <a:solidFill>
                      <a:srgbClr val="12233B"/>
                    </a:solidFill>
                  </a:tcPr>
                </a:tc>
              </a:tr>
              <a:tr h="400050">
                <a:tc>
                  <a:txBody>
                    <a:bodyPr wrap="square"/>
                    <a:lstStyle/>
                    <a:p>
                      <a:pPr>
                        <a:lnSpc>
                          <a:spcPct val="125000"/>
                        </a:lnSpc>
                      </a:pPr>
                      <a:r>
                        <a:rPr sz="1500" b="1">
                          <a:solidFill>
                            <a:srgbClr val="12233B"/>
                          </a:solidFill>
                          <a:latin typeface="Arial"/>
                        </a:rPr>
                        <a:t>Conversions</a:t>
                      </a:r>
                    </a:p>
                  </a:txBody>
                  <a:tcPr marL="101600" marR="101600" marT="76200" marB="76200" anchor="ctr">
                    <a:solidFill>
                      <a:srgbClr val="F5F3EE"/>
                    </a:solidFill>
                  </a:tcPr>
                </a:tc>
                <a:tc>
                  <a:txBody>
                    <a:bodyPr wrap="square"/>
                    <a:lstStyle/>
                    <a:p>
                      <a:pPr>
                        <a:lnSpc>
                          <a:spcPct val="125000"/>
                        </a:lnSpc>
                      </a:pPr>
                      <a:r>
                        <a:rPr sz="1500" b="0">
                          <a:solidFill>
                            <a:srgbClr val="12233B"/>
                          </a:solidFill>
                          <a:latin typeface="Arial"/>
                        </a:rPr>
                        <a:t>Origine, LMLOCAL, EUROCST</a:t>
                      </a:r>
                    </a:p>
                  </a:txBody>
                  <a:tcPr marL="101600" marR="101600" marT="76200" marB="76200" anchor="ctr">
                    <a:solidFill>
                      <a:srgbClr val="F5F3EE"/>
                    </a:solidFill>
                  </a:tcPr>
                </a:tc>
                <a:tc>
                  <a:txBody>
                    <a:bodyPr wrap="square"/>
                    <a:lstStyle/>
                    <a:p>
                      <a:pPr>
                        <a:lnSpc>
                          <a:spcPct val="125000"/>
                        </a:lnSpc>
                      </a:pPr>
                      <a:r>
                        <a:rPr sz="1500" b="0">
                          <a:solidFill>
                            <a:srgbClr val="12233B"/>
                          </a:solidFill>
                          <a:latin typeface="Arial"/>
                        </a:rPr>
                        <a:t>LMLOCAL, EUROHIST, EUROCST</a:t>
                      </a:r>
                    </a:p>
                  </a:txBody>
                  <a:tcPr marL="101600" marR="101600" marT="76200" marB="76200" anchor="ctr">
                    <a:solidFill>
                      <a:srgbClr val="F5F3EE"/>
                    </a:solidFill>
                  </a:tcPr>
                </a:tc>
              </a:tr>
              <a:tr h="400050">
                <a:tc>
                  <a:txBody>
                    <a:bodyPr wrap="square"/>
                    <a:lstStyle/>
                    <a:p>
                      <a:pPr>
                        <a:lnSpc>
                          <a:spcPct val="125000"/>
                        </a:lnSpc>
                      </a:pPr>
                      <a:r>
                        <a:rPr sz="1500" b="1">
                          <a:solidFill>
                            <a:srgbClr val="12233B"/>
                          </a:solidFill>
                          <a:latin typeface="Arial"/>
                        </a:rPr>
                        <a:t>Axes de la somme</a:t>
                      </a:r>
                    </a:p>
                  </a:txBody>
                  <a:tcPr marL="101600" marR="101600" marT="76200" marB="76200" anchor="ctr">
                    <a:solidFill>
                      <a:srgbClr val="FBFAF6"/>
                    </a:solidFill>
                  </a:tcPr>
                </a:tc>
                <a:tc>
                  <a:txBody>
                    <a:bodyPr wrap="square"/>
                    <a:lstStyle/>
                    <a:p>
                      <a:pPr>
                        <a:lnSpc>
                          <a:spcPct val="125000"/>
                        </a:lnSpc>
                      </a:pPr>
                      <a:r>
                        <a:rPr sz="1500" b="0">
                          <a:solidFill>
                            <a:srgbClr val="12233B"/>
                          </a:solidFill>
                          <a:latin typeface="Arial"/>
                        </a:rPr>
                        <a:t>9 axes</a:t>
                      </a:r>
                    </a:p>
                  </a:txBody>
                  <a:tcPr marL="101600" marR="101600" marT="76200" marB="76200" anchor="ctr">
                    <a:solidFill>
                      <a:srgbClr val="FBFAF6"/>
                    </a:solidFill>
                  </a:tcPr>
                </a:tc>
                <a:tc>
                  <a:txBody>
                    <a:bodyPr wrap="square"/>
                    <a:lstStyle/>
                    <a:p>
                      <a:pPr>
                        <a:lnSpc>
                          <a:spcPct val="125000"/>
                        </a:lnSpc>
                      </a:pPr>
                      <a:r>
                        <a:rPr sz="1500" b="0">
                          <a:solidFill>
                            <a:srgbClr val="12233B"/>
                          </a:solidFill>
                          <a:latin typeface="Arial"/>
                        </a:rPr>
                        <a:t>18 colonnes</a:t>
                      </a:r>
                    </a:p>
                  </a:txBody>
                  <a:tcPr marL="101600" marR="101600" marT="76200" marB="76200" anchor="ctr">
                    <a:solidFill>
                      <a:srgbClr val="FBFAF6"/>
                    </a:solidFill>
                  </a:tcPr>
                </a:tc>
              </a:tr>
              <a:tr h="400050">
                <a:tc>
                  <a:txBody>
                    <a:bodyPr wrap="square"/>
                    <a:lstStyle/>
                    <a:p>
                      <a:pPr>
                        <a:lnSpc>
                          <a:spcPct val="125000"/>
                        </a:lnSpc>
                      </a:pPr>
                      <a:r>
                        <a:rPr sz="1500" b="1">
                          <a:solidFill>
                            <a:srgbClr val="12233B"/>
                          </a:solidFill>
                          <a:latin typeface="Arial"/>
                        </a:rPr>
                        <a:t>Taux en FQ et FY GD2</a:t>
                      </a:r>
                    </a:p>
                  </a:txBody>
                  <a:tcPr marL="101600" marR="101600" marT="76200" marB="76200" anchor="ctr">
                    <a:solidFill>
                      <a:srgbClr val="F5F3EE"/>
                    </a:solidFill>
                  </a:tcPr>
                </a:tc>
                <a:tc>
                  <a:txBody>
                    <a:bodyPr wrap="square"/>
                    <a:lstStyle/>
                    <a:p>
                      <a:pPr>
                        <a:lnSpc>
                          <a:spcPct val="125000"/>
                        </a:lnSpc>
                      </a:pPr>
                      <a:r>
                        <a:rPr sz="1500" b="0">
                          <a:solidFill>
                            <a:srgbClr val="12233B"/>
                          </a:solidFill>
                          <a:latin typeface="Arial"/>
                        </a:rPr>
                        <a:t>Non appliqué</a:t>
                      </a:r>
                    </a:p>
                  </a:txBody>
                  <a:tcPr marL="101600" marR="101600" marT="76200" marB="76200" anchor="ctr">
                    <a:solidFill>
                      <a:srgbClr val="F5F3EE"/>
                    </a:solidFill>
                  </a:tcPr>
                </a:tc>
                <a:tc>
                  <a:txBody>
                    <a:bodyPr wrap="square"/>
                    <a:lstStyle/>
                    <a:p>
                      <a:pPr>
                        <a:lnSpc>
                          <a:spcPct val="125000"/>
                        </a:lnSpc>
                      </a:pPr>
                      <a:r>
                        <a:rPr sz="1500" b="0">
                          <a:solidFill>
                            <a:srgbClr val="12233B"/>
                          </a:solidFill>
                          <a:latin typeface="Arial"/>
                        </a:rPr>
                        <a:t>Appliqué</a:t>
                      </a:r>
                    </a:p>
                  </a:txBody>
                  <a:tcPr marL="101600" marR="101600" marT="76200" marB="76200" anchor="ctr">
                    <a:solidFill>
                      <a:srgbClr val="F5F3EE"/>
                    </a:solidFill>
                  </a:tcPr>
                </a:tc>
              </a:tr>
              <a:tr h="400050">
                <a:tc>
                  <a:txBody>
                    <a:bodyPr wrap="square"/>
                    <a:lstStyle/>
                    <a:p>
                      <a:pPr>
                        <a:lnSpc>
                          <a:spcPct val="125000"/>
                        </a:lnSpc>
                      </a:pPr>
                      <a:r>
                        <a:rPr sz="1500" b="1">
                          <a:solidFill>
                            <a:srgbClr val="12233B"/>
                          </a:solidFill>
                          <a:latin typeface="Arial"/>
                        </a:rPr>
                        <a:t>FY hors effectifs</a:t>
                      </a:r>
                    </a:p>
                  </a:txBody>
                  <a:tcPr marL="101600" marR="101600" marT="76200" marB="76200" anchor="ctr">
                    <a:solidFill>
                      <a:srgbClr val="FBFAF6"/>
                    </a:solidFill>
                  </a:tcPr>
                </a:tc>
                <a:tc>
                  <a:txBody>
                    <a:bodyPr wrap="square"/>
                    <a:lstStyle/>
                    <a:p>
                      <a:pPr>
                        <a:lnSpc>
                          <a:spcPct val="125000"/>
                        </a:lnSpc>
                      </a:pPr>
                      <a:r>
                        <a:rPr sz="1500" b="0">
                          <a:solidFill>
                            <a:srgbClr val="12233B"/>
                          </a:solidFill>
                          <a:latin typeface="Arial"/>
                        </a:rPr>
                        <a:t>Toutes les périodes</a:t>
                      </a:r>
                    </a:p>
                  </a:txBody>
                  <a:tcPr marL="101600" marR="101600" marT="76200" marB="76200" anchor="ctr">
                    <a:solidFill>
                      <a:srgbClr val="FBFAF6"/>
                    </a:solidFill>
                  </a:tcPr>
                </a:tc>
                <a:tc>
                  <a:txBody>
                    <a:bodyPr wrap="square"/>
                    <a:lstStyle/>
                    <a:p>
                      <a:pPr>
                        <a:lnSpc>
                          <a:spcPct val="125000"/>
                        </a:lnSpc>
                      </a:pPr>
                      <a:r>
                        <a:rPr sz="1500" b="0">
                          <a:solidFill>
                            <a:srgbClr val="12233B"/>
                          </a:solidFill>
                          <a:latin typeface="Arial"/>
                        </a:rPr>
                        <a:t>À partir de 201810</a:t>
                      </a:r>
                    </a:p>
                  </a:txBody>
                  <a:tcPr marL="101600" marR="101600" marT="76200" marB="76200" anchor="ctr">
                    <a:solidFill>
                      <a:srgbClr val="FBFAF6"/>
                    </a:solidFill>
                  </a:tcPr>
                </a:tc>
              </a:tr>
            </a:tbl>
          </a:graphicData>
        </a:graphic>
      </p:graphicFrame>
      <p:sp>
        <p:nvSpPr>
          <p:cNvPr id="22" name="TextBox 21"/>
          <p:cNvSpPr txBox="1"/>
          <p:nvPr/>
        </p:nvSpPr>
        <p:spPr>
          <a:xfrm>
            <a:off x="812800" y="6261100"/>
            <a:ext cx="3644503" cy="190500"/>
          </a:xfrm>
          <a:prstGeom prst="rect">
            <a:avLst/>
          </a:prstGeom>
          <a:noFill/>
        </p:spPr>
        <p:txBody>
          <a:bodyPr wrap="square" lIns="0" rIns="0" tIns="0" bIns="0" anchor="t"/>
          <a:lstStyle/>
          <a:p>
            <a:pPr>
              <a:lnSpc>
                <a:spcPct val="125000"/>
              </a:lnSpc>
            </a:pPr>
            <a:r>
              <a:rPr sz="1200" b="0">
                <a:solidFill>
                  <a:srgbClr val="5B6677"/>
                </a:solidFill>
                <a:latin typeface="Arial"/>
              </a:rPr>
              <a:t>BSY_REO · chaînes REO AJUST, MYREO et COVID</a:t>
            </a:r>
          </a:p>
        </p:txBody>
      </p:sp>
      <p:sp>
        <p:nvSpPr>
          <p:cNvPr id="23" name="TextBox 22"/>
          <p:cNvSpPr txBox="1"/>
          <p:nvPr/>
        </p:nvSpPr>
        <p:spPr>
          <a:xfrm>
            <a:off x="11201400" y="6261100"/>
            <a:ext cx="177800" cy="190500"/>
          </a:xfrm>
          <a:prstGeom prst="rect">
            <a:avLst/>
          </a:prstGeom>
          <a:noFill/>
        </p:spPr>
        <p:txBody>
          <a:bodyPr wrap="square" lIns="0" rIns="0" tIns="0" bIns="0" anchor="t"/>
          <a:lstStyle/>
          <a:p>
            <a:pPr>
              <a:lnSpc>
                <a:spcPct val="125000"/>
              </a:lnSpc>
            </a:pPr>
            <a:r>
              <a:rPr sz="1200" b="0">
                <a:solidFill>
                  <a:srgbClr val="5B6677"/>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6858000"/>
          </a:xfrm>
          <a:prstGeom prst="rect">
            <a:avLst/>
          </a:prstGeom>
          <a:solidFill>
            <a:srgbClr val="F5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12800" y="812800"/>
            <a:ext cx="10566400" cy="190500"/>
          </a:xfrm>
          <a:prstGeom prst="rect">
            <a:avLst/>
          </a:prstGeom>
          <a:noFill/>
        </p:spPr>
        <p:txBody>
          <a:bodyPr wrap="square" lIns="0" rIns="0" tIns="0" bIns="0" anchor="t"/>
          <a:lstStyle/>
          <a:p>
            <a:pPr>
              <a:lnSpc>
                <a:spcPct val="125000"/>
              </a:lnSpc>
            </a:pPr>
            <a:r>
              <a:rPr sz="1200" b="1" spc="150">
                <a:solidFill>
                  <a:srgbClr val="24685A"/>
                </a:solidFill>
                <a:latin typeface="Arial"/>
              </a:rPr>
              <a:t>CHAÎNE COVID</a:t>
            </a:r>
          </a:p>
        </p:txBody>
      </p:sp>
      <p:sp>
        <p:nvSpPr>
          <p:cNvPr id="5" name="TextBox 4"/>
          <p:cNvSpPr txBox="1"/>
          <p:nvPr/>
        </p:nvSpPr>
        <p:spPr>
          <a:xfrm>
            <a:off x="812800" y="1079500"/>
            <a:ext cx="10566400" cy="447040"/>
          </a:xfrm>
          <a:prstGeom prst="rect">
            <a:avLst/>
          </a:prstGeom>
          <a:noFill/>
        </p:spPr>
        <p:txBody>
          <a:bodyPr wrap="square" lIns="0" rIns="0" tIns="0" bIns="0" anchor="t"/>
          <a:lstStyle/>
          <a:p>
            <a:pPr>
              <a:lnSpc>
                <a:spcPct val="110000"/>
              </a:lnSpc>
            </a:pPr>
            <a:r>
              <a:rPr sz="3200" b="1">
                <a:solidFill>
                  <a:srgbClr val="12233B"/>
                </a:solidFill>
                <a:latin typeface="Arial"/>
              </a:rPr>
              <a:t>COVID : les échanges avec SQL Server</a:t>
            </a:r>
          </a:p>
        </p:txBody>
      </p:sp>
      <p:graphicFrame>
        <p:nvGraphicFramePr>
          <p:cNvPr id="6" name="Table 5"/>
          <p:cNvGraphicFramePr>
            <a:graphicFrameLocks noGrp="1"/>
          </p:cNvGraphicFramePr>
          <p:nvPr/>
        </p:nvGraphicFramePr>
        <p:xfrm>
          <a:off x="812800" y="1831339"/>
          <a:ext cx="10566400" cy="2453640"/>
        </p:xfrm>
        <a:graphic>
          <a:graphicData uri="http://schemas.openxmlformats.org/drawingml/2006/table">
            <a:tbl>
              <a:tblPr/>
              <a:tblGrid>
                <a:gridCol w="3381248"/>
                <a:gridCol w="7185152"/>
              </a:tblGrid>
              <a:tr h="350520">
                <a:tc>
                  <a:txBody>
                    <a:bodyPr wrap="square"/>
                    <a:lstStyle/>
                    <a:p>
                      <a:pPr>
                        <a:lnSpc>
                          <a:spcPct val="125000"/>
                        </a:lnSpc>
                      </a:pPr>
                      <a:r>
                        <a:rPr sz="1200" b="1">
                          <a:solidFill>
                            <a:srgbClr val="F5F3EE"/>
                          </a:solidFill>
                          <a:latin typeface="Courier New"/>
                        </a:rPr>
                        <a:t>Étape</a:t>
                      </a:r>
                    </a:p>
                  </a:txBody>
                  <a:tcPr marL="101600" marR="101600" marT="76200" marB="76200" anchor="ctr">
                    <a:solidFill>
                      <a:srgbClr val="12233B"/>
                    </a:solidFill>
                  </a:tcPr>
                </a:tc>
                <a:tc>
                  <a:txBody>
                    <a:bodyPr wrap="square"/>
                    <a:lstStyle/>
                    <a:p>
                      <a:pPr>
                        <a:lnSpc>
                          <a:spcPct val="125000"/>
                        </a:lnSpc>
                      </a:pPr>
                      <a:r>
                        <a:rPr sz="1200" b="1">
                          <a:solidFill>
                            <a:srgbClr val="F5F3EE"/>
                          </a:solidFill>
                          <a:latin typeface="Courier New"/>
                        </a:rPr>
                        <a:t>Opération SQL Server</a:t>
                      </a:r>
                    </a:p>
                  </a:txBody>
                  <a:tcPr marL="101600" marR="101600" marT="76200" marB="76200" anchor="ctr">
                    <a:solidFill>
                      <a:srgbClr val="12233B"/>
                    </a:solidFill>
                  </a:tcPr>
                </a:tc>
              </a:tr>
              <a:tr h="350520">
                <a:tc>
                  <a:txBody>
                    <a:bodyPr wrap="square"/>
                    <a:lstStyle/>
                    <a:p>
                      <a:pPr>
                        <a:lnSpc>
                          <a:spcPct val="125000"/>
                        </a:lnSpc>
                      </a:pPr>
                      <a:r>
                        <a:rPr sz="1200" b="0">
                          <a:solidFill>
                            <a:srgbClr val="12233B"/>
                          </a:solidFill>
                          <a:latin typeface="Courier New"/>
                        </a:rPr>
                        <a:t>mssql_conso_delta</a:t>
                      </a:r>
                    </a:p>
                  </a:txBody>
                  <a:tcPr marL="101600" marR="101600" marT="76200" marB="76200" anchor="ctr">
                    <a:solidFill>
                      <a:srgbClr val="F5F3EE"/>
                    </a:solidFill>
                  </a:tcPr>
                </a:tc>
                <a:tc>
                  <a:txBody>
                    <a:bodyPr wrap="square"/>
                    <a:lstStyle/>
                    <a:p>
                      <a:pPr>
                        <a:lnSpc>
                          <a:spcPct val="125000"/>
                        </a:lnSpc>
                      </a:pPr>
                      <a:r>
                        <a:rPr sz="1200" b="0">
                          <a:solidFill>
                            <a:srgbClr val="12233B"/>
                          </a:solidFill>
                          <a:latin typeface="Courier New"/>
                        </a:rPr>
                        <a:t>p_api_truncate_tables_conso_delta, puis INSERT dc_conso_delta</a:t>
                      </a:r>
                    </a:p>
                  </a:txBody>
                  <a:tcPr marL="101600" marR="101600" marT="76200" marB="76200" anchor="ctr">
                    <a:solidFill>
                      <a:srgbClr val="F5F3EE"/>
                    </a:solidFill>
                  </a:tcPr>
                </a:tc>
              </a:tr>
              <a:tr h="350520">
                <a:tc>
                  <a:txBody>
                    <a:bodyPr wrap="square"/>
                    <a:lstStyle/>
                    <a:p>
                      <a:pPr>
                        <a:lnSpc>
                          <a:spcPct val="125000"/>
                        </a:lnSpc>
                      </a:pPr>
                      <a:r>
                        <a:rPr sz="1200" b="0">
                          <a:solidFill>
                            <a:srgbClr val="12233B"/>
                          </a:solidFill>
                          <a:latin typeface="Courier New"/>
                        </a:rPr>
                        <a:t>mssql_cube</a:t>
                      </a:r>
                    </a:p>
                  </a:txBody>
                  <a:tcPr marL="101600" marR="101600" marT="76200" marB="76200" anchor="ctr">
                    <a:solidFill>
                      <a:srgbClr val="FBFAF6"/>
                    </a:solidFill>
                  </a:tcPr>
                </a:tc>
                <a:tc>
                  <a:txBody>
                    <a:bodyPr wrap="square"/>
                    <a:lstStyle/>
                    <a:p>
                      <a:pPr>
                        <a:lnSpc>
                          <a:spcPct val="125000"/>
                        </a:lnSpc>
                      </a:pPr>
                      <a:r>
                        <a:rPr sz="1200" b="0">
                          <a:solidFill>
                            <a:srgbClr val="12233B"/>
                          </a:solidFill>
                          <a:latin typeface="Courier New"/>
                        </a:rPr>
                        <a:t>p_api_launch_Delta_process</a:t>
                      </a:r>
                    </a:p>
                  </a:txBody>
                  <a:tcPr marL="101600" marR="101600" marT="76200" marB="76200" anchor="ctr">
                    <a:solidFill>
                      <a:srgbClr val="FBFAF6"/>
                    </a:solidFill>
                  </a:tcPr>
                </a:tc>
              </a:tr>
              <a:tr h="350520">
                <a:tc>
                  <a:txBody>
                    <a:bodyPr wrap="square"/>
                    <a:lstStyle/>
                    <a:p>
                      <a:pPr>
                        <a:lnSpc>
                          <a:spcPct val="125000"/>
                        </a:lnSpc>
                      </a:pPr>
                      <a:r>
                        <a:rPr sz="1200" b="0">
                          <a:solidFill>
                            <a:srgbClr val="12233B"/>
                          </a:solidFill>
                          <a:latin typeface="Courier New"/>
                        </a:rPr>
                        <a:t>mssql_aju_import</a:t>
                      </a:r>
                    </a:p>
                  </a:txBody>
                  <a:tcPr marL="101600" marR="101600" marT="76200" marB="76200" anchor="ctr">
                    <a:solidFill>
                      <a:srgbClr val="F5F3EE"/>
                    </a:solidFill>
                  </a:tcPr>
                </a:tc>
                <a:tc>
                  <a:txBody>
                    <a:bodyPr wrap="square"/>
                    <a:lstStyle/>
                    <a:p>
                      <a:pPr>
                        <a:lnSpc>
                          <a:spcPct val="125000"/>
                        </a:lnSpc>
                      </a:pPr>
                      <a:r>
                        <a:rPr sz="1200" b="0">
                          <a:solidFill>
                            <a:srgbClr val="12233B"/>
                          </a:solidFill>
                          <a:latin typeface="Courier New"/>
                        </a:rPr>
                        <a:t>SELECT des 20 colonnes de dbo.ajustment_reo</a:t>
                      </a:r>
                    </a:p>
                  </a:txBody>
                  <a:tcPr marL="101600" marR="101600" marT="76200" marB="76200" anchor="ctr">
                    <a:solidFill>
                      <a:srgbClr val="F5F3EE"/>
                    </a:solidFill>
                  </a:tcPr>
                </a:tc>
              </a:tr>
              <a:tr h="350520">
                <a:tc>
                  <a:txBody>
                    <a:bodyPr wrap="square"/>
                    <a:lstStyle/>
                    <a:p>
                      <a:pPr>
                        <a:lnSpc>
                          <a:spcPct val="125000"/>
                        </a:lnSpc>
                      </a:pPr>
                      <a:r>
                        <a:rPr sz="1200" b="0">
                          <a:solidFill>
                            <a:srgbClr val="12233B"/>
                          </a:solidFill>
                          <a:latin typeface="Courier New"/>
                        </a:rPr>
                        <a:t>mssql_truncate_import</a:t>
                      </a:r>
                    </a:p>
                  </a:txBody>
                  <a:tcPr marL="101600" marR="101600" marT="76200" marB="76200" anchor="ctr">
                    <a:solidFill>
                      <a:srgbClr val="FBFAF6"/>
                    </a:solidFill>
                  </a:tcPr>
                </a:tc>
                <a:tc>
                  <a:txBody>
                    <a:bodyPr wrap="square"/>
                    <a:lstStyle/>
                    <a:p>
                      <a:pPr>
                        <a:lnSpc>
                          <a:spcPct val="125000"/>
                        </a:lnSpc>
                      </a:pPr>
                      <a:r>
                        <a:rPr sz="1200" b="0">
                          <a:solidFill>
                            <a:srgbClr val="12233B"/>
                          </a:solidFill>
                          <a:latin typeface="Courier New"/>
                        </a:rPr>
                        <a:t>p_api_truncate_table_hdfs_ajustment_reo</a:t>
                      </a:r>
                    </a:p>
                  </a:txBody>
                  <a:tcPr marL="101600" marR="101600" marT="76200" marB="76200" anchor="ctr">
                    <a:solidFill>
                      <a:srgbClr val="FBFAF6"/>
                    </a:solidFill>
                  </a:tcPr>
                </a:tc>
              </a:tr>
              <a:tr h="350520">
                <a:tc>
                  <a:txBody>
                    <a:bodyPr wrap="square"/>
                    <a:lstStyle/>
                    <a:p>
                      <a:pPr>
                        <a:lnSpc>
                          <a:spcPct val="125000"/>
                        </a:lnSpc>
                      </a:pPr>
                      <a:r>
                        <a:rPr sz="1200" b="0">
                          <a:solidFill>
                            <a:srgbClr val="12233B"/>
                          </a:solidFill>
                          <a:latin typeface="Courier New"/>
                        </a:rPr>
                        <a:t>mssql_aju_export</a:t>
                      </a:r>
                    </a:p>
                  </a:txBody>
                  <a:tcPr marL="101600" marR="101600" marT="76200" marB="76200" anchor="ctr">
                    <a:solidFill>
                      <a:srgbClr val="F5F3EE"/>
                    </a:solidFill>
                  </a:tcPr>
                </a:tc>
                <a:tc>
                  <a:txBody>
                    <a:bodyPr wrap="square"/>
                    <a:lstStyle/>
                    <a:p>
                      <a:pPr>
                        <a:lnSpc>
                          <a:spcPct val="125000"/>
                        </a:lnSpc>
                      </a:pPr>
                      <a:r>
                        <a:rPr sz="1200" b="0">
                          <a:solidFill>
                            <a:srgbClr val="12233B"/>
                          </a:solidFill>
                          <a:latin typeface="Courier New"/>
                        </a:rPr>
                        <a:t>INSERT hdfs_import_ajustment_reo, 23 colonnes</a:t>
                      </a:r>
                    </a:p>
                  </a:txBody>
                  <a:tcPr marL="101600" marR="101600" marT="76200" marB="76200" anchor="ctr">
                    <a:solidFill>
                      <a:srgbClr val="F5F3EE"/>
                    </a:solidFill>
                  </a:tcPr>
                </a:tc>
              </a:tr>
              <a:tr h="350520">
                <a:tc>
                  <a:txBody>
                    <a:bodyPr wrap="square"/>
                    <a:lstStyle/>
                    <a:p>
                      <a:pPr>
                        <a:lnSpc>
                          <a:spcPct val="125000"/>
                        </a:lnSpc>
                      </a:pPr>
                      <a:r>
                        <a:rPr sz="1200" b="0">
                          <a:solidFill>
                            <a:srgbClr val="12233B"/>
                          </a:solidFill>
                          <a:latin typeface="Courier New"/>
                        </a:rPr>
                        <a:t>mssql_send_to_fact</a:t>
                      </a:r>
                    </a:p>
                  </a:txBody>
                  <a:tcPr marL="101600" marR="101600" marT="76200" marB="76200" anchor="ctr">
                    <a:solidFill>
                      <a:srgbClr val="FBFAF6"/>
                    </a:solidFill>
                  </a:tcPr>
                </a:tc>
                <a:tc>
                  <a:txBody>
                    <a:bodyPr wrap="square"/>
                    <a:lstStyle/>
                    <a:p>
                      <a:pPr>
                        <a:lnSpc>
                          <a:spcPct val="125000"/>
                        </a:lnSpc>
                      </a:pPr>
                      <a:r>
                        <a:rPr sz="1200" b="0">
                          <a:solidFill>
                            <a:srgbClr val="12233B"/>
                          </a:solidFill>
                          <a:latin typeface="Courier New"/>
                        </a:rPr>
                        <a:t>p_api_send_hdfs_ajustment_reo_to_fact</a:t>
                      </a:r>
                    </a:p>
                  </a:txBody>
                  <a:tcPr marL="101600" marR="101600" marT="76200" marB="76200" anchor="ctr">
                    <a:solidFill>
                      <a:srgbClr val="FBFAF6"/>
                    </a:solidFill>
                  </a:tcPr>
                </a:tc>
              </a:tr>
            </a:tbl>
          </a:graphicData>
        </a:graphic>
      </p:graphicFrame>
      <p:sp>
        <p:nvSpPr>
          <p:cNvPr id="7" name="Rounded Rectangle 6"/>
          <p:cNvSpPr/>
          <p:nvPr/>
        </p:nvSpPr>
        <p:spPr>
          <a:xfrm>
            <a:off x="812800" y="4538980"/>
            <a:ext cx="3420533" cy="1036319"/>
          </a:xfrm>
          <a:prstGeom prst="roundRect">
            <a:avLst>
              <a:gd name="adj" fmla="val 9803"/>
            </a:avLst>
          </a:prstGeom>
          <a:solidFill>
            <a:srgbClr val="FBFAF6"/>
          </a:solidFill>
          <a:ln w="6350">
            <a:solidFill>
              <a:srgbClr val="E2DE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16000" y="4691380"/>
            <a:ext cx="3014133" cy="228600"/>
          </a:xfrm>
          <a:prstGeom prst="rect">
            <a:avLst/>
          </a:prstGeom>
          <a:noFill/>
        </p:spPr>
        <p:txBody>
          <a:bodyPr wrap="square" lIns="0" rIns="0" tIns="0" bIns="0" anchor="t"/>
          <a:lstStyle/>
          <a:p>
            <a:pPr>
              <a:lnSpc>
                <a:spcPct val="120000"/>
              </a:lnSpc>
            </a:pPr>
            <a:r>
              <a:rPr sz="1500" b="1">
                <a:solidFill>
                  <a:srgbClr val="12233B"/>
                </a:solidFill>
                <a:latin typeface="Arial"/>
              </a:rPr>
              <a:t>Pilote</a:t>
            </a:r>
          </a:p>
        </p:txBody>
      </p:sp>
      <p:sp>
        <p:nvSpPr>
          <p:cNvPr id="9" name="TextBox 8"/>
          <p:cNvSpPr txBox="1"/>
          <p:nvPr/>
        </p:nvSpPr>
        <p:spPr>
          <a:xfrm>
            <a:off x="1016000" y="4996180"/>
            <a:ext cx="3014133" cy="426719"/>
          </a:xfrm>
          <a:prstGeom prst="rect">
            <a:avLst/>
          </a:prstGeom>
          <a:noFill/>
        </p:spPr>
        <p:txBody>
          <a:bodyPr wrap="square" lIns="0" rIns="0" tIns="0" bIns="0" anchor="t"/>
          <a:lstStyle/>
          <a:p>
            <a:pPr>
              <a:lnSpc>
                <a:spcPct val="140000"/>
              </a:lnSpc>
            </a:pPr>
            <a:r>
              <a:rPr sz="1200" b="0">
                <a:solidFill>
                  <a:srgbClr val="46556A"/>
                </a:solidFill>
                <a:latin typeface="Arial"/>
              </a:rPr>
              <a:t>mssql-jdbc, connexion par environnement, schéma dbo</a:t>
            </a:r>
          </a:p>
        </p:txBody>
      </p:sp>
      <p:sp>
        <p:nvSpPr>
          <p:cNvPr id="10" name="Rounded Rectangle 9"/>
          <p:cNvSpPr/>
          <p:nvPr/>
        </p:nvSpPr>
        <p:spPr>
          <a:xfrm>
            <a:off x="4385733" y="4538980"/>
            <a:ext cx="3420533" cy="1036319"/>
          </a:xfrm>
          <a:prstGeom prst="roundRect">
            <a:avLst>
              <a:gd name="adj" fmla="val 9803"/>
            </a:avLst>
          </a:prstGeom>
          <a:solidFill>
            <a:srgbClr val="FBFAF6"/>
          </a:solidFill>
          <a:ln w="6350">
            <a:solidFill>
              <a:srgbClr val="E2DE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88933" y="4691380"/>
            <a:ext cx="3014133" cy="228600"/>
          </a:xfrm>
          <a:prstGeom prst="rect">
            <a:avLst/>
          </a:prstGeom>
          <a:noFill/>
        </p:spPr>
        <p:txBody>
          <a:bodyPr wrap="square" lIns="0" rIns="0" tIns="0" bIns="0" anchor="t"/>
          <a:lstStyle/>
          <a:p>
            <a:pPr>
              <a:lnSpc>
                <a:spcPct val="120000"/>
              </a:lnSpc>
            </a:pPr>
            <a:r>
              <a:rPr sz="1500" b="1">
                <a:solidFill>
                  <a:srgbClr val="12233B"/>
                </a:solidFill>
                <a:latin typeface="Arial"/>
              </a:rPr>
              <a:t>Secrets</a:t>
            </a:r>
          </a:p>
        </p:txBody>
      </p:sp>
      <p:sp>
        <p:nvSpPr>
          <p:cNvPr id="12" name="TextBox 11"/>
          <p:cNvSpPr txBox="1"/>
          <p:nvPr/>
        </p:nvSpPr>
        <p:spPr>
          <a:xfrm>
            <a:off x="4588933" y="4996180"/>
            <a:ext cx="3014133" cy="426719"/>
          </a:xfrm>
          <a:prstGeom prst="rect">
            <a:avLst/>
          </a:prstGeom>
          <a:noFill/>
        </p:spPr>
        <p:txBody>
          <a:bodyPr wrap="square" lIns="0" rIns="0" tIns="0" bIns="0" anchor="t"/>
          <a:lstStyle/>
          <a:p>
            <a:pPr>
              <a:lnSpc>
                <a:spcPct val="140000"/>
              </a:lnSpc>
            </a:pPr>
            <a:r>
              <a:rPr sz="1200" b="0">
                <a:solidFill>
                  <a:srgbClr val="46556A"/>
                </a:solidFill>
                <a:latin typeface="Arial"/>
              </a:rPr>
              <a:t>Mot de passe lu dans un magasin jceks, jamais dans la configuration</a:t>
            </a:r>
          </a:p>
        </p:txBody>
      </p:sp>
      <p:sp>
        <p:nvSpPr>
          <p:cNvPr id="13" name="Rounded Rectangle 12"/>
          <p:cNvSpPr/>
          <p:nvPr/>
        </p:nvSpPr>
        <p:spPr>
          <a:xfrm>
            <a:off x="7958666" y="4538980"/>
            <a:ext cx="3420533" cy="1036319"/>
          </a:xfrm>
          <a:prstGeom prst="roundRect">
            <a:avLst>
              <a:gd name="adj" fmla="val 9803"/>
            </a:avLst>
          </a:prstGeom>
          <a:solidFill>
            <a:srgbClr val="FBFAF6"/>
          </a:solidFill>
          <a:ln w="6350">
            <a:solidFill>
              <a:srgbClr val="E2DE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61866" y="4691380"/>
            <a:ext cx="3014133" cy="228600"/>
          </a:xfrm>
          <a:prstGeom prst="rect">
            <a:avLst/>
          </a:prstGeom>
          <a:noFill/>
        </p:spPr>
        <p:txBody>
          <a:bodyPr wrap="square" lIns="0" rIns="0" tIns="0" bIns="0" anchor="t"/>
          <a:lstStyle/>
          <a:p>
            <a:pPr>
              <a:lnSpc>
                <a:spcPct val="120000"/>
              </a:lnSpc>
            </a:pPr>
            <a:r>
              <a:rPr sz="1500" b="1">
                <a:solidFill>
                  <a:srgbClr val="12233B"/>
                </a:solidFill>
                <a:latin typeface="Arial"/>
              </a:rPr>
              <a:t>Erreurs</a:t>
            </a:r>
          </a:p>
        </p:txBody>
      </p:sp>
      <p:sp>
        <p:nvSpPr>
          <p:cNvPr id="15" name="TextBox 14"/>
          <p:cNvSpPr txBox="1"/>
          <p:nvPr/>
        </p:nvSpPr>
        <p:spPr>
          <a:xfrm>
            <a:off x="8161866" y="4996180"/>
            <a:ext cx="3014133" cy="426719"/>
          </a:xfrm>
          <a:prstGeom prst="rect">
            <a:avLst/>
          </a:prstGeom>
          <a:noFill/>
        </p:spPr>
        <p:txBody>
          <a:bodyPr wrap="square" lIns="0" rIns="0" tIns="0" bIns="0" anchor="t"/>
          <a:lstStyle/>
          <a:p>
            <a:pPr>
              <a:lnSpc>
                <a:spcPct val="140000"/>
              </a:lnSpc>
            </a:pPr>
            <a:r>
              <a:rPr sz="1200" b="0">
                <a:solidFill>
                  <a:srgbClr val="46556A"/>
                </a:solidFill>
                <a:latin typeface="Arial"/>
              </a:rPr>
              <a:t>Arrêt sur erreur SQL ; code retour d’une procédure : WARN ou FAIL</a:t>
            </a:r>
          </a:p>
        </p:txBody>
      </p:sp>
      <p:sp>
        <p:nvSpPr>
          <p:cNvPr id="16" name="TextBox 15"/>
          <p:cNvSpPr txBox="1"/>
          <p:nvPr/>
        </p:nvSpPr>
        <p:spPr>
          <a:xfrm>
            <a:off x="812800" y="6261100"/>
            <a:ext cx="3644503" cy="190500"/>
          </a:xfrm>
          <a:prstGeom prst="rect">
            <a:avLst/>
          </a:prstGeom>
          <a:noFill/>
        </p:spPr>
        <p:txBody>
          <a:bodyPr wrap="square" lIns="0" rIns="0" tIns="0" bIns="0" anchor="t"/>
          <a:lstStyle/>
          <a:p>
            <a:pPr>
              <a:lnSpc>
                <a:spcPct val="125000"/>
              </a:lnSpc>
            </a:pPr>
            <a:r>
              <a:rPr sz="1200" b="0">
                <a:solidFill>
                  <a:srgbClr val="5B6677"/>
                </a:solidFill>
                <a:latin typeface="Arial"/>
              </a:rPr>
              <a:t>BSY_REO · chaînes REO AJUST, MYREO et COVID</a:t>
            </a:r>
          </a:p>
        </p:txBody>
      </p:sp>
      <p:sp>
        <p:nvSpPr>
          <p:cNvPr id="17" name="TextBox 16"/>
          <p:cNvSpPr txBox="1"/>
          <p:nvPr/>
        </p:nvSpPr>
        <p:spPr>
          <a:xfrm>
            <a:off x="11201400" y="6261100"/>
            <a:ext cx="177800" cy="190500"/>
          </a:xfrm>
          <a:prstGeom prst="rect">
            <a:avLst/>
          </a:prstGeom>
          <a:noFill/>
        </p:spPr>
        <p:txBody>
          <a:bodyPr wrap="square" lIns="0" rIns="0" tIns="0" bIns="0" anchor="t"/>
          <a:lstStyle/>
          <a:p>
            <a:pPr>
              <a:lnSpc>
                <a:spcPct val="125000"/>
              </a:lnSpc>
            </a:pPr>
            <a:r>
              <a:rPr sz="1200" b="0">
                <a:solidFill>
                  <a:srgbClr val="5B6677"/>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6858000"/>
          </a:xfrm>
          <a:prstGeom prst="rect">
            <a:avLst/>
          </a:prstGeom>
          <a:solidFill>
            <a:srgbClr val="F5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12800" y="812800"/>
            <a:ext cx="10566400" cy="190500"/>
          </a:xfrm>
          <a:prstGeom prst="rect">
            <a:avLst/>
          </a:prstGeom>
          <a:noFill/>
        </p:spPr>
        <p:txBody>
          <a:bodyPr wrap="square" lIns="0" rIns="0" tIns="0" bIns="0" anchor="t"/>
          <a:lstStyle/>
          <a:p>
            <a:pPr>
              <a:lnSpc>
                <a:spcPct val="125000"/>
              </a:lnSpc>
            </a:pPr>
            <a:r>
              <a:rPr sz="1200" b="1" spc="150">
                <a:solidFill>
                  <a:srgbClr val="46556A"/>
                </a:solidFill>
                <a:latin typeface="Arial"/>
              </a:rPr>
              <a:t>CONCEPTION</a:t>
            </a:r>
          </a:p>
        </p:txBody>
      </p:sp>
      <p:sp>
        <p:nvSpPr>
          <p:cNvPr id="5" name="TextBox 4"/>
          <p:cNvSpPr txBox="1"/>
          <p:nvPr/>
        </p:nvSpPr>
        <p:spPr>
          <a:xfrm>
            <a:off x="812800" y="1079500"/>
            <a:ext cx="10566400" cy="447040"/>
          </a:xfrm>
          <a:prstGeom prst="rect">
            <a:avLst/>
          </a:prstGeom>
          <a:noFill/>
        </p:spPr>
        <p:txBody>
          <a:bodyPr wrap="square" lIns="0" rIns="0" tIns="0" bIns="0" anchor="t"/>
          <a:lstStyle/>
          <a:p>
            <a:pPr>
              <a:lnSpc>
                <a:spcPct val="110000"/>
              </a:lnSpc>
            </a:pPr>
            <a:r>
              <a:rPr sz="3200" b="1">
                <a:solidFill>
                  <a:srgbClr val="12233B"/>
                </a:solidFill>
                <a:latin typeface="Arial"/>
              </a:rPr>
              <a:t>Les composants Talend traduits en Spark SQL</a:t>
            </a:r>
          </a:p>
        </p:txBody>
      </p:sp>
      <p:graphicFrame>
        <p:nvGraphicFramePr>
          <p:cNvPr id="6" name="Table 5"/>
          <p:cNvGraphicFramePr>
            <a:graphicFrameLocks noGrp="1"/>
          </p:cNvGraphicFramePr>
          <p:nvPr/>
        </p:nvGraphicFramePr>
        <p:xfrm>
          <a:off x="812800" y="1831339"/>
          <a:ext cx="10566400" cy="3600450"/>
        </p:xfrm>
        <a:graphic>
          <a:graphicData uri="http://schemas.openxmlformats.org/drawingml/2006/table">
            <a:tbl>
              <a:tblPr/>
              <a:tblGrid>
                <a:gridCol w="4754880"/>
                <a:gridCol w="5811520"/>
              </a:tblGrid>
              <a:tr h="400050">
                <a:tc>
                  <a:txBody>
                    <a:bodyPr wrap="square"/>
                    <a:lstStyle/>
                    <a:p>
                      <a:pPr>
                        <a:lnSpc>
                          <a:spcPct val="125000"/>
                        </a:lnSpc>
                      </a:pPr>
                      <a:r>
                        <a:rPr sz="1500" b="1">
                          <a:solidFill>
                            <a:srgbClr val="F5F3EE"/>
                          </a:solidFill>
                          <a:latin typeface="Arial"/>
                        </a:rPr>
                        <a:t>Composant Talend</a:t>
                      </a:r>
                    </a:p>
                  </a:txBody>
                  <a:tcPr marL="101600" marR="101600" marT="76200" marB="76200" anchor="ctr">
                    <a:solidFill>
                      <a:srgbClr val="12233B"/>
                    </a:solidFill>
                  </a:tcPr>
                </a:tc>
                <a:tc>
                  <a:txBody>
                    <a:bodyPr wrap="square"/>
                    <a:lstStyle/>
                    <a:p>
                      <a:pPr>
                        <a:lnSpc>
                          <a:spcPct val="125000"/>
                        </a:lnSpc>
                      </a:pPr>
                      <a:r>
                        <a:rPr sz="1500" b="1">
                          <a:solidFill>
                            <a:srgbClr val="F5F3EE"/>
                          </a:solidFill>
                          <a:latin typeface="Arial"/>
                        </a:rPr>
                        <a:t>Équivalent Spark SQL</a:t>
                      </a:r>
                    </a:p>
                  </a:txBody>
                  <a:tcPr marL="101600" marR="101600" marT="76200" marB="76200" anchor="ctr">
                    <a:solidFill>
                      <a:srgbClr val="12233B"/>
                    </a:solidFill>
                  </a:tcPr>
                </a:tc>
              </a:tr>
              <a:tr h="400050">
                <a:tc>
                  <a:txBody>
                    <a:bodyPr wrap="square"/>
                    <a:lstStyle/>
                    <a:p>
                      <a:pPr>
                        <a:lnSpc>
                          <a:spcPct val="125000"/>
                        </a:lnSpc>
                      </a:pPr>
                      <a:r>
                        <a:rPr sz="1500" b="0">
                          <a:solidFill>
                            <a:srgbClr val="12233B"/>
                          </a:solidFill>
                          <a:latin typeface="Arial"/>
                        </a:rPr>
                        <a:t>Lookup « correspondance unique »</a:t>
                      </a:r>
                    </a:p>
                  </a:txBody>
                  <a:tcPr marL="101600" marR="101600" marT="76200" marB="76200" anchor="ctr">
                    <a:solidFill>
                      <a:srgbClr val="F5F3EE"/>
                    </a:solidFill>
                  </a:tcPr>
                </a:tc>
                <a:tc>
                  <a:txBody>
                    <a:bodyPr wrap="square"/>
                    <a:lstStyle/>
                    <a:p>
                      <a:pPr>
                        <a:lnSpc>
                          <a:spcPct val="125000"/>
                        </a:lnSpc>
                      </a:pPr>
                      <a:r>
                        <a:rPr sz="1500" b="0">
                          <a:solidFill>
                            <a:srgbClr val="12233B"/>
                          </a:solidFill>
                          <a:latin typeface="Arial"/>
                        </a:rPr>
                        <a:t>LEFT JOIN sur un lookup dédoublonné</a:t>
                      </a:r>
                    </a:p>
                  </a:txBody>
                  <a:tcPr marL="101600" marR="101600" marT="76200" marB="76200" anchor="ctr">
                    <a:solidFill>
                      <a:srgbClr val="F5F3EE"/>
                    </a:solidFill>
                  </a:tcPr>
                </a:tc>
              </a:tr>
              <a:tr h="400050">
                <a:tc>
                  <a:txBody>
                    <a:bodyPr wrap="square"/>
                    <a:lstStyle/>
                    <a:p>
                      <a:pPr>
                        <a:lnSpc>
                          <a:spcPct val="125000"/>
                        </a:lnSpc>
                      </a:pPr>
                      <a:r>
                        <a:rPr sz="1500" b="0">
                          <a:solidFill>
                            <a:srgbClr val="12233B"/>
                          </a:solidFill>
                          <a:latin typeface="Arial"/>
                        </a:rPr>
                        <a:t>Lookup « toutes les lignes »</a:t>
                      </a:r>
                    </a:p>
                  </a:txBody>
                  <a:tcPr marL="101600" marR="101600" marT="76200" marB="76200" anchor="ctr">
                    <a:solidFill>
                      <a:srgbClr val="FBFAF6"/>
                    </a:solidFill>
                  </a:tcPr>
                </a:tc>
                <a:tc>
                  <a:txBody>
                    <a:bodyPr wrap="square"/>
                    <a:lstStyle/>
                    <a:p>
                      <a:pPr>
                        <a:lnSpc>
                          <a:spcPct val="125000"/>
                        </a:lnSpc>
                      </a:pPr>
                      <a:r>
                        <a:rPr sz="1500" b="0">
                          <a:solidFill>
                            <a:srgbClr val="12233B"/>
                          </a:solidFill>
                          <a:latin typeface="Arial"/>
                        </a:rPr>
                        <a:t>CROSS JOIN sur les lignes filtrées</a:t>
                      </a:r>
                    </a:p>
                  </a:txBody>
                  <a:tcPr marL="101600" marR="101600" marT="76200" marB="76200" anchor="ctr">
                    <a:solidFill>
                      <a:srgbClr val="FBFAF6"/>
                    </a:solidFill>
                  </a:tcPr>
                </a:tc>
              </a:tr>
              <a:tr h="400050">
                <a:tc>
                  <a:txBody>
                    <a:bodyPr wrap="square"/>
                    <a:lstStyle/>
                    <a:p>
                      <a:pPr>
                        <a:lnSpc>
                          <a:spcPct val="125000"/>
                        </a:lnSpc>
                      </a:pPr>
                      <a:r>
                        <a:rPr sz="1500" b="0">
                          <a:solidFill>
                            <a:srgbClr val="12233B"/>
                          </a:solidFill>
                          <a:latin typeface="Arial"/>
                        </a:rPr>
                        <a:t>tSqlRow</a:t>
                      </a:r>
                    </a:p>
                  </a:txBody>
                  <a:tcPr marL="101600" marR="101600" marT="76200" marB="76200" anchor="ctr">
                    <a:solidFill>
                      <a:srgbClr val="F5F3EE"/>
                    </a:solidFill>
                  </a:tcPr>
                </a:tc>
                <a:tc>
                  <a:txBody>
                    <a:bodyPr wrap="square"/>
                    <a:lstStyle/>
                    <a:p>
                      <a:pPr>
                        <a:lnSpc>
                          <a:spcPct val="125000"/>
                        </a:lnSpc>
                      </a:pPr>
                      <a:r>
                        <a:rPr sz="1500" b="0">
                          <a:solidFill>
                            <a:srgbClr val="12233B"/>
                          </a:solidFill>
                          <a:latin typeface="Arial"/>
                        </a:rPr>
                        <a:t>Requête recopiée telle quelle</a:t>
                      </a:r>
                    </a:p>
                  </a:txBody>
                  <a:tcPr marL="101600" marR="101600" marT="76200" marB="76200" anchor="ctr">
                    <a:solidFill>
                      <a:srgbClr val="F5F3EE"/>
                    </a:solidFill>
                  </a:tcPr>
                </a:tc>
              </a:tr>
              <a:tr h="400050">
                <a:tc>
                  <a:txBody>
                    <a:bodyPr wrap="square"/>
                    <a:lstStyle/>
                    <a:p>
                      <a:pPr>
                        <a:lnSpc>
                          <a:spcPct val="125000"/>
                        </a:lnSpc>
                      </a:pPr>
                      <a:r>
                        <a:rPr sz="1500" b="0">
                          <a:solidFill>
                            <a:srgbClr val="12233B"/>
                          </a:solidFill>
                          <a:latin typeface="Arial"/>
                        </a:rPr>
                        <a:t>tAggregateRow</a:t>
                      </a:r>
                    </a:p>
                  </a:txBody>
                  <a:tcPr marL="101600" marR="101600" marT="76200" marB="76200" anchor="ctr">
                    <a:solidFill>
                      <a:srgbClr val="FBFAF6"/>
                    </a:solidFill>
                  </a:tcPr>
                </a:tc>
                <a:tc>
                  <a:txBody>
                    <a:bodyPr wrap="square"/>
                    <a:lstStyle/>
                    <a:p>
                      <a:pPr>
                        <a:lnSpc>
                          <a:spcPct val="125000"/>
                        </a:lnSpc>
                      </a:pPr>
                      <a:r>
                        <a:rPr sz="1500" b="0">
                          <a:solidFill>
                            <a:srgbClr val="12233B"/>
                          </a:solidFill>
                          <a:latin typeface="Arial"/>
                        </a:rPr>
                        <a:t>SUM et GROUP BY en DECIMAL(32,16)</a:t>
                      </a:r>
                    </a:p>
                  </a:txBody>
                  <a:tcPr marL="101600" marR="101600" marT="76200" marB="76200" anchor="ctr">
                    <a:solidFill>
                      <a:srgbClr val="FBFAF6"/>
                    </a:solidFill>
                  </a:tcPr>
                </a:tc>
              </a:tr>
              <a:tr h="400050">
                <a:tc>
                  <a:txBody>
                    <a:bodyPr wrap="square"/>
                    <a:lstStyle/>
                    <a:p>
                      <a:pPr>
                        <a:lnSpc>
                          <a:spcPct val="125000"/>
                        </a:lnSpc>
                      </a:pPr>
                      <a:r>
                        <a:rPr sz="1500" b="0">
                          <a:solidFill>
                            <a:srgbClr val="12233B"/>
                          </a:solidFill>
                          <a:latin typeface="Arial"/>
                        </a:rPr>
                        <a:t>SG_StringUtils.substring(x, 1, -1)</a:t>
                      </a:r>
                    </a:p>
                  </a:txBody>
                  <a:tcPr marL="101600" marR="101600" marT="76200" marB="76200" anchor="ctr">
                    <a:solidFill>
                      <a:srgbClr val="F5F3EE"/>
                    </a:solidFill>
                  </a:tcPr>
                </a:tc>
                <a:tc>
                  <a:txBody>
                    <a:bodyPr wrap="square"/>
                    <a:lstStyle/>
                    <a:p>
                      <a:pPr>
                        <a:lnSpc>
                          <a:spcPct val="125000"/>
                        </a:lnSpc>
                      </a:pPr>
                      <a:r>
                        <a:rPr sz="1500" b="0">
                          <a:solidFill>
                            <a:srgbClr val="12233B"/>
                          </a:solidFill>
                          <a:latin typeface="Arial"/>
                        </a:rPr>
                        <a:t>SUBSTRING(x, 2, LENGTH(x) - 2)</a:t>
                      </a:r>
                    </a:p>
                  </a:txBody>
                  <a:tcPr marL="101600" marR="101600" marT="76200" marB="76200" anchor="ctr">
                    <a:solidFill>
                      <a:srgbClr val="F5F3EE"/>
                    </a:solidFill>
                  </a:tcPr>
                </a:tc>
              </a:tr>
              <a:tr h="400050">
                <a:tc>
                  <a:txBody>
                    <a:bodyPr wrap="square"/>
                    <a:lstStyle/>
                    <a:p>
                      <a:pPr>
                        <a:lnSpc>
                          <a:spcPct val="125000"/>
                        </a:lnSpc>
                      </a:pPr>
                      <a:r>
                        <a:rPr sz="1500" b="0">
                          <a:solidFill>
                            <a:srgbClr val="12233B"/>
                          </a:solidFill>
                          <a:latin typeface="Arial"/>
                        </a:rPr>
                        <a:t>SG_NumberUtils.toDouble</a:t>
                      </a:r>
                    </a:p>
                  </a:txBody>
                  <a:tcPr marL="101600" marR="101600" marT="76200" marB="76200" anchor="ctr">
                    <a:solidFill>
                      <a:srgbClr val="FBFAF6"/>
                    </a:solidFill>
                  </a:tcPr>
                </a:tc>
                <a:tc>
                  <a:txBody>
                    <a:bodyPr wrap="square"/>
                    <a:lstStyle/>
                    <a:p>
                      <a:pPr>
                        <a:lnSpc>
                          <a:spcPct val="125000"/>
                        </a:lnSpc>
                      </a:pPr>
                      <a:r>
                        <a:rPr sz="1500" b="0">
                          <a:solidFill>
                            <a:srgbClr val="12233B"/>
                          </a:solidFill>
                          <a:latin typeface="Arial"/>
                        </a:rPr>
                        <a:t>UDF Scala myreo_to_double</a:t>
                      </a:r>
                    </a:p>
                  </a:txBody>
                  <a:tcPr marL="101600" marR="101600" marT="76200" marB="76200" anchor="ctr">
                    <a:solidFill>
                      <a:srgbClr val="FBFAF6"/>
                    </a:solidFill>
                  </a:tcPr>
                </a:tc>
              </a:tr>
              <a:tr h="400050">
                <a:tc>
                  <a:txBody>
                    <a:bodyPr wrap="square"/>
                    <a:lstStyle/>
                    <a:p>
                      <a:pPr>
                        <a:lnSpc>
                          <a:spcPct val="125000"/>
                        </a:lnSpc>
                      </a:pPr>
                      <a:r>
                        <a:rPr sz="1500" b="0">
                          <a:solidFill>
                            <a:srgbClr val="12233B"/>
                          </a:solidFill>
                          <a:latin typeface="Arial"/>
                        </a:rPr>
                        <a:t>SG_StringUtils.equals(a, b)</a:t>
                      </a:r>
                    </a:p>
                  </a:txBody>
                  <a:tcPr marL="101600" marR="101600" marT="76200" marB="76200" anchor="ctr">
                    <a:solidFill>
                      <a:srgbClr val="F5F3EE"/>
                    </a:solidFill>
                  </a:tcPr>
                </a:tc>
                <a:tc>
                  <a:txBody>
                    <a:bodyPr wrap="square"/>
                    <a:lstStyle/>
                    <a:p>
                      <a:pPr>
                        <a:lnSpc>
                          <a:spcPct val="125000"/>
                        </a:lnSpc>
                      </a:pPr>
                      <a:r>
                        <a:rPr sz="1500" b="0">
                          <a:solidFill>
                            <a:srgbClr val="12233B"/>
                          </a:solidFill>
                          <a:latin typeface="Arial"/>
                        </a:rPr>
                        <a:t>a &lt;=&gt; b, égalité qui accepte null</a:t>
                      </a:r>
                    </a:p>
                  </a:txBody>
                  <a:tcPr marL="101600" marR="101600" marT="76200" marB="76200" anchor="ctr">
                    <a:solidFill>
                      <a:srgbClr val="F5F3EE"/>
                    </a:solidFill>
                  </a:tcPr>
                </a:tc>
              </a:tr>
              <a:tr h="400050">
                <a:tc>
                  <a:txBody>
                    <a:bodyPr wrap="square"/>
                    <a:lstStyle/>
                    <a:p>
                      <a:pPr>
                        <a:lnSpc>
                          <a:spcPct val="125000"/>
                        </a:lnSpc>
                      </a:pPr>
                      <a:r>
                        <a:rPr sz="1500" b="0">
                          <a:solidFill>
                            <a:srgbClr val="12233B"/>
                          </a:solidFill>
                          <a:latin typeface="Arial"/>
                        </a:rPr>
                        <a:t>multiply(x, DECIMAL64 ou 32)</a:t>
                      </a:r>
                    </a:p>
                  </a:txBody>
                  <a:tcPr marL="101600" marR="101600" marT="76200" marB="76200" anchor="ctr">
                    <a:solidFill>
                      <a:srgbClr val="FBFAF6"/>
                    </a:solidFill>
                  </a:tcPr>
                </a:tc>
                <a:tc>
                  <a:txBody>
                    <a:bodyPr wrap="square"/>
                    <a:lstStyle/>
                    <a:p>
                      <a:pPr>
                        <a:lnSpc>
                          <a:spcPct val="125000"/>
                        </a:lnSpc>
                      </a:pPr>
                      <a:r>
                        <a:rPr sz="1500" b="0">
                          <a:solidFill>
                            <a:srgbClr val="12233B"/>
                          </a:solidFill>
                          <a:latin typeface="Arial"/>
                        </a:rPr>
                        <a:t>UDF covid_mul64 et covid_mul32</a:t>
                      </a:r>
                    </a:p>
                  </a:txBody>
                  <a:tcPr marL="101600" marR="101600" marT="76200" marB="76200" anchor="ctr">
                    <a:solidFill>
                      <a:srgbClr val="FBFAF6"/>
                    </a:solidFill>
                  </a:tcPr>
                </a:tc>
              </a:tr>
            </a:tbl>
          </a:graphicData>
        </a:graphic>
      </p:graphicFrame>
      <p:sp>
        <p:nvSpPr>
          <p:cNvPr id="7" name="TextBox 6"/>
          <p:cNvSpPr txBox="1"/>
          <p:nvPr/>
        </p:nvSpPr>
        <p:spPr>
          <a:xfrm>
            <a:off x="812800" y="6261100"/>
            <a:ext cx="3644503" cy="190500"/>
          </a:xfrm>
          <a:prstGeom prst="rect">
            <a:avLst/>
          </a:prstGeom>
          <a:noFill/>
        </p:spPr>
        <p:txBody>
          <a:bodyPr wrap="square" lIns="0" rIns="0" tIns="0" bIns="0" anchor="t"/>
          <a:lstStyle/>
          <a:p>
            <a:pPr>
              <a:lnSpc>
                <a:spcPct val="125000"/>
              </a:lnSpc>
            </a:pPr>
            <a:r>
              <a:rPr sz="1200" b="0">
                <a:solidFill>
                  <a:srgbClr val="5B6677"/>
                </a:solidFill>
                <a:latin typeface="Arial"/>
              </a:rPr>
              <a:t>BSY_REO · chaînes REO AJUST, MYREO et COVID</a:t>
            </a:r>
          </a:p>
        </p:txBody>
      </p:sp>
      <p:sp>
        <p:nvSpPr>
          <p:cNvPr id="8" name="TextBox 7"/>
          <p:cNvSpPr txBox="1"/>
          <p:nvPr/>
        </p:nvSpPr>
        <p:spPr>
          <a:xfrm>
            <a:off x="11201400" y="6261100"/>
            <a:ext cx="177800" cy="190500"/>
          </a:xfrm>
          <a:prstGeom prst="rect">
            <a:avLst/>
          </a:prstGeom>
          <a:noFill/>
        </p:spPr>
        <p:txBody>
          <a:bodyPr wrap="square" lIns="0" rIns="0" tIns="0" bIns="0" anchor="t"/>
          <a:lstStyle/>
          <a:p>
            <a:pPr>
              <a:lnSpc>
                <a:spcPct val="125000"/>
              </a:lnSpc>
            </a:pPr>
            <a:r>
              <a:rPr sz="1200" b="0">
                <a:solidFill>
                  <a:srgbClr val="5B6677"/>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6858000"/>
          </a:xfrm>
          <a:prstGeom prst="rect">
            <a:avLst/>
          </a:prstGeom>
          <a:solidFill>
            <a:srgbClr val="F5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12800" y="812800"/>
            <a:ext cx="10566400" cy="190500"/>
          </a:xfrm>
          <a:prstGeom prst="rect">
            <a:avLst/>
          </a:prstGeom>
          <a:noFill/>
        </p:spPr>
        <p:txBody>
          <a:bodyPr wrap="square" lIns="0" rIns="0" tIns="0" bIns="0" anchor="t"/>
          <a:lstStyle/>
          <a:p>
            <a:pPr>
              <a:lnSpc>
                <a:spcPct val="125000"/>
              </a:lnSpc>
            </a:pPr>
            <a:r>
              <a:rPr sz="1200" b="1" spc="150">
                <a:solidFill>
                  <a:srgbClr val="46556A"/>
                </a:solidFill>
                <a:latin typeface="Arial"/>
              </a:rPr>
              <a:t>CONCEPTION</a:t>
            </a:r>
          </a:p>
        </p:txBody>
      </p:sp>
      <p:sp>
        <p:nvSpPr>
          <p:cNvPr id="5" name="TextBox 4"/>
          <p:cNvSpPr txBox="1"/>
          <p:nvPr/>
        </p:nvSpPr>
        <p:spPr>
          <a:xfrm>
            <a:off x="812800" y="1079500"/>
            <a:ext cx="10566400" cy="447040"/>
          </a:xfrm>
          <a:prstGeom prst="rect">
            <a:avLst/>
          </a:prstGeom>
          <a:noFill/>
        </p:spPr>
        <p:txBody>
          <a:bodyPr wrap="square" lIns="0" rIns="0" tIns="0" bIns="0" anchor="t"/>
          <a:lstStyle/>
          <a:p>
            <a:pPr>
              <a:lnSpc>
                <a:spcPct val="110000"/>
              </a:lnSpc>
            </a:pPr>
            <a:r>
              <a:rPr sz="3200" b="1">
                <a:solidFill>
                  <a:srgbClr val="12233B"/>
                </a:solidFill>
                <a:latin typeface="Arial"/>
              </a:rPr>
              <a:t>Un fichier de configuration par driver</a:t>
            </a:r>
          </a:p>
        </p:txBody>
      </p:sp>
      <p:sp>
        <p:nvSpPr>
          <p:cNvPr id="6" name="Rounded Rectangle 5"/>
          <p:cNvSpPr/>
          <p:nvPr/>
        </p:nvSpPr>
        <p:spPr>
          <a:xfrm>
            <a:off x="812800" y="1831339"/>
            <a:ext cx="4064000" cy="746760"/>
          </a:xfrm>
          <a:prstGeom prst="roundRect">
            <a:avLst>
              <a:gd name="adj" fmla="val 13605"/>
            </a:avLst>
          </a:prstGeom>
          <a:solidFill>
            <a:srgbClr val="FBFAF6"/>
          </a:solidFill>
          <a:ln w="6350">
            <a:solidFill>
              <a:srgbClr val="E2DE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16000" y="1958339"/>
            <a:ext cx="3657600" cy="228600"/>
          </a:xfrm>
          <a:prstGeom prst="rect">
            <a:avLst/>
          </a:prstGeom>
          <a:noFill/>
        </p:spPr>
        <p:txBody>
          <a:bodyPr wrap="square" lIns="0" rIns="0" tIns="0" bIns="0" anchor="t"/>
          <a:lstStyle/>
          <a:p>
            <a:pPr>
              <a:lnSpc>
                <a:spcPct val="120000"/>
              </a:lnSpc>
            </a:pPr>
            <a:r>
              <a:rPr sz="1500" b="1">
                <a:solidFill>
                  <a:srgbClr val="2A6496"/>
                </a:solidFill>
                <a:latin typeface="Courier New"/>
              </a:rPr>
              <a:t>conf/reo_ajust.conf</a:t>
            </a:r>
          </a:p>
        </p:txBody>
      </p:sp>
      <p:sp>
        <p:nvSpPr>
          <p:cNvPr id="8" name="TextBox 7"/>
          <p:cNvSpPr txBox="1"/>
          <p:nvPr/>
        </p:nvSpPr>
        <p:spPr>
          <a:xfrm>
            <a:off x="1016000" y="2237740"/>
            <a:ext cx="3657600" cy="213359"/>
          </a:xfrm>
          <a:prstGeom prst="rect">
            <a:avLst/>
          </a:prstGeom>
          <a:noFill/>
        </p:spPr>
        <p:txBody>
          <a:bodyPr wrap="square" lIns="0" rIns="0" tIns="0" bIns="0" anchor="t"/>
          <a:lstStyle/>
          <a:p>
            <a:pPr>
              <a:lnSpc>
                <a:spcPct val="140000"/>
              </a:lnSpc>
            </a:pPr>
            <a:r>
              <a:rPr sz="1200" b="0">
                <a:solidFill>
                  <a:srgbClr val="46556A"/>
                </a:solidFill>
                <a:latin typeface="Arial"/>
              </a:rPr>
              <a:t>12 racines, 30 tables, 6 interrupteurs</a:t>
            </a:r>
          </a:p>
        </p:txBody>
      </p:sp>
      <p:sp>
        <p:nvSpPr>
          <p:cNvPr id="9" name="Rounded Rectangle 8"/>
          <p:cNvSpPr/>
          <p:nvPr/>
        </p:nvSpPr>
        <p:spPr>
          <a:xfrm>
            <a:off x="812800" y="2705100"/>
            <a:ext cx="4064000" cy="746760"/>
          </a:xfrm>
          <a:prstGeom prst="roundRect">
            <a:avLst>
              <a:gd name="adj" fmla="val 13605"/>
            </a:avLst>
          </a:prstGeom>
          <a:solidFill>
            <a:srgbClr val="FBFAF6"/>
          </a:solidFill>
          <a:ln w="6350">
            <a:solidFill>
              <a:srgbClr val="E2DE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6000" y="2832100"/>
            <a:ext cx="3657600" cy="228600"/>
          </a:xfrm>
          <a:prstGeom prst="rect">
            <a:avLst/>
          </a:prstGeom>
          <a:noFill/>
        </p:spPr>
        <p:txBody>
          <a:bodyPr wrap="square" lIns="0" rIns="0" tIns="0" bIns="0" anchor="t"/>
          <a:lstStyle/>
          <a:p>
            <a:pPr>
              <a:lnSpc>
                <a:spcPct val="120000"/>
              </a:lnSpc>
            </a:pPr>
            <a:r>
              <a:rPr sz="1500" b="1">
                <a:solidFill>
                  <a:srgbClr val="A9531C"/>
                </a:solidFill>
                <a:latin typeface="Courier New"/>
              </a:rPr>
              <a:t>conf/reo_myreo.conf</a:t>
            </a:r>
          </a:p>
        </p:txBody>
      </p:sp>
      <p:sp>
        <p:nvSpPr>
          <p:cNvPr id="11" name="TextBox 10"/>
          <p:cNvSpPr txBox="1"/>
          <p:nvPr/>
        </p:nvSpPr>
        <p:spPr>
          <a:xfrm>
            <a:off x="1016000" y="3111500"/>
            <a:ext cx="3657600" cy="213359"/>
          </a:xfrm>
          <a:prstGeom prst="rect">
            <a:avLst/>
          </a:prstGeom>
          <a:noFill/>
        </p:spPr>
        <p:txBody>
          <a:bodyPr wrap="square" lIns="0" rIns="0" tIns="0" bIns="0" anchor="t"/>
          <a:lstStyle/>
          <a:p>
            <a:pPr>
              <a:lnSpc>
                <a:spcPct val="140000"/>
              </a:lnSpc>
            </a:pPr>
            <a:r>
              <a:rPr sz="1200" b="0">
                <a:solidFill>
                  <a:srgbClr val="46556A"/>
                </a:solidFill>
                <a:latin typeface="Arial"/>
              </a:rPr>
              <a:t>4 racines, 5 tables, 3 interrupteurs</a:t>
            </a:r>
          </a:p>
        </p:txBody>
      </p:sp>
      <p:sp>
        <p:nvSpPr>
          <p:cNvPr id="12" name="Rounded Rectangle 11"/>
          <p:cNvSpPr/>
          <p:nvPr/>
        </p:nvSpPr>
        <p:spPr>
          <a:xfrm>
            <a:off x="812800" y="3578860"/>
            <a:ext cx="4064000" cy="746760"/>
          </a:xfrm>
          <a:prstGeom prst="roundRect">
            <a:avLst>
              <a:gd name="adj" fmla="val 13605"/>
            </a:avLst>
          </a:prstGeom>
          <a:solidFill>
            <a:srgbClr val="FBFAF6"/>
          </a:solidFill>
          <a:ln w="6350">
            <a:solidFill>
              <a:srgbClr val="E2DE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16000" y="3705860"/>
            <a:ext cx="3657600" cy="228600"/>
          </a:xfrm>
          <a:prstGeom prst="rect">
            <a:avLst/>
          </a:prstGeom>
          <a:noFill/>
        </p:spPr>
        <p:txBody>
          <a:bodyPr wrap="square" lIns="0" rIns="0" tIns="0" bIns="0" anchor="t"/>
          <a:lstStyle/>
          <a:p>
            <a:pPr>
              <a:lnSpc>
                <a:spcPct val="120000"/>
              </a:lnSpc>
            </a:pPr>
            <a:r>
              <a:rPr sz="1500" b="1">
                <a:solidFill>
                  <a:srgbClr val="24685A"/>
                </a:solidFill>
                <a:latin typeface="Courier New"/>
              </a:rPr>
              <a:t>conf/reo_alim.conf</a:t>
            </a:r>
          </a:p>
        </p:txBody>
      </p:sp>
      <p:sp>
        <p:nvSpPr>
          <p:cNvPr id="14" name="TextBox 13"/>
          <p:cNvSpPr txBox="1"/>
          <p:nvPr/>
        </p:nvSpPr>
        <p:spPr>
          <a:xfrm>
            <a:off x="1016000" y="3985260"/>
            <a:ext cx="3657600" cy="213359"/>
          </a:xfrm>
          <a:prstGeom prst="rect">
            <a:avLst/>
          </a:prstGeom>
          <a:noFill/>
        </p:spPr>
        <p:txBody>
          <a:bodyPr wrap="square" lIns="0" rIns="0" tIns="0" bIns="0" anchor="t"/>
          <a:lstStyle/>
          <a:p>
            <a:pPr>
              <a:lnSpc>
                <a:spcPct val="140000"/>
              </a:lnSpc>
            </a:pPr>
            <a:r>
              <a:rPr sz="1200" b="0">
                <a:solidFill>
                  <a:srgbClr val="46556A"/>
                </a:solidFill>
                <a:latin typeface="Arial"/>
              </a:rPr>
              <a:t>12 racines, 49 tables, 15 interrupteurs</a:t>
            </a:r>
          </a:p>
        </p:txBody>
      </p:sp>
      <p:sp>
        <p:nvSpPr>
          <p:cNvPr id="15" name="Rounded Rectangle 14"/>
          <p:cNvSpPr/>
          <p:nvPr/>
        </p:nvSpPr>
        <p:spPr>
          <a:xfrm>
            <a:off x="5080000" y="1831339"/>
            <a:ext cx="6299200" cy="3149600"/>
          </a:xfrm>
          <a:prstGeom prst="roundRect">
            <a:avLst>
              <a:gd name="adj" fmla="val 3225"/>
            </a:avLst>
          </a:prstGeom>
          <a:solidFill>
            <a:srgbClr val="12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34000" y="2034539"/>
            <a:ext cx="5791200" cy="228600"/>
          </a:xfrm>
          <a:prstGeom prst="rect">
            <a:avLst/>
          </a:prstGeom>
          <a:noFill/>
        </p:spPr>
        <p:txBody>
          <a:bodyPr wrap="square" lIns="0" rIns="0" tIns="0" bIns="0" anchor="t"/>
          <a:lstStyle/>
          <a:p>
            <a:pPr>
              <a:lnSpc>
                <a:spcPct val="150000"/>
              </a:lnSpc>
            </a:pPr>
            <a:r>
              <a:rPr sz="1200" b="0">
                <a:solidFill>
                  <a:srgbClr val="9FB0C4"/>
                </a:solidFill>
                <a:latin typeface="Courier New"/>
              </a:rPr>
              <a:t># extrait de conf/reo_myreo.conf</a:t>
            </a:r>
          </a:p>
        </p:txBody>
      </p:sp>
      <p:sp>
        <p:nvSpPr>
          <p:cNvPr id="17" name="TextBox 16"/>
          <p:cNvSpPr txBox="1"/>
          <p:nvPr/>
        </p:nvSpPr>
        <p:spPr>
          <a:xfrm>
            <a:off x="5334000" y="2313940"/>
            <a:ext cx="5791200" cy="228600"/>
          </a:xfrm>
          <a:prstGeom prst="rect">
            <a:avLst/>
          </a:prstGeom>
          <a:noFill/>
        </p:spPr>
        <p:txBody>
          <a:bodyPr wrap="square" lIns="0" rIns="0" tIns="0" bIns="0" anchor="t"/>
          <a:lstStyle/>
          <a:p>
            <a:pPr>
              <a:lnSpc>
                <a:spcPct val="150000"/>
              </a:lnSpc>
            </a:pPr>
            <a:r>
              <a:rPr sz="1200" b="0">
                <a:solidFill>
                  <a:srgbClr val="F5F3EE"/>
                </a:solidFill>
                <a:latin typeface="Courier New"/>
              </a:rPr>
              <a:t>dfin.bsy.reo {</a:t>
            </a:r>
          </a:p>
        </p:txBody>
      </p:sp>
      <p:sp>
        <p:nvSpPr>
          <p:cNvPr id="18" name="TextBox 17"/>
          <p:cNvSpPr txBox="1"/>
          <p:nvPr/>
        </p:nvSpPr>
        <p:spPr>
          <a:xfrm>
            <a:off x="5334000" y="2593340"/>
            <a:ext cx="5791200" cy="228600"/>
          </a:xfrm>
          <a:prstGeom prst="rect">
            <a:avLst/>
          </a:prstGeom>
          <a:noFill/>
        </p:spPr>
        <p:txBody>
          <a:bodyPr wrap="square" lIns="0" rIns="0" tIns="0" bIns="0" anchor="t"/>
          <a:lstStyle/>
          <a:p>
            <a:pPr>
              <a:lnSpc>
                <a:spcPct val="150000"/>
              </a:lnSpc>
            </a:pPr>
            <a:r>
              <a:rPr sz="1200" b="0">
                <a:solidFill>
                  <a:srgbClr val="F5F3EE"/>
                </a:solidFill>
                <a:latin typeface="Courier New"/>
              </a:rPr>
              <a:t>  myreo_rd_to_sv_trt = true</a:t>
            </a:r>
          </a:p>
        </p:txBody>
      </p:sp>
      <p:sp>
        <p:nvSpPr>
          <p:cNvPr id="19" name="TextBox 18"/>
          <p:cNvSpPr txBox="1"/>
          <p:nvPr/>
        </p:nvSpPr>
        <p:spPr>
          <a:xfrm>
            <a:off x="5334000" y="2872740"/>
            <a:ext cx="5791200" cy="228600"/>
          </a:xfrm>
          <a:prstGeom prst="rect">
            <a:avLst/>
          </a:prstGeom>
          <a:noFill/>
        </p:spPr>
        <p:txBody>
          <a:bodyPr wrap="square" lIns="0" rIns="0" tIns="0" bIns="0" anchor="t"/>
          <a:lstStyle/>
          <a:p>
            <a:pPr>
              <a:lnSpc>
                <a:spcPct val="150000"/>
              </a:lnSpc>
            </a:pPr>
            <a:r>
              <a:rPr sz="1200" b="0">
                <a:solidFill>
                  <a:srgbClr val="F5F3EE"/>
                </a:solidFill>
                <a:latin typeface="Courier New"/>
              </a:rPr>
              <a:t>  roots.prd { sv_reo = "/prd/srv/…/sv_reo" }</a:t>
            </a:r>
          </a:p>
        </p:txBody>
      </p:sp>
      <p:sp>
        <p:nvSpPr>
          <p:cNvPr id="20" name="TextBox 19"/>
          <p:cNvSpPr txBox="1"/>
          <p:nvPr/>
        </p:nvSpPr>
        <p:spPr>
          <a:xfrm>
            <a:off x="5334000" y="3152140"/>
            <a:ext cx="5791200" cy="228600"/>
          </a:xfrm>
          <a:prstGeom prst="rect">
            <a:avLst/>
          </a:prstGeom>
          <a:noFill/>
        </p:spPr>
        <p:txBody>
          <a:bodyPr wrap="square" lIns="0" rIns="0" tIns="0" bIns="0" anchor="t"/>
          <a:lstStyle/>
          <a:p>
            <a:pPr>
              <a:lnSpc>
                <a:spcPct val="150000"/>
              </a:lnSpc>
            </a:pPr>
            <a:r>
              <a:rPr sz="1200" b="0">
                <a:solidFill>
                  <a:srgbClr val="F5F3EE"/>
                </a:solidFill>
                <a:latin typeface="Courier New"/>
              </a:rPr>
              <a:t>  protected_roots.prd = [ … ]</a:t>
            </a:r>
          </a:p>
        </p:txBody>
      </p:sp>
      <p:sp>
        <p:nvSpPr>
          <p:cNvPr id="21" name="TextBox 20"/>
          <p:cNvSpPr txBox="1"/>
          <p:nvPr/>
        </p:nvSpPr>
        <p:spPr>
          <a:xfrm>
            <a:off x="5334000" y="3431540"/>
            <a:ext cx="5791200" cy="228600"/>
          </a:xfrm>
          <a:prstGeom prst="rect">
            <a:avLst/>
          </a:prstGeom>
          <a:noFill/>
        </p:spPr>
        <p:txBody>
          <a:bodyPr wrap="square" lIns="0" rIns="0" tIns="0" bIns="0" anchor="t"/>
          <a:lstStyle/>
          <a:p>
            <a:pPr>
              <a:lnSpc>
                <a:spcPct val="150000"/>
              </a:lnSpc>
            </a:pPr>
            <a:r>
              <a:rPr sz="1200" b="0">
                <a:solidFill>
                  <a:srgbClr val="F5F3EE"/>
                </a:solidFill>
                <a:latin typeface="Courier New"/>
              </a:rPr>
              <a:t>}</a:t>
            </a:r>
          </a:p>
        </p:txBody>
      </p:sp>
      <p:sp>
        <p:nvSpPr>
          <p:cNvPr id="22" name="TextBox 21"/>
          <p:cNvSpPr txBox="1"/>
          <p:nvPr/>
        </p:nvSpPr>
        <p:spPr>
          <a:xfrm>
            <a:off x="5334000" y="3710940"/>
            <a:ext cx="5791200" cy="228600"/>
          </a:xfrm>
          <a:prstGeom prst="rect">
            <a:avLst/>
          </a:prstGeom>
          <a:noFill/>
        </p:spPr>
        <p:txBody>
          <a:bodyPr wrap="square" lIns="0" rIns="0" tIns="0" bIns="0" anchor="t"/>
          <a:lstStyle/>
          <a:p>
            <a:pPr>
              <a:lnSpc>
                <a:spcPct val="150000"/>
              </a:lnSpc>
            </a:pPr>
            <a:r>
              <a:rPr sz="1200" b="0">
                <a:solidFill>
                  <a:srgbClr val="F5F3EE"/>
                </a:solidFill>
                <a:latin typeface="Courier New"/>
              </a:rPr>
              <a:t>dfin.bsy.MYREO_SV {</a:t>
            </a:r>
          </a:p>
        </p:txBody>
      </p:sp>
      <p:sp>
        <p:nvSpPr>
          <p:cNvPr id="23" name="TextBox 22"/>
          <p:cNvSpPr txBox="1"/>
          <p:nvPr/>
        </p:nvSpPr>
        <p:spPr>
          <a:xfrm>
            <a:off x="5334000" y="3990340"/>
            <a:ext cx="5791200" cy="228600"/>
          </a:xfrm>
          <a:prstGeom prst="rect">
            <a:avLst/>
          </a:prstGeom>
          <a:noFill/>
        </p:spPr>
        <p:txBody>
          <a:bodyPr wrap="square" lIns="0" rIns="0" tIns="0" bIns="0" anchor="t"/>
          <a:lstStyle/>
          <a:p>
            <a:pPr>
              <a:lnSpc>
                <a:spcPct val="150000"/>
              </a:lnSpc>
            </a:pPr>
            <a:r>
              <a:rPr sz="1200" b="0">
                <a:solidFill>
                  <a:srgbClr val="F5F3EE"/>
                </a:solidFill>
                <a:latin typeface="Courier New"/>
              </a:rPr>
              <a:t>  output_root = "sv_reo"</a:t>
            </a:r>
          </a:p>
        </p:txBody>
      </p:sp>
      <p:sp>
        <p:nvSpPr>
          <p:cNvPr id="24" name="TextBox 23"/>
          <p:cNvSpPr txBox="1"/>
          <p:nvPr/>
        </p:nvSpPr>
        <p:spPr>
          <a:xfrm>
            <a:off x="5334000" y="4269740"/>
            <a:ext cx="5791200" cy="228600"/>
          </a:xfrm>
          <a:prstGeom prst="rect">
            <a:avLst/>
          </a:prstGeom>
          <a:noFill/>
        </p:spPr>
        <p:txBody>
          <a:bodyPr wrap="square" lIns="0" rIns="0" tIns="0" bIns="0" anchor="t"/>
          <a:lstStyle/>
          <a:p>
            <a:pPr>
              <a:lnSpc>
                <a:spcPct val="150000"/>
              </a:lnSpc>
            </a:pPr>
            <a:r>
              <a:rPr sz="1200" b="0">
                <a:solidFill>
                  <a:srgbClr val="F5F3EE"/>
                </a:solidFill>
                <a:latin typeface="Courier New"/>
              </a:rPr>
              <a:t>  output_rel = "/my_reo/Extract_Ajus_….csv"</a:t>
            </a:r>
          </a:p>
        </p:txBody>
      </p:sp>
      <p:sp>
        <p:nvSpPr>
          <p:cNvPr id="25" name="TextBox 24"/>
          <p:cNvSpPr txBox="1"/>
          <p:nvPr/>
        </p:nvSpPr>
        <p:spPr>
          <a:xfrm>
            <a:off x="5334000" y="4549140"/>
            <a:ext cx="5791200" cy="228600"/>
          </a:xfrm>
          <a:prstGeom prst="rect">
            <a:avLst/>
          </a:prstGeom>
          <a:noFill/>
        </p:spPr>
        <p:txBody>
          <a:bodyPr wrap="square" lIns="0" rIns="0" tIns="0" bIns="0" anchor="t"/>
          <a:lstStyle/>
          <a:p>
            <a:pPr>
              <a:lnSpc>
                <a:spcPct val="150000"/>
              </a:lnSpc>
            </a:pPr>
            <a:r>
              <a:rPr sz="1200" b="0">
                <a:solidFill>
                  <a:srgbClr val="F5F3EE"/>
                </a:solidFill>
                <a:latin typeface="Courier New"/>
              </a:rPr>
              <a:t>}</a:t>
            </a:r>
          </a:p>
        </p:txBody>
      </p:sp>
      <p:sp>
        <p:nvSpPr>
          <p:cNvPr id="26" name="TextBox 25"/>
          <p:cNvSpPr txBox="1"/>
          <p:nvPr/>
        </p:nvSpPr>
        <p:spPr>
          <a:xfrm>
            <a:off x="812800" y="5234940"/>
            <a:ext cx="10566400" cy="533400"/>
          </a:xfrm>
          <a:prstGeom prst="rect">
            <a:avLst/>
          </a:prstGeom>
          <a:noFill/>
        </p:spPr>
        <p:txBody>
          <a:bodyPr wrap="square" lIns="0" rIns="0" tIns="0" bIns="0" anchor="t"/>
          <a:lstStyle/>
          <a:p>
            <a:pPr>
              <a:lnSpc>
                <a:spcPct val="140000"/>
              </a:lnSpc>
            </a:pPr>
            <a:r>
              <a:rPr sz="1500" b="0">
                <a:solidFill>
                  <a:srgbClr val="46556A"/>
                </a:solidFill>
                <a:latin typeface="Arial"/>
              </a:rPr>
              <a:t>Un chemin = la racine de l’environnement + le chemin relatif de la table. Racines et tables communes figurent dans plusieurs fichiers ; un test vérifie qu’elles restent identiques.</a:t>
            </a:r>
          </a:p>
        </p:txBody>
      </p:sp>
      <p:sp>
        <p:nvSpPr>
          <p:cNvPr id="27" name="TextBox 26"/>
          <p:cNvSpPr txBox="1"/>
          <p:nvPr/>
        </p:nvSpPr>
        <p:spPr>
          <a:xfrm>
            <a:off x="812800" y="6261100"/>
            <a:ext cx="3644503" cy="190500"/>
          </a:xfrm>
          <a:prstGeom prst="rect">
            <a:avLst/>
          </a:prstGeom>
          <a:noFill/>
        </p:spPr>
        <p:txBody>
          <a:bodyPr wrap="square" lIns="0" rIns="0" tIns="0" bIns="0" anchor="t"/>
          <a:lstStyle/>
          <a:p>
            <a:pPr>
              <a:lnSpc>
                <a:spcPct val="125000"/>
              </a:lnSpc>
            </a:pPr>
            <a:r>
              <a:rPr sz="1200" b="0">
                <a:solidFill>
                  <a:srgbClr val="5B6677"/>
                </a:solidFill>
                <a:latin typeface="Arial"/>
              </a:rPr>
              <a:t>BSY_REO · chaînes REO AJUST, MYREO et COVID</a:t>
            </a:r>
          </a:p>
        </p:txBody>
      </p:sp>
      <p:sp>
        <p:nvSpPr>
          <p:cNvPr id="28" name="TextBox 27"/>
          <p:cNvSpPr txBox="1"/>
          <p:nvPr/>
        </p:nvSpPr>
        <p:spPr>
          <a:xfrm>
            <a:off x="11201400" y="6261100"/>
            <a:ext cx="177800" cy="190500"/>
          </a:xfrm>
          <a:prstGeom prst="rect">
            <a:avLst/>
          </a:prstGeom>
          <a:noFill/>
        </p:spPr>
        <p:txBody>
          <a:bodyPr wrap="square" lIns="0" rIns="0" tIns="0" bIns="0" anchor="t"/>
          <a:lstStyle/>
          <a:p>
            <a:pPr>
              <a:lnSpc>
                <a:spcPct val="125000"/>
              </a:lnSpc>
            </a:pPr>
            <a:r>
              <a:rPr sz="1200" b="0">
                <a:solidFill>
                  <a:srgbClr val="5B6677"/>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6858000"/>
          </a:xfrm>
          <a:prstGeom prst="rect">
            <a:avLst/>
          </a:prstGeom>
          <a:solidFill>
            <a:srgbClr val="F5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12800" y="812800"/>
            <a:ext cx="10566400" cy="190500"/>
          </a:xfrm>
          <a:prstGeom prst="rect">
            <a:avLst/>
          </a:prstGeom>
          <a:noFill/>
        </p:spPr>
        <p:txBody>
          <a:bodyPr wrap="square" lIns="0" rIns="0" tIns="0" bIns="0" anchor="t"/>
          <a:lstStyle/>
          <a:p>
            <a:pPr>
              <a:lnSpc>
                <a:spcPct val="125000"/>
              </a:lnSpc>
            </a:pPr>
            <a:r>
              <a:rPr sz="1200" b="1" spc="150">
                <a:solidFill>
                  <a:srgbClr val="46556A"/>
                </a:solidFill>
                <a:latin typeface="Arial"/>
              </a:rPr>
              <a:t>EXPLOITATION</a:t>
            </a:r>
          </a:p>
        </p:txBody>
      </p:sp>
      <p:sp>
        <p:nvSpPr>
          <p:cNvPr id="5" name="TextBox 4"/>
          <p:cNvSpPr txBox="1"/>
          <p:nvPr/>
        </p:nvSpPr>
        <p:spPr>
          <a:xfrm>
            <a:off x="812800" y="1079500"/>
            <a:ext cx="10566400" cy="447040"/>
          </a:xfrm>
          <a:prstGeom prst="rect">
            <a:avLst/>
          </a:prstGeom>
          <a:noFill/>
        </p:spPr>
        <p:txBody>
          <a:bodyPr wrap="square" lIns="0" rIns="0" tIns="0" bIns="0" anchor="t"/>
          <a:lstStyle/>
          <a:p>
            <a:pPr>
              <a:lnSpc>
                <a:spcPct val="110000"/>
              </a:lnSpc>
            </a:pPr>
            <a:r>
              <a:rPr sz="3200" b="1">
                <a:solidFill>
                  <a:srgbClr val="12233B"/>
                </a:solidFill>
                <a:latin typeface="Arial"/>
              </a:rPr>
              <a:t>Lancer une chaîne</a:t>
            </a:r>
          </a:p>
        </p:txBody>
      </p:sp>
      <p:sp>
        <p:nvSpPr>
          <p:cNvPr id="6" name="Rounded Rectangle 5"/>
          <p:cNvSpPr/>
          <p:nvPr/>
        </p:nvSpPr>
        <p:spPr>
          <a:xfrm>
            <a:off x="812800" y="1831339"/>
            <a:ext cx="10566400" cy="2139950"/>
          </a:xfrm>
          <a:prstGeom prst="roundRect">
            <a:avLst>
              <a:gd name="adj" fmla="val 4747"/>
            </a:avLst>
          </a:prstGeom>
          <a:solidFill>
            <a:srgbClr val="12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66800" y="2034539"/>
            <a:ext cx="10058400" cy="285750"/>
          </a:xfrm>
          <a:prstGeom prst="rect">
            <a:avLst/>
          </a:prstGeom>
          <a:noFill/>
        </p:spPr>
        <p:txBody>
          <a:bodyPr wrap="square" lIns="0" rIns="0" tIns="0" bIns="0" anchor="t"/>
          <a:lstStyle/>
          <a:p>
            <a:pPr>
              <a:lnSpc>
                <a:spcPct val="150000"/>
              </a:lnSpc>
            </a:pPr>
            <a:r>
              <a:rPr sz="1500" b="0">
                <a:solidFill>
                  <a:srgbClr val="F5F3EE"/>
                </a:solidFill>
                <a:latin typeface="Courier New"/>
              </a:rPr>
              <a:t>mvn clean package</a:t>
            </a:r>
          </a:p>
        </p:txBody>
      </p:sp>
      <p:sp>
        <p:nvSpPr>
          <p:cNvPr id="8" name="TextBox 7"/>
          <p:cNvSpPr txBox="1"/>
          <p:nvPr/>
        </p:nvSpPr>
        <p:spPr>
          <a:xfrm>
            <a:off x="1066800" y="2396490"/>
            <a:ext cx="10058400" cy="285750"/>
          </a:xfrm>
          <a:prstGeom prst="rect">
            <a:avLst/>
          </a:prstGeom>
          <a:noFill/>
        </p:spPr>
        <p:txBody>
          <a:bodyPr wrap="square" lIns="0" rIns="0" tIns="0" bIns="0" anchor="t"/>
          <a:lstStyle/>
          <a:p>
            <a:pPr>
              <a:lnSpc>
                <a:spcPct val="150000"/>
              </a:lnSpc>
            </a:pPr>
            <a:r>
              <a:rPr sz="1500" b="0">
                <a:solidFill>
                  <a:srgbClr val="F5F3EE"/>
                </a:solidFill>
                <a:latin typeface="Courier New"/>
              </a:rPr>
              <a:t>export REO_PRINCIPAL=&lt;principal&gt; REO_KEYTAB=&lt;keytab&gt;</a:t>
            </a:r>
          </a:p>
        </p:txBody>
      </p:sp>
      <p:sp>
        <p:nvSpPr>
          <p:cNvPr id="9" name="TextBox 8"/>
          <p:cNvSpPr txBox="1"/>
          <p:nvPr/>
        </p:nvSpPr>
        <p:spPr>
          <a:xfrm>
            <a:off x="1066800" y="2758440"/>
            <a:ext cx="10058400" cy="285750"/>
          </a:xfrm>
          <a:prstGeom prst="rect">
            <a:avLst/>
          </a:prstGeom>
          <a:noFill/>
        </p:spPr>
        <p:txBody>
          <a:bodyPr wrap="square" lIns="0" rIns="0" tIns="0" bIns="0" anchor="t"/>
          <a:lstStyle/>
          <a:p>
            <a:pPr>
              <a:lnSpc>
                <a:spcPct val="150000"/>
              </a:lnSpc>
            </a:pPr>
            <a:r>
              <a:rPr sz="1500" b="0">
                <a:solidFill>
                  <a:srgbClr val="7FB0DA"/>
                </a:solidFill>
                <a:latin typeface="Courier New"/>
              </a:rPr>
              <a:t>bin/run_reo.sh ajust prd hdfs:///&lt;chemin&gt;/reo_ajust.conf</a:t>
            </a:r>
          </a:p>
        </p:txBody>
      </p:sp>
      <p:sp>
        <p:nvSpPr>
          <p:cNvPr id="10" name="TextBox 9"/>
          <p:cNvSpPr txBox="1"/>
          <p:nvPr/>
        </p:nvSpPr>
        <p:spPr>
          <a:xfrm>
            <a:off x="1066800" y="3120390"/>
            <a:ext cx="10058400" cy="285750"/>
          </a:xfrm>
          <a:prstGeom prst="rect">
            <a:avLst/>
          </a:prstGeom>
          <a:noFill/>
        </p:spPr>
        <p:txBody>
          <a:bodyPr wrap="square" lIns="0" rIns="0" tIns="0" bIns="0" anchor="t"/>
          <a:lstStyle/>
          <a:p>
            <a:pPr>
              <a:lnSpc>
                <a:spcPct val="150000"/>
              </a:lnSpc>
            </a:pPr>
            <a:r>
              <a:rPr sz="1500" b="0">
                <a:solidFill>
                  <a:srgbClr val="E9A06A"/>
                </a:solidFill>
                <a:latin typeface="Courier New"/>
              </a:rPr>
              <a:t>bin/run_reo.sh myreo prd hdfs:///&lt;chemin&gt;/reo_myreo.conf</a:t>
            </a:r>
          </a:p>
        </p:txBody>
      </p:sp>
      <p:sp>
        <p:nvSpPr>
          <p:cNvPr id="11" name="TextBox 10"/>
          <p:cNvSpPr txBox="1"/>
          <p:nvPr/>
        </p:nvSpPr>
        <p:spPr>
          <a:xfrm>
            <a:off x="1066800" y="3482340"/>
            <a:ext cx="10058400" cy="285750"/>
          </a:xfrm>
          <a:prstGeom prst="rect">
            <a:avLst/>
          </a:prstGeom>
          <a:noFill/>
        </p:spPr>
        <p:txBody>
          <a:bodyPr wrap="square" lIns="0" rIns="0" tIns="0" bIns="0" anchor="t"/>
          <a:lstStyle/>
          <a:p>
            <a:pPr>
              <a:lnSpc>
                <a:spcPct val="150000"/>
              </a:lnSpc>
            </a:pPr>
            <a:r>
              <a:rPr sz="1500" b="0">
                <a:solidFill>
                  <a:srgbClr val="8CCBB8"/>
                </a:solidFill>
                <a:latin typeface="Courier New"/>
              </a:rPr>
              <a:t>bin/run_reo.sh covid prd hdfs:///&lt;chemin&gt;/reo_alim.conf</a:t>
            </a:r>
          </a:p>
        </p:txBody>
      </p:sp>
      <p:sp>
        <p:nvSpPr>
          <p:cNvPr id="12" name="Rounded Rectangle 11"/>
          <p:cNvSpPr/>
          <p:nvPr/>
        </p:nvSpPr>
        <p:spPr>
          <a:xfrm>
            <a:off x="812800" y="4174490"/>
            <a:ext cx="3420533" cy="1249680"/>
          </a:xfrm>
          <a:prstGeom prst="roundRect">
            <a:avLst>
              <a:gd name="adj" fmla="val 8130"/>
            </a:avLst>
          </a:prstGeom>
          <a:solidFill>
            <a:srgbClr val="FBFAF6"/>
          </a:solidFill>
          <a:ln w="6350">
            <a:solidFill>
              <a:srgbClr val="E2DE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16000" y="4326890"/>
            <a:ext cx="3014133" cy="228600"/>
          </a:xfrm>
          <a:prstGeom prst="rect">
            <a:avLst/>
          </a:prstGeom>
          <a:noFill/>
        </p:spPr>
        <p:txBody>
          <a:bodyPr wrap="square" lIns="0" rIns="0" tIns="0" bIns="0" anchor="t"/>
          <a:lstStyle/>
          <a:p>
            <a:pPr>
              <a:lnSpc>
                <a:spcPct val="120000"/>
              </a:lnSpc>
            </a:pPr>
            <a:r>
              <a:rPr sz="1500" b="1">
                <a:solidFill>
                  <a:srgbClr val="12233B"/>
                </a:solidFill>
                <a:latin typeface="Arial"/>
              </a:rPr>
              <a:t>Paramètres</a:t>
            </a:r>
          </a:p>
        </p:txBody>
      </p:sp>
      <p:sp>
        <p:nvSpPr>
          <p:cNvPr id="14" name="TextBox 13"/>
          <p:cNvSpPr txBox="1"/>
          <p:nvPr/>
        </p:nvSpPr>
        <p:spPr>
          <a:xfrm>
            <a:off x="1016000" y="4631690"/>
            <a:ext cx="3014133" cy="640080"/>
          </a:xfrm>
          <a:prstGeom prst="rect">
            <a:avLst/>
          </a:prstGeom>
          <a:noFill/>
        </p:spPr>
        <p:txBody>
          <a:bodyPr wrap="square" lIns="0" rIns="0" tIns="0" bIns="0" anchor="t"/>
          <a:lstStyle/>
          <a:p>
            <a:pPr>
              <a:lnSpc>
                <a:spcPct val="140000"/>
              </a:lnSpc>
            </a:pPr>
            <a:r>
              <a:rPr sz="1200" b="0">
                <a:solidFill>
                  <a:srgbClr val="46556A"/>
                </a:solidFill>
                <a:latin typeface="Arial"/>
              </a:rPr>
              <a:t>Chaîne ajust, myreo ou covid, environnement dev, int, hom, prd ou rec. Les arguments en plus vont à spark-submit.</a:t>
            </a:r>
          </a:p>
        </p:txBody>
      </p:sp>
      <p:sp>
        <p:nvSpPr>
          <p:cNvPr id="15" name="Rounded Rectangle 14"/>
          <p:cNvSpPr/>
          <p:nvPr/>
        </p:nvSpPr>
        <p:spPr>
          <a:xfrm>
            <a:off x="4385733" y="4174490"/>
            <a:ext cx="3420533" cy="1249680"/>
          </a:xfrm>
          <a:prstGeom prst="roundRect">
            <a:avLst>
              <a:gd name="adj" fmla="val 8130"/>
            </a:avLst>
          </a:prstGeom>
          <a:solidFill>
            <a:srgbClr val="FBFAF6"/>
          </a:solidFill>
          <a:ln w="6350">
            <a:solidFill>
              <a:srgbClr val="E2DE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88933" y="4326890"/>
            <a:ext cx="3014133" cy="228600"/>
          </a:xfrm>
          <a:prstGeom prst="rect">
            <a:avLst/>
          </a:prstGeom>
          <a:noFill/>
        </p:spPr>
        <p:txBody>
          <a:bodyPr wrap="square" lIns="0" rIns="0" tIns="0" bIns="0" anchor="t"/>
          <a:lstStyle/>
          <a:p>
            <a:pPr>
              <a:lnSpc>
                <a:spcPct val="120000"/>
              </a:lnSpc>
            </a:pPr>
            <a:r>
              <a:rPr sz="1500" b="1">
                <a:solidFill>
                  <a:srgbClr val="12233B"/>
                </a:solidFill>
                <a:latin typeface="Arial"/>
              </a:rPr>
              <a:t>Ressources</a:t>
            </a:r>
          </a:p>
        </p:txBody>
      </p:sp>
      <p:sp>
        <p:nvSpPr>
          <p:cNvPr id="17" name="TextBox 16"/>
          <p:cNvSpPr txBox="1"/>
          <p:nvPr/>
        </p:nvSpPr>
        <p:spPr>
          <a:xfrm>
            <a:off x="4588933" y="4631690"/>
            <a:ext cx="3014133" cy="640080"/>
          </a:xfrm>
          <a:prstGeom prst="rect">
            <a:avLst/>
          </a:prstGeom>
          <a:noFill/>
        </p:spPr>
        <p:txBody>
          <a:bodyPr wrap="square" lIns="0" rIns="0" tIns="0" bIns="0" anchor="t"/>
          <a:lstStyle/>
          <a:p>
            <a:pPr>
              <a:lnSpc>
                <a:spcPct val="140000"/>
              </a:lnSpc>
            </a:pPr>
            <a:r>
              <a:rPr sz="1200" b="0">
                <a:solidFill>
                  <a:srgbClr val="46556A"/>
                </a:solidFill>
                <a:latin typeface="Arial"/>
              </a:rPr>
              <a:t>AJUST et COVID : driver 16 Go et 4 cœurs. MYREO : driver 2 Go, exécuteurs 2 Go. YARN en mode cluster.</a:t>
            </a:r>
          </a:p>
        </p:txBody>
      </p:sp>
      <p:sp>
        <p:nvSpPr>
          <p:cNvPr id="18" name="Rounded Rectangle 17"/>
          <p:cNvSpPr/>
          <p:nvPr/>
        </p:nvSpPr>
        <p:spPr>
          <a:xfrm>
            <a:off x="7958666" y="4174490"/>
            <a:ext cx="3420533" cy="1249680"/>
          </a:xfrm>
          <a:prstGeom prst="roundRect">
            <a:avLst>
              <a:gd name="adj" fmla="val 8130"/>
            </a:avLst>
          </a:prstGeom>
          <a:solidFill>
            <a:srgbClr val="FBFAF6"/>
          </a:solidFill>
          <a:ln w="6350">
            <a:solidFill>
              <a:srgbClr val="E2DE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61866" y="4326890"/>
            <a:ext cx="3014133" cy="228600"/>
          </a:xfrm>
          <a:prstGeom prst="rect">
            <a:avLst/>
          </a:prstGeom>
          <a:noFill/>
        </p:spPr>
        <p:txBody>
          <a:bodyPr wrap="square" lIns="0" rIns="0" tIns="0" bIns="0" anchor="t"/>
          <a:lstStyle/>
          <a:p>
            <a:pPr>
              <a:lnSpc>
                <a:spcPct val="120000"/>
              </a:lnSpc>
            </a:pPr>
            <a:r>
              <a:rPr sz="1500" b="1">
                <a:solidFill>
                  <a:srgbClr val="12233B"/>
                </a:solidFill>
                <a:latin typeface="Arial"/>
              </a:rPr>
              <a:t>Livraison</a:t>
            </a:r>
          </a:p>
        </p:txBody>
      </p:sp>
      <p:sp>
        <p:nvSpPr>
          <p:cNvPr id="20" name="TextBox 19"/>
          <p:cNvSpPr txBox="1"/>
          <p:nvPr/>
        </p:nvSpPr>
        <p:spPr>
          <a:xfrm>
            <a:off x="8161866" y="4631690"/>
            <a:ext cx="3014133" cy="640080"/>
          </a:xfrm>
          <a:prstGeom prst="rect">
            <a:avLst/>
          </a:prstGeom>
          <a:noFill/>
        </p:spPr>
        <p:txBody>
          <a:bodyPr wrap="square" lIns="0" rIns="0" tIns="0" bIns="0" anchor="t"/>
          <a:lstStyle/>
          <a:p>
            <a:pPr>
              <a:lnSpc>
                <a:spcPct val="140000"/>
              </a:lnSpc>
            </a:pPr>
            <a:r>
              <a:rPr sz="1200" b="0">
                <a:solidFill>
                  <a:srgbClr val="46556A"/>
                </a:solidFill>
                <a:latin typeface="Arial"/>
              </a:rPr>
              <a:t>Bundle zip avec lib, conf et bin. Jenkins dépose le jar et les trois fichiers de configuration.</a:t>
            </a:r>
          </a:p>
        </p:txBody>
      </p:sp>
      <p:sp>
        <p:nvSpPr>
          <p:cNvPr id="21" name="TextBox 20"/>
          <p:cNvSpPr txBox="1"/>
          <p:nvPr/>
        </p:nvSpPr>
        <p:spPr>
          <a:xfrm>
            <a:off x="812800" y="6261100"/>
            <a:ext cx="3644503" cy="190500"/>
          </a:xfrm>
          <a:prstGeom prst="rect">
            <a:avLst/>
          </a:prstGeom>
          <a:noFill/>
        </p:spPr>
        <p:txBody>
          <a:bodyPr wrap="square" lIns="0" rIns="0" tIns="0" bIns="0" anchor="t"/>
          <a:lstStyle/>
          <a:p>
            <a:pPr>
              <a:lnSpc>
                <a:spcPct val="125000"/>
              </a:lnSpc>
            </a:pPr>
            <a:r>
              <a:rPr sz="1200" b="0">
                <a:solidFill>
                  <a:srgbClr val="5B6677"/>
                </a:solidFill>
                <a:latin typeface="Arial"/>
              </a:rPr>
              <a:t>BSY_REO · chaînes REO AJUST, MYREO et COVID</a:t>
            </a:r>
          </a:p>
        </p:txBody>
      </p:sp>
      <p:sp>
        <p:nvSpPr>
          <p:cNvPr id="22" name="TextBox 21"/>
          <p:cNvSpPr txBox="1"/>
          <p:nvPr/>
        </p:nvSpPr>
        <p:spPr>
          <a:xfrm>
            <a:off x="11201400" y="6261100"/>
            <a:ext cx="177800" cy="190500"/>
          </a:xfrm>
          <a:prstGeom prst="rect">
            <a:avLst/>
          </a:prstGeom>
          <a:noFill/>
        </p:spPr>
        <p:txBody>
          <a:bodyPr wrap="square" lIns="0" rIns="0" tIns="0" bIns="0" anchor="t"/>
          <a:lstStyle/>
          <a:p>
            <a:pPr>
              <a:lnSpc>
                <a:spcPct val="125000"/>
              </a:lnSpc>
            </a:pPr>
            <a:r>
              <a:rPr sz="1200" b="0">
                <a:solidFill>
                  <a:srgbClr val="5B6677"/>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6858000"/>
          </a:xfrm>
          <a:prstGeom prst="rect">
            <a:avLst/>
          </a:prstGeom>
          <a:solidFill>
            <a:srgbClr val="F5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12800" y="812800"/>
            <a:ext cx="10566400" cy="190500"/>
          </a:xfrm>
          <a:prstGeom prst="rect">
            <a:avLst/>
          </a:prstGeom>
          <a:noFill/>
        </p:spPr>
        <p:txBody>
          <a:bodyPr wrap="square" lIns="0" rIns="0" tIns="0" bIns="0" anchor="t"/>
          <a:lstStyle/>
          <a:p>
            <a:pPr>
              <a:lnSpc>
                <a:spcPct val="125000"/>
              </a:lnSpc>
            </a:pPr>
            <a:r>
              <a:rPr sz="1200" b="1" spc="150">
                <a:solidFill>
                  <a:srgbClr val="46556A"/>
                </a:solidFill>
                <a:latin typeface="Arial"/>
              </a:rPr>
              <a:t>EXPLOITATION</a:t>
            </a:r>
          </a:p>
        </p:txBody>
      </p:sp>
      <p:sp>
        <p:nvSpPr>
          <p:cNvPr id="5" name="TextBox 4"/>
          <p:cNvSpPr txBox="1"/>
          <p:nvPr/>
        </p:nvSpPr>
        <p:spPr>
          <a:xfrm>
            <a:off x="812800" y="1079500"/>
            <a:ext cx="10566400" cy="447040"/>
          </a:xfrm>
          <a:prstGeom prst="rect">
            <a:avLst/>
          </a:prstGeom>
          <a:noFill/>
        </p:spPr>
        <p:txBody>
          <a:bodyPr wrap="square" lIns="0" rIns="0" tIns="0" bIns="0" anchor="t"/>
          <a:lstStyle/>
          <a:p>
            <a:pPr>
              <a:lnSpc>
                <a:spcPct val="110000"/>
              </a:lnSpc>
            </a:pPr>
            <a:r>
              <a:rPr sz="3200" b="1">
                <a:solidFill>
                  <a:srgbClr val="12233B"/>
                </a:solidFill>
                <a:latin typeface="Arial"/>
              </a:rPr>
              <a:t>Piloter, reprendre et suivre un run</a:t>
            </a:r>
          </a:p>
        </p:txBody>
      </p:sp>
      <p:sp>
        <p:nvSpPr>
          <p:cNvPr id="6" name="Rounded Rectangle 5"/>
          <p:cNvSpPr/>
          <p:nvPr/>
        </p:nvSpPr>
        <p:spPr>
          <a:xfrm>
            <a:off x="812800" y="1831339"/>
            <a:ext cx="3386666" cy="2413000"/>
          </a:xfrm>
          <a:prstGeom prst="roundRect">
            <a:avLst>
              <a:gd name="adj" fmla="val 4210"/>
            </a:avLst>
          </a:prstGeom>
          <a:solidFill>
            <a:srgbClr val="FBFAF6"/>
          </a:solidFill>
          <a:ln w="6350">
            <a:solidFill>
              <a:srgbClr val="E2DE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16000" y="2034539"/>
            <a:ext cx="2980266" cy="304800"/>
          </a:xfrm>
          <a:prstGeom prst="rect">
            <a:avLst/>
          </a:prstGeom>
          <a:noFill/>
        </p:spPr>
        <p:txBody>
          <a:bodyPr wrap="square" lIns="0" rIns="0" tIns="0" bIns="0" anchor="t"/>
          <a:lstStyle/>
          <a:p>
            <a:pPr>
              <a:lnSpc>
                <a:spcPct val="120000"/>
              </a:lnSpc>
            </a:pPr>
            <a:r>
              <a:rPr sz="2000" b="1">
                <a:solidFill>
                  <a:srgbClr val="12233B"/>
                </a:solidFill>
                <a:latin typeface="Arial"/>
              </a:rPr>
              <a:t>Interrupteurs</a:t>
            </a:r>
          </a:p>
        </p:txBody>
      </p:sp>
      <p:sp>
        <p:nvSpPr>
          <p:cNvPr id="8" name="TextBox 7"/>
          <p:cNvSpPr txBox="1"/>
          <p:nvPr/>
        </p:nvSpPr>
        <p:spPr>
          <a:xfrm>
            <a:off x="1016000" y="2440940"/>
            <a:ext cx="2980266" cy="190500"/>
          </a:xfrm>
          <a:prstGeom prst="rect">
            <a:avLst/>
          </a:prstGeom>
          <a:noFill/>
        </p:spPr>
        <p:txBody>
          <a:bodyPr wrap="square" lIns="0" rIns="0" tIns="0" bIns="0" anchor="t"/>
          <a:lstStyle/>
          <a:p>
            <a:pPr>
              <a:lnSpc>
                <a:spcPct val="125000"/>
              </a:lnSpc>
            </a:pPr>
            <a:r>
              <a:rPr sz="1200" b="0">
                <a:solidFill>
                  <a:srgbClr val="2A6496"/>
                </a:solidFill>
                <a:latin typeface="Courier New"/>
              </a:rPr>
              <a:t>dfin.bsy.reo.&lt;étape&gt;_trt</a:t>
            </a:r>
          </a:p>
        </p:txBody>
      </p:sp>
      <p:sp>
        <p:nvSpPr>
          <p:cNvPr id="9" name="TextBox 8"/>
          <p:cNvSpPr txBox="1"/>
          <p:nvPr/>
        </p:nvSpPr>
        <p:spPr>
          <a:xfrm>
            <a:off x="1016000" y="2733040"/>
            <a:ext cx="2980266" cy="800099"/>
          </a:xfrm>
          <a:prstGeom prst="rect">
            <a:avLst/>
          </a:prstGeom>
          <a:noFill/>
        </p:spPr>
        <p:txBody>
          <a:bodyPr wrap="square" lIns="0" rIns="0" tIns="0" bIns="0" anchor="t"/>
          <a:lstStyle/>
          <a:p>
            <a:pPr>
              <a:lnSpc>
                <a:spcPct val="140000"/>
              </a:lnSpc>
            </a:pPr>
            <a:r>
              <a:rPr sz="1500" b="0">
                <a:solidFill>
                  <a:srgbClr val="46556A"/>
                </a:solidFill>
                <a:latin typeface="Arial"/>
              </a:rPr>
              <a:t>Actif par défaut. Une étape désactivée laisse la suivante relire sa sortie sur disque.</a:t>
            </a:r>
          </a:p>
        </p:txBody>
      </p:sp>
      <p:sp>
        <p:nvSpPr>
          <p:cNvPr id="10" name="Rounded Rectangle 9"/>
          <p:cNvSpPr/>
          <p:nvPr/>
        </p:nvSpPr>
        <p:spPr>
          <a:xfrm>
            <a:off x="4402666" y="1831339"/>
            <a:ext cx="3386666" cy="2413000"/>
          </a:xfrm>
          <a:prstGeom prst="roundRect">
            <a:avLst>
              <a:gd name="adj" fmla="val 4210"/>
            </a:avLst>
          </a:prstGeom>
          <a:solidFill>
            <a:srgbClr val="FBFAF6"/>
          </a:solidFill>
          <a:ln w="6350">
            <a:solidFill>
              <a:srgbClr val="E2DE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05866" y="2034539"/>
            <a:ext cx="2980266" cy="304800"/>
          </a:xfrm>
          <a:prstGeom prst="rect">
            <a:avLst/>
          </a:prstGeom>
          <a:noFill/>
        </p:spPr>
        <p:txBody>
          <a:bodyPr wrap="square" lIns="0" rIns="0" tIns="0" bIns="0" anchor="t"/>
          <a:lstStyle/>
          <a:p>
            <a:pPr>
              <a:lnSpc>
                <a:spcPct val="120000"/>
              </a:lnSpc>
            </a:pPr>
            <a:r>
              <a:rPr sz="2000" b="1">
                <a:solidFill>
                  <a:srgbClr val="12233B"/>
                </a:solidFill>
                <a:latin typeface="Arial"/>
              </a:rPr>
              <a:t>Garde-fous</a:t>
            </a:r>
          </a:p>
        </p:txBody>
      </p:sp>
      <p:sp>
        <p:nvSpPr>
          <p:cNvPr id="12" name="TextBox 11"/>
          <p:cNvSpPr txBox="1"/>
          <p:nvPr/>
        </p:nvSpPr>
        <p:spPr>
          <a:xfrm>
            <a:off x="4605866" y="2440940"/>
            <a:ext cx="2980266" cy="1600199"/>
          </a:xfrm>
          <a:prstGeom prst="rect">
            <a:avLst/>
          </a:prstGeom>
          <a:noFill/>
        </p:spPr>
        <p:txBody>
          <a:bodyPr wrap="square" lIns="0" rIns="0" tIns="0" bIns="0" anchor="t"/>
          <a:lstStyle/>
          <a:p>
            <a:pPr>
              <a:lnSpc>
                <a:spcPct val="140000"/>
              </a:lnSpc>
            </a:pPr>
            <a:r>
              <a:rPr sz="1500" b="0">
                <a:solidFill>
                  <a:srgbClr val="46556A"/>
                </a:solidFill>
                <a:latin typeface="Arial"/>
              </a:rPr>
              <a:t>AJUST ne supprime le dépôt qu’après un run complet. MYREO ne marque un fichier lu que si le SV est écrit. COVID contrôle les données avant tout vidage SQL Server.</a:t>
            </a:r>
          </a:p>
        </p:txBody>
      </p:sp>
      <p:sp>
        <p:nvSpPr>
          <p:cNvPr id="13" name="Rounded Rectangle 12"/>
          <p:cNvSpPr/>
          <p:nvPr/>
        </p:nvSpPr>
        <p:spPr>
          <a:xfrm>
            <a:off x="7992533" y="1831339"/>
            <a:ext cx="3386666" cy="2413000"/>
          </a:xfrm>
          <a:prstGeom prst="roundRect">
            <a:avLst>
              <a:gd name="adj" fmla="val 4210"/>
            </a:avLst>
          </a:prstGeom>
          <a:solidFill>
            <a:srgbClr val="FBFAF6"/>
          </a:solidFill>
          <a:ln w="6350">
            <a:solidFill>
              <a:srgbClr val="E2DE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95733" y="2034539"/>
            <a:ext cx="2980266" cy="304800"/>
          </a:xfrm>
          <a:prstGeom prst="rect">
            <a:avLst/>
          </a:prstGeom>
          <a:noFill/>
        </p:spPr>
        <p:txBody>
          <a:bodyPr wrap="square" lIns="0" rIns="0" tIns="0" bIns="0" anchor="t"/>
          <a:lstStyle/>
          <a:p>
            <a:pPr>
              <a:lnSpc>
                <a:spcPct val="120000"/>
              </a:lnSpc>
            </a:pPr>
            <a:r>
              <a:rPr sz="2000" b="1">
                <a:solidFill>
                  <a:srgbClr val="12233B"/>
                </a:solidFill>
                <a:latin typeface="Arial"/>
              </a:rPr>
              <a:t>Traces</a:t>
            </a:r>
          </a:p>
        </p:txBody>
      </p:sp>
      <p:sp>
        <p:nvSpPr>
          <p:cNvPr id="15" name="TextBox 14"/>
          <p:cNvSpPr txBox="1"/>
          <p:nvPr/>
        </p:nvSpPr>
        <p:spPr>
          <a:xfrm>
            <a:off x="8195733" y="2440940"/>
            <a:ext cx="2980266" cy="190500"/>
          </a:xfrm>
          <a:prstGeom prst="rect">
            <a:avLst/>
          </a:prstGeom>
          <a:noFill/>
        </p:spPr>
        <p:txBody>
          <a:bodyPr wrap="square" lIns="0" rIns="0" tIns="0" bIns="0" anchor="t"/>
          <a:lstStyle/>
          <a:p>
            <a:pPr>
              <a:lnSpc>
                <a:spcPct val="125000"/>
              </a:lnSpc>
            </a:pPr>
            <a:r>
              <a:rPr sz="1200" b="0">
                <a:solidFill>
                  <a:srgbClr val="2A6496"/>
                </a:solidFill>
                <a:latin typeface="Courier New"/>
              </a:rPr>
              <a:t>STEP|étape|statut|durée|détail</a:t>
            </a:r>
          </a:p>
        </p:txBody>
      </p:sp>
      <p:sp>
        <p:nvSpPr>
          <p:cNvPr id="16" name="TextBox 15"/>
          <p:cNvSpPr txBox="1"/>
          <p:nvPr/>
        </p:nvSpPr>
        <p:spPr>
          <a:xfrm>
            <a:off x="8195733" y="2733040"/>
            <a:ext cx="2980266" cy="800099"/>
          </a:xfrm>
          <a:prstGeom prst="rect">
            <a:avLst/>
          </a:prstGeom>
          <a:noFill/>
        </p:spPr>
        <p:txBody>
          <a:bodyPr wrap="square" lIns="0" rIns="0" tIns="0" bIns="0" anchor="t"/>
          <a:lstStyle/>
          <a:p>
            <a:pPr>
              <a:lnSpc>
                <a:spcPct val="140000"/>
              </a:lnSpc>
            </a:pPr>
            <a:r>
              <a:rPr sz="1500" b="0">
                <a:solidFill>
                  <a:srgbClr val="46556A"/>
                </a:solidFill>
                <a:latin typeface="Arial"/>
              </a:rPr>
              <a:t>Une ligne par étape dans les logs du driver : OK, KO ou SKIPPED. Arrêt à la première erreur.</a:t>
            </a:r>
          </a:p>
        </p:txBody>
      </p:sp>
      <p:sp>
        <p:nvSpPr>
          <p:cNvPr id="17" name="TextBox 16"/>
          <p:cNvSpPr txBox="1"/>
          <p:nvPr/>
        </p:nvSpPr>
        <p:spPr>
          <a:xfrm>
            <a:off x="812800" y="6261100"/>
            <a:ext cx="3644503" cy="190500"/>
          </a:xfrm>
          <a:prstGeom prst="rect">
            <a:avLst/>
          </a:prstGeom>
          <a:noFill/>
        </p:spPr>
        <p:txBody>
          <a:bodyPr wrap="square" lIns="0" rIns="0" tIns="0" bIns="0" anchor="t"/>
          <a:lstStyle/>
          <a:p>
            <a:pPr>
              <a:lnSpc>
                <a:spcPct val="125000"/>
              </a:lnSpc>
            </a:pPr>
            <a:r>
              <a:rPr sz="1200" b="0">
                <a:solidFill>
                  <a:srgbClr val="5B6677"/>
                </a:solidFill>
                <a:latin typeface="Arial"/>
              </a:rPr>
              <a:t>BSY_REO · chaînes REO AJUST, MYREO et COVID</a:t>
            </a:r>
          </a:p>
        </p:txBody>
      </p:sp>
      <p:sp>
        <p:nvSpPr>
          <p:cNvPr id="18" name="TextBox 17"/>
          <p:cNvSpPr txBox="1"/>
          <p:nvPr/>
        </p:nvSpPr>
        <p:spPr>
          <a:xfrm>
            <a:off x="11201400" y="6261100"/>
            <a:ext cx="177800" cy="190500"/>
          </a:xfrm>
          <a:prstGeom prst="rect">
            <a:avLst/>
          </a:prstGeom>
          <a:noFill/>
        </p:spPr>
        <p:txBody>
          <a:bodyPr wrap="square" lIns="0" rIns="0" tIns="0" bIns="0" anchor="t"/>
          <a:lstStyle/>
          <a:p>
            <a:pPr>
              <a:lnSpc>
                <a:spcPct val="125000"/>
              </a:lnSpc>
            </a:pPr>
            <a:r>
              <a:rPr sz="1200" b="0">
                <a:solidFill>
                  <a:srgbClr val="5B6677"/>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6858000"/>
          </a:xfrm>
          <a:prstGeom prst="rect">
            <a:avLst/>
          </a:prstGeom>
          <a:solidFill>
            <a:srgbClr val="F5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12800" y="812800"/>
            <a:ext cx="10566400" cy="190500"/>
          </a:xfrm>
          <a:prstGeom prst="rect">
            <a:avLst/>
          </a:prstGeom>
          <a:noFill/>
        </p:spPr>
        <p:txBody>
          <a:bodyPr wrap="square" lIns="0" rIns="0" tIns="0" bIns="0" anchor="t"/>
          <a:lstStyle/>
          <a:p>
            <a:pPr>
              <a:lnSpc>
                <a:spcPct val="125000"/>
              </a:lnSpc>
            </a:pPr>
            <a:r>
              <a:rPr sz="1200" b="1" spc="150">
                <a:solidFill>
                  <a:srgbClr val="46556A"/>
                </a:solidFill>
                <a:latin typeface="Arial"/>
              </a:rPr>
              <a:t>EXPLOITATION</a:t>
            </a:r>
          </a:p>
        </p:txBody>
      </p:sp>
      <p:sp>
        <p:nvSpPr>
          <p:cNvPr id="5" name="TextBox 4"/>
          <p:cNvSpPr txBox="1"/>
          <p:nvPr/>
        </p:nvSpPr>
        <p:spPr>
          <a:xfrm>
            <a:off x="812800" y="1079500"/>
            <a:ext cx="10566400" cy="447040"/>
          </a:xfrm>
          <a:prstGeom prst="rect">
            <a:avLst/>
          </a:prstGeom>
          <a:noFill/>
        </p:spPr>
        <p:txBody>
          <a:bodyPr wrap="square" lIns="0" rIns="0" tIns="0" bIns="0" anchor="t"/>
          <a:lstStyle/>
          <a:p>
            <a:pPr>
              <a:lnSpc>
                <a:spcPct val="110000"/>
              </a:lnSpc>
            </a:pPr>
            <a:r>
              <a:rPr sz="3200" b="1">
                <a:solidFill>
                  <a:srgbClr val="12233B"/>
                </a:solidFill>
                <a:latin typeface="Arial"/>
              </a:rPr>
              <a:t>Qualité et industrialisation</a:t>
            </a:r>
          </a:p>
        </p:txBody>
      </p:sp>
      <p:sp>
        <p:nvSpPr>
          <p:cNvPr id="6" name="Rounded Rectangle 5"/>
          <p:cNvSpPr/>
          <p:nvPr/>
        </p:nvSpPr>
        <p:spPr>
          <a:xfrm>
            <a:off x="812800" y="1831339"/>
            <a:ext cx="2527300" cy="1229360"/>
          </a:xfrm>
          <a:prstGeom prst="roundRect">
            <a:avLst>
              <a:gd name="adj" fmla="val 8264"/>
            </a:avLst>
          </a:prstGeom>
          <a:solidFill>
            <a:srgbClr val="FBFAF6"/>
          </a:solidFill>
          <a:ln w="6350">
            <a:solidFill>
              <a:srgbClr val="E2DE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16000" y="1983739"/>
            <a:ext cx="2120900" cy="447040"/>
          </a:xfrm>
          <a:prstGeom prst="rect">
            <a:avLst/>
          </a:prstGeom>
          <a:noFill/>
        </p:spPr>
        <p:txBody>
          <a:bodyPr wrap="square" lIns="0" rIns="0" tIns="0" bIns="0" anchor="t"/>
          <a:lstStyle/>
          <a:p>
            <a:pPr>
              <a:lnSpc>
                <a:spcPct val="110000"/>
              </a:lnSpc>
            </a:pPr>
            <a:r>
              <a:rPr sz="3200" b="1">
                <a:solidFill>
                  <a:srgbClr val="2A6496"/>
                </a:solidFill>
                <a:latin typeface="Arial"/>
              </a:rPr>
              <a:t>199</a:t>
            </a:r>
          </a:p>
        </p:txBody>
      </p:sp>
      <p:sp>
        <p:nvSpPr>
          <p:cNvPr id="8" name="TextBox 7"/>
          <p:cNvSpPr txBox="1"/>
          <p:nvPr/>
        </p:nvSpPr>
        <p:spPr>
          <a:xfrm>
            <a:off x="1016000" y="2481579"/>
            <a:ext cx="2120900" cy="213359"/>
          </a:xfrm>
          <a:prstGeom prst="rect">
            <a:avLst/>
          </a:prstGeom>
          <a:noFill/>
        </p:spPr>
        <p:txBody>
          <a:bodyPr wrap="square" lIns="0" rIns="0" tIns="0" bIns="0" anchor="t"/>
          <a:lstStyle/>
          <a:p>
            <a:pPr>
              <a:lnSpc>
                <a:spcPct val="140000"/>
              </a:lnSpc>
            </a:pPr>
            <a:r>
              <a:rPr sz="1200" b="0">
                <a:solidFill>
                  <a:srgbClr val="46556A"/>
                </a:solidFill>
                <a:latin typeface="Arial"/>
              </a:rPr>
              <a:t>tests ScalaTest, tous au vert</a:t>
            </a:r>
          </a:p>
        </p:txBody>
      </p:sp>
      <p:sp>
        <p:nvSpPr>
          <p:cNvPr id="9" name="Rounded Rectangle 8"/>
          <p:cNvSpPr/>
          <p:nvPr/>
        </p:nvSpPr>
        <p:spPr>
          <a:xfrm>
            <a:off x="3492500" y="1831339"/>
            <a:ext cx="2527300" cy="1229360"/>
          </a:xfrm>
          <a:prstGeom prst="roundRect">
            <a:avLst>
              <a:gd name="adj" fmla="val 8264"/>
            </a:avLst>
          </a:prstGeom>
          <a:solidFill>
            <a:srgbClr val="FBFAF6"/>
          </a:solidFill>
          <a:ln w="6350">
            <a:solidFill>
              <a:srgbClr val="E2DE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95700" y="1983739"/>
            <a:ext cx="2120900" cy="447040"/>
          </a:xfrm>
          <a:prstGeom prst="rect">
            <a:avLst/>
          </a:prstGeom>
          <a:noFill/>
        </p:spPr>
        <p:txBody>
          <a:bodyPr wrap="square" lIns="0" rIns="0" tIns="0" bIns="0" anchor="t"/>
          <a:lstStyle/>
          <a:p>
            <a:pPr>
              <a:lnSpc>
                <a:spcPct val="110000"/>
              </a:lnSpc>
            </a:pPr>
            <a:r>
              <a:rPr sz="3200" b="1">
                <a:solidFill>
                  <a:srgbClr val="2A6496"/>
                </a:solidFill>
                <a:latin typeface="Arial"/>
              </a:rPr>
              <a:t>12</a:t>
            </a:r>
          </a:p>
        </p:txBody>
      </p:sp>
      <p:sp>
        <p:nvSpPr>
          <p:cNvPr id="11" name="TextBox 10"/>
          <p:cNvSpPr txBox="1"/>
          <p:nvPr/>
        </p:nvSpPr>
        <p:spPr>
          <a:xfrm>
            <a:off x="3695700" y="2481579"/>
            <a:ext cx="2120900" cy="426719"/>
          </a:xfrm>
          <a:prstGeom prst="rect">
            <a:avLst/>
          </a:prstGeom>
          <a:noFill/>
        </p:spPr>
        <p:txBody>
          <a:bodyPr wrap="square" lIns="0" rIns="0" tIns="0" bIns="0" anchor="t"/>
          <a:lstStyle/>
          <a:p>
            <a:pPr>
              <a:lnSpc>
                <a:spcPct val="140000"/>
              </a:lnSpc>
            </a:pPr>
            <a:r>
              <a:rPr sz="1200" b="0">
                <a:solidFill>
                  <a:srgbClr val="46556A"/>
                </a:solidFill>
                <a:latin typeface="Arial"/>
              </a:rPr>
              <a:t>scénarios de bout en bout : 3 AJUST, 5 MYREO, 4 COVID</a:t>
            </a:r>
          </a:p>
        </p:txBody>
      </p:sp>
      <p:sp>
        <p:nvSpPr>
          <p:cNvPr id="12" name="Rounded Rectangle 11"/>
          <p:cNvSpPr/>
          <p:nvPr/>
        </p:nvSpPr>
        <p:spPr>
          <a:xfrm>
            <a:off x="6172200" y="1831339"/>
            <a:ext cx="2527300" cy="1229360"/>
          </a:xfrm>
          <a:prstGeom prst="roundRect">
            <a:avLst>
              <a:gd name="adj" fmla="val 8264"/>
            </a:avLst>
          </a:prstGeom>
          <a:solidFill>
            <a:srgbClr val="FBFAF6"/>
          </a:solidFill>
          <a:ln w="6350">
            <a:solidFill>
              <a:srgbClr val="E2DE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75400" y="1983739"/>
            <a:ext cx="2120900" cy="447040"/>
          </a:xfrm>
          <a:prstGeom prst="rect">
            <a:avLst/>
          </a:prstGeom>
          <a:noFill/>
        </p:spPr>
        <p:txBody>
          <a:bodyPr wrap="square" lIns="0" rIns="0" tIns="0" bIns="0" anchor="t"/>
          <a:lstStyle/>
          <a:p>
            <a:pPr>
              <a:lnSpc>
                <a:spcPct val="110000"/>
              </a:lnSpc>
            </a:pPr>
            <a:r>
              <a:rPr sz="3200" b="1">
                <a:solidFill>
                  <a:srgbClr val="2A6496"/>
                </a:solidFill>
                <a:latin typeface="Arial"/>
              </a:rPr>
              <a:t>92,2 %</a:t>
            </a:r>
          </a:p>
        </p:txBody>
      </p:sp>
      <p:sp>
        <p:nvSpPr>
          <p:cNvPr id="14" name="TextBox 13"/>
          <p:cNvSpPr txBox="1"/>
          <p:nvPr/>
        </p:nvSpPr>
        <p:spPr>
          <a:xfrm>
            <a:off x="6375400" y="2481579"/>
            <a:ext cx="2120900" cy="426719"/>
          </a:xfrm>
          <a:prstGeom prst="rect">
            <a:avLst/>
          </a:prstGeom>
          <a:noFill/>
        </p:spPr>
        <p:txBody>
          <a:bodyPr wrap="square" lIns="0" rIns="0" tIns="0" bIns="0" anchor="t"/>
          <a:lstStyle/>
          <a:p>
            <a:pPr>
              <a:lnSpc>
                <a:spcPct val="140000"/>
              </a:lnSpc>
            </a:pPr>
            <a:r>
              <a:rPr sz="1200" b="0">
                <a:solidFill>
                  <a:srgbClr val="46556A"/>
                </a:solidFill>
                <a:latin typeface="Arial"/>
              </a:rPr>
              <a:t>des instructions couvertes, drivers compris</a:t>
            </a:r>
          </a:p>
        </p:txBody>
      </p:sp>
      <p:sp>
        <p:nvSpPr>
          <p:cNvPr id="15" name="Rounded Rectangle 14"/>
          <p:cNvSpPr/>
          <p:nvPr/>
        </p:nvSpPr>
        <p:spPr>
          <a:xfrm>
            <a:off x="8851900" y="1831339"/>
            <a:ext cx="2527300" cy="1229360"/>
          </a:xfrm>
          <a:prstGeom prst="roundRect">
            <a:avLst>
              <a:gd name="adj" fmla="val 8264"/>
            </a:avLst>
          </a:prstGeom>
          <a:solidFill>
            <a:srgbClr val="FBFAF6"/>
          </a:solidFill>
          <a:ln w="6350">
            <a:solidFill>
              <a:srgbClr val="E2DE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5100" y="1983739"/>
            <a:ext cx="2120900" cy="447040"/>
          </a:xfrm>
          <a:prstGeom prst="rect">
            <a:avLst/>
          </a:prstGeom>
          <a:noFill/>
        </p:spPr>
        <p:txBody>
          <a:bodyPr wrap="square" lIns="0" rIns="0" tIns="0" bIns="0" anchor="t"/>
          <a:lstStyle/>
          <a:p>
            <a:pPr>
              <a:lnSpc>
                <a:spcPct val="110000"/>
              </a:lnSpc>
            </a:pPr>
            <a:r>
              <a:rPr sz="3200" b="1">
                <a:solidFill>
                  <a:srgbClr val="2A6496"/>
                </a:solidFill>
                <a:latin typeface="Arial"/>
              </a:rPr>
              <a:t>78,6 %</a:t>
            </a:r>
          </a:p>
        </p:txBody>
      </p:sp>
      <p:sp>
        <p:nvSpPr>
          <p:cNvPr id="17" name="TextBox 16"/>
          <p:cNvSpPr txBox="1"/>
          <p:nvPr/>
        </p:nvSpPr>
        <p:spPr>
          <a:xfrm>
            <a:off x="9055100" y="2481579"/>
            <a:ext cx="2120900" cy="213359"/>
          </a:xfrm>
          <a:prstGeom prst="rect">
            <a:avLst/>
          </a:prstGeom>
          <a:noFill/>
        </p:spPr>
        <p:txBody>
          <a:bodyPr wrap="square" lIns="0" rIns="0" tIns="0" bIns="0" anchor="t"/>
          <a:lstStyle/>
          <a:p>
            <a:pPr>
              <a:lnSpc>
                <a:spcPct val="140000"/>
              </a:lnSpc>
            </a:pPr>
            <a:r>
              <a:rPr sz="1200" b="0">
                <a:solidFill>
                  <a:srgbClr val="46556A"/>
                </a:solidFill>
                <a:latin typeface="Arial"/>
              </a:rPr>
              <a:t>des branches couvertes</a:t>
            </a:r>
          </a:p>
        </p:txBody>
      </p:sp>
      <p:sp>
        <p:nvSpPr>
          <p:cNvPr id="18" name="TextBox 17"/>
          <p:cNvSpPr txBox="1"/>
          <p:nvPr/>
        </p:nvSpPr>
        <p:spPr>
          <a:xfrm>
            <a:off x="812800" y="3314700"/>
            <a:ext cx="10566400" cy="190500"/>
          </a:xfrm>
          <a:prstGeom prst="rect">
            <a:avLst/>
          </a:prstGeom>
          <a:noFill/>
        </p:spPr>
        <p:txBody>
          <a:bodyPr wrap="square" lIns="0" rIns="0" tIns="0" bIns="0" anchor="t"/>
          <a:lstStyle/>
          <a:p>
            <a:pPr>
              <a:lnSpc>
                <a:spcPct val="125000"/>
              </a:lnSpc>
            </a:pPr>
            <a:r>
              <a:rPr sz="1200" b="1" spc="100">
                <a:solidFill>
                  <a:srgbClr val="46556A"/>
                </a:solidFill>
                <a:latin typeface="Arial"/>
              </a:rPr>
              <a:t>PIPELINES JENKINS DEV, FHML ET PRD</a:t>
            </a:r>
          </a:p>
        </p:txBody>
      </p:sp>
      <p:sp>
        <p:nvSpPr>
          <p:cNvPr id="19" name="Rounded Rectangle 18"/>
          <p:cNvSpPr/>
          <p:nvPr/>
        </p:nvSpPr>
        <p:spPr>
          <a:xfrm>
            <a:off x="812800" y="3606800"/>
            <a:ext cx="603250" cy="317500"/>
          </a:xfrm>
          <a:prstGeom prst="roundRect">
            <a:avLst>
              <a:gd name="adj" fmla="val 16000"/>
            </a:avLst>
          </a:prstGeom>
          <a:solidFill>
            <a:srgbClr val="DCE8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3670300"/>
            <a:ext cx="400050" cy="190500"/>
          </a:xfrm>
          <a:prstGeom prst="rect">
            <a:avLst/>
          </a:prstGeom>
          <a:noFill/>
        </p:spPr>
        <p:txBody>
          <a:bodyPr wrap="square" lIns="0" rIns="0" tIns="0" bIns="0" anchor="ctr"/>
          <a:lstStyle/>
          <a:p>
            <a:pPr>
              <a:lnSpc>
                <a:spcPct val="125000"/>
              </a:lnSpc>
            </a:pPr>
            <a:r>
              <a:rPr sz="1200" b="1">
                <a:solidFill>
                  <a:srgbClr val="12233B"/>
                </a:solidFill>
                <a:latin typeface="Arial"/>
              </a:rPr>
              <a:t>Build</a:t>
            </a:r>
          </a:p>
        </p:txBody>
      </p:sp>
      <p:sp>
        <p:nvSpPr>
          <p:cNvPr id="21" name="Right Arrow 20"/>
          <p:cNvSpPr/>
          <p:nvPr/>
        </p:nvSpPr>
        <p:spPr>
          <a:xfrm>
            <a:off x="1492250" y="3714750"/>
            <a:ext cx="203200" cy="101600"/>
          </a:xfrm>
          <a:prstGeom prst="rightArrow">
            <a:avLst/>
          </a:prstGeom>
          <a:solidFill>
            <a:srgbClr val="9AA6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771650" y="3606800"/>
            <a:ext cx="1612701" cy="317500"/>
          </a:xfrm>
          <a:prstGeom prst="roundRect">
            <a:avLst>
              <a:gd name="adj" fmla="val 16000"/>
            </a:avLst>
          </a:prstGeom>
          <a:solidFill>
            <a:srgbClr val="DCE8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873250" y="3670300"/>
            <a:ext cx="1409501" cy="190500"/>
          </a:xfrm>
          <a:prstGeom prst="rect">
            <a:avLst/>
          </a:prstGeom>
          <a:noFill/>
        </p:spPr>
        <p:txBody>
          <a:bodyPr wrap="square" lIns="0" rIns="0" tIns="0" bIns="0" anchor="ctr"/>
          <a:lstStyle/>
          <a:p>
            <a:pPr>
              <a:lnSpc>
                <a:spcPct val="125000"/>
              </a:lnSpc>
            </a:pPr>
            <a:r>
              <a:rPr sz="1200" b="1">
                <a:solidFill>
                  <a:srgbClr val="12233B"/>
                </a:solidFill>
                <a:latin typeface="Arial"/>
              </a:rPr>
              <a:t>Tests et couverture</a:t>
            </a:r>
          </a:p>
        </p:txBody>
      </p:sp>
      <p:sp>
        <p:nvSpPr>
          <p:cNvPr id="24" name="Right Arrow 23"/>
          <p:cNvSpPr/>
          <p:nvPr/>
        </p:nvSpPr>
        <p:spPr>
          <a:xfrm>
            <a:off x="3460551" y="3714750"/>
            <a:ext cx="203200" cy="101600"/>
          </a:xfrm>
          <a:prstGeom prst="rightArrow">
            <a:avLst/>
          </a:prstGeom>
          <a:solidFill>
            <a:srgbClr val="9AA6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3739951" y="3606800"/>
            <a:ext cx="1720850" cy="317500"/>
          </a:xfrm>
          <a:prstGeom prst="roundRect">
            <a:avLst>
              <a:gd name="adj" fmla="val 16000"/>
            </a:avLst>
          </a:prstGeom>
          <a:solidFill>
            <a:srgbClr val="DCE8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841551" y="3670300"/>
            <a:ext cx="1517650" cy="190500"/>
          </a:xfrm>
          <a:prstGeom prst="rect">
            <a:avLst/>
          </a:prstGeom>
          <a:noFill/>
        </p:spPr>
        <p:txBody>
          <a:bodyPr wrap="square" lIns="0" rIns="0" tIns="0" bIns="0" anchor="ctr"/>
          <a:lstStyle/>
          <a:p>
            <a:pPr>
              <a:lnSpc>
                <a:spcPct val="125000"/>
              </a:lnSpc>
            </a:pPr>
            <a:r>
              <a:rPr sz="1200" b="1">
                <a:solidFill>
                  <a:srgbClr val="12233B"/>
                </a:solidFill>
                <a:latin typeface="Arial"/>
              </a:rPr>
              <a:t>Sonar et quality gate</a:t>
            </a:r>
          </a:p>
        </p:txBody>
      </p:sp>
      <p:sp>
        <p:nvSpPr>
          <p:cNvPr id="27" name="Right Arrow 26"/>
          <p:cNvSpPr/>
          <p:nvPr/>
        </p:nvSpPr>
        <p:spPr>
          <a:xfrm>
            <a:off x="5537001" y="3714750"/>
            <a:ext cx="203200" cy="101600"/>
          </a:xfrm>
          <a:prstGeom prst="rightArrow">
            <a:avLst/>
          </a:prstGeom>
          <a:solidFill>
            <a:srgbClr val="9AA6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5816401" y="3606800"/>
            <a:ext cx="666750" cy="317500"/>
          </a:xfrm>
          <a:prstGeom prst="roundRect">
            <a:avLst>
              <a:gd name="adj" fmla="val 16000"/>
            </a:avLst>
          </a:prstGeom>
          <a:solidFill>
            <a:srgbClr val="DCE8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918001" y="3670300"/>
            <a:ext cx="463550" cy="190500"/>
          </a:xfrm>
          <a:prstGeom prst="rect">
            <a:avLst/>
          </a:prstGeom>
          <a:noFill/>
        </p:spPr>
        <p:txBody>
          <a:bodyPr wrap="square" lIns="0" rIns="0" tIns="0" bIns="0" anchor="ctr"/>
          <a:lstStyle/>
          <a:p>
            <a:pPr>
              <a:lnSpc>
                <a:spcPct val="125000"/>
              </a:lnSpc>
            </a:pPr>
            <a:r>
              <a:rPr sz="1200" b="1">
                <a:solidFill>
                  <a:srgbClr val="12233B"/>
                </a:solidFill>
                <a:latin typeface="Arial"/>
              </a:rPr>
              <a:t>Nexus</a:t>
            </a:r>
          </a:p>
        </p:txBody>
      </p:sp>
      <p:sp>
        <p:nvSpPr>
          <p:cNvPr id="30" name="Right Arrow 29"/>
          <p:cNvSpPr/>
          <p:nvPr/>
        </p:nvSpPr>
        <p:spPr>
          <a:xfrm>
            <a:off x="6559351" y="3714750"/>
            <a:ext cx="203200" cy="101600"/>
          </a:xfrm>
          <a:prstGeom prst="rightArrow">
            <a:avLst/>
          </a:prstGeom>
          <a:solidFill>
            <a:srgbClr val="9AA6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838751" y="3606800"/>
            <a:ext cx="1263451" cy="317500"/>
          </a:xfrm>
          <a:prstGeom prst="roundRect">
            <a:avLst>
              <a:gd name="adj" fmla="val 16000"/>
            </a:avLst>
          </a:prstGeom>
          <a:solidFill>
            <a:srgbClr val="DCE8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940351" y="3670300"/>
            <a:ext cx="1060251" cy="190500"/>
          </a:xfrm>
          <a:prstGeom prst="rect">
            <a:avLst/>
          </a:prstGeom>
          <a:noFill/>
        </p:spPr>
        <p:txBody>
          <a:bodyPr wrap="square" lIns="0" rIns="0" tIns="0" bIns="0" anchor="ctr"/>
          <a:lstStyle/>
          <a:p>
            <a:pPr>
              <a:lnSpc>
                <a:spcPct val="125000"/>
              </a:lnSpc>
            </a:pPr>
            <a:r>
              <a:rPr sz="1200" b="1">
                <a:solidFill>
                  <a:srgbClr val="12233B"/>
                </a:solidFill>
                <a:latin typeface="Arial"/>
              </a:rPr>
              <a:t>Ansible Tower</a:t>
            </a:r>
          </a:p>
        </p:txBody>
      </p:sp>
      <p:sp>
        <p:nvSpPr>
          <p:cNvPr id="33" name="TextBox 32"/>
          <p:cNvSpPr txBox="1"/>
          <p:nvPr/>
        </p:nvSpPr>
        <p:spPr>
          <a:xfrm>
            <a:off x="812800" y="4178300"/>
            <a:ext cx="10566400" cy="266700"/>
          </a:xfrm>
          <a:prstGeom prst="rect">
            <a:avLst/>
          </a:prstGeom>
          <a:noFill/>
        </p:spPr>
        <p:txBody>
          <a:bodyPr wrap="square" lIns="0" rIns="0" tIns="0" bIns="0" anchor="t"/>
          <a:lstStyle/>
          <a:p>
            <a:pPr>
              <a:lnSpc>
                <a:spcPct val="140000"/>
              </a:lnSpc>
            </a:pPr>
            <a:r>
              <a:rPr sz="1500" b="0">
                <a:solidFill>
                  <a:srgbClr val="46556A"/>
                </a:solidFill>
                <a:latin typeface="Arial"/>
              </a:rPr>
              <a:t>Les tests de bout en bout rejouent chaque chaîne en local, avec son vrai fichier de configuration ; SQL Server y est simulé.</a:t>
            </a:r>
          </a:p>
        </p:txBody>
      </p:sp>
      <p:sp>
        <p:nvSpPr>
          <p:cNvPr id="34" name="TextBox 33"/>
          <p:cNvSpPr txBox="1"/>
          <p:nvPr/>
        </p:nvSpPr>
        <p:spPr>
          <a:xfrm>
            <a:off x="812800" y="6261100"/>
            <a:ext cx="3644503" cy="190500"/>
          </a:xfrm>
          <a:prstGeom prst="rect">
            <a:avLst/>
          </a:prstGeom>
          <a:noFill/>
        </p:spPr>
        <p:txBody>
          <a:bodyPr wrap="square" lIns="0" rIns="0" tIns="0" bIns="0" anchor="t"/>
          <a:lstStyle/>
          <a:p>
            <a:pPr>
              <a:lnSpc>
                <a:spcPct val="125000"/>
              </a:lnSpc>
            </a:pPr>
            <a:r>
              <a:rPr sz="1200" b="0">
                <a:solidFill>
                  <a:srgbClr val="5B6677"/>
                </a:solidFill>
                <a:latin typeface="Arial"/>
              </a:rPr>
              <a:t>BSY_REO · chaînes REO AJUST, MYREO et COVID</a:t>
            </a:r>
          </a:p>
        </p:txBody>
      </p:sp>
      <p:sp>
        <p:nvSpPr>
          <p:cNvPr id="35" name="TextBox 34"/>
          <p:cNvSpPr txBox="1"/>
          <p:nvPr/>
        </p:nvSpPr>
        <p:spPr>
          <a:xfrm>
            <a:off x="11201400" y="6261100"/>
            <a:ext cx="177800" cy="190500"/>
          </a:xfrm>
          <a:prstGeom prst="rect">
            <a:avLst/>
          </a:prstGeom>
          <a:noFill/>
        </p:spPr>
        <p:txBody>
          <a:bodyPr wrap="square" lIns="0" rIns="0" tIns="0" bIns="0" anchor="t"/>
          <a:lstStyle/>
          <a:p>
            <a:pPr>
              <a:lnSpc>
                <a:spcPct val="125000"/>
              </a:lnSpc>
            </a:pPr>
            <a:r>
              <a:rPr sz="1200" b="0">
                <a:solidFill>
                  <a:srgbClr val="5B6677"/>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6858000"/>
          </a:xfrm>
          <a:prstGeom prst="rect">
            <a:avLst/>
          </a:prstGeom>
          <a:solidFill>
            <a:srgbClr val="F5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12800" y="812800"/>
            <a:ext cx="10566400" cy="190500"/>
          </a:xfrm>
          <a:prstGeom prst="rect">
            <a:avLst/>
          </a:prstGeom>
          <a:noFill/>
        </p:spPr>
        <p:txBody>
          <a:bodyPr wrap="square" lIns="0" rIns="0" tIns="0" bIns="0" anchor="t"/>
          <a:lstStyle/>
          <a:p>
            <a:pPr>
              <a:lnSpc>
                <a:spcPct val="125000"/>
              </a:lnSpc>
            </a:pPr>
            <a:r>
              <a:rPr sz="1200" b="1" spc="150">
                <a:solidFill>
                  <a:srgbClr val="46556A"/>
                </a:solidFill>
                <a:latin typeface="Arial"/>
              </a:rPr>
              <a:t>POINTS OUVERTS</a:t>
            </a:r>
          </a:p>
        </p:txBody>
      </p:sp>
      <p:sp>
        <p:nvSpPr>
          <p:cNvPr id="5" name="TextBox 4"/>
          <p:cNvSpPr txBox="1"/>
          <p:nvPr/>
        </p:nvSpPr>
        <p:spPr>
          <a:xfrm>
            <a:off x="812800" y="1079500"/>
            <a:ext cx="10566400" cy="447040"/>
          </a:xfrm>
          <a:prstGeom prst="rect">
            <a:avLst/>
          </a:prstGeom>
          <a:noFill/>
        </p:spPr>
        <p:txBody>
          <a:bodyPr wrap="square" lIns="0" rIns="0" tIns="0" bIns="0" anchor="t"/>
          <a:lstStyle/>
          <a:p>
            <a:pPr>
              <a:lnSpc>
                <a:spcPct val="110000"/>
              </a:lnSpc>
            </a:pPr>
            <a:r>
              <a:rPr sz="3200" b="1">
                <a:solidFill>
                  <a:srgbClr val="12233B"/>
                </a:solidFill>
                <a:latin typeface="Arial"/>
              </a:rPr>
              <a:t>Points AJUST et MYREO à faire valider</a:t>
            </a:r>
          </a:p>
        </p:txBody>
      </p:sp>
      <p:sp>
        <p:nvSpPr>
          <p:cNvPr id="6" name="Rounded Rectangle 5"/>
          <p:cNvSpPr/>
          <p:nvPr/>
        </p:nvSpPr>
        <p:spPr>
          <a:xfrm>
            <a:off x="812800" y="1831339"/>
            <a:ext cx="5181600" cy="2514600"/>
          </a:xfrm>
          <a:prstGeom prst="roundRect">
            <a:avLst>
              <a:gd name="adj" fmla="val 4040"/>
            </a:avLst>
          </a:prstGeom>
          <a:solidFill>
            <a:srgbClr val="FBFAF6"/>
          </a:solidFill>
          <a:ln w="12700">
            <a:solidFill>
              <a:srgbClr val="2A649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66800" y="2034539"/>
            <a:ext cx="4673600" cy="304800"/>
          </a:xfrm>
          <a:prstGeom prst="rect">
            <a:avLst/>
          </a:prstGeom>
          <a:noFill/>
        </p:spPr>
        <p:txBody>
          <a:bodyPr wrap="square" lIns="0" rIns="0" tIns="0" bIns="0" anchor="t"/>
          <a:lstStyle/>
          <a:p>
            <a:pPr>
              <a:lnSpc>
                <a:spcPct val="120000"/>
              </a:lnSpc>
            </a:pPr>
            <a:r>
              <a:rPr sz="2000" b="1">
                <a:solidFill>
                  <a:srgbClr val="2A6496"/>
                </a:solidFill>
                <a:latin typeface="Arial"/>
              </a:rPr>
              <a:t>AJUST</a:t>
            </a:r>
          </a:p>
        </p:txBody>
      </p:sp>
      <p:sp>
        <p:nvSpPr>
          <p:cNvPr id="8" name="TextBox 7"/>
          <p:cNvSpPr txBox="1"/>
          <p:nvPr/>
        </p:nvSpPr>
        <p:spPr>
          <a:xfrm>
            <a:off x="1066800" y="2440940"/>
            <a:ext cx="203200" cy="533400"/>
          </a:xfrm>
          <a:prstGeom prst="rect">
            <a:avLst/>
          </a:prstGeom>
          <a:noFill/>
        </p:spPr>
        <p:txBody>
          <a:bodyPr wrap="none" lIns="0" tIns="0">
            <a:spAutoFit/>
          </a:bodyPr>
          <a:lstStyle/>
          <a:p>
            <a:r>
              <a:rPr sz="1500">
                <a:solidFill>
                  <a:srgbClr val="46556A"/>
                </a:solidFill>
                <a:latin typeface="Arial"/>
              </a:rPr>
              <a:t>•</a:t>
            </a:r>
          </a:p>
        </p:txBody>
      </p:sp>
      <p:sp>
        <p:nvSpPr>
          <p:cNvPr id="9" name="TextBox 8"/>
          <p:cNvSpPr txBox="1"/>
          <p:nvPr/>
        </p:nvSpPr>
        <p:spPr>
          <a:xfrm>
            <a:off x="1320800" y="2440940"/>
            <a:ext cx="4419600" cy="533400"/>
          </a:xfrm>
          <a:prstGeom prst="rect">
            <a:avLst/>
          </a:prstGeom>
          <a:noFill/>
        </p:spPr>
        <p:txBody>
          <a:bodyPr wrap="square" lIns="0" rIns="0" tIns="0" bIns="0" anchor="t"/>
          <a:lstStyle/>
          <a:p>
            <a:pPr>
              <a:lnSpc>
                <a:spcPct val="140000"/>
              </a:lnSpc>
            </a:pPr>
            <a:r>
              <a:rPr sz="1500" b="0">
                <a:solidFill>
                  <a:srgbClr val="46556A"/>
                </a:solidFill>
                <a:latin typeface="Arial"/>
              </a:rPr>
              <a:t>La conso BV ne filtre pas par type : chaque type actif reçoit le même contenu.</a:t>
            </a:r>
          </a:p>
        </p:txBody>
      </p:sp>
      <p:sp>
        <p:nvSpPr>
          <p:cNvPr id="10" name="TextBox 9"/>
          <p:cNvSpPr txBox="1"/>
          <p:nvPr/>
        </p:nvSpPr>
        <p:spPr>
          <a:xfrm>
            <a:off x="1066800" y="3025140"/>
            <a:ext cx="203200" cy="533400"/>
          </a:xfrm>
          <a:prstGeom prst="rect">
            <a:avLst/>
          </a:prstGeom>
          <a:noFill/>
        </p:spPr>
        <p:txBody>
          <a:bodyPr wrap="none" lIns="0" tIns="0">
            <a:spAutoFit/>
          </a:bodyPr>
          <a:lstStyle/>
          <a:p>
            <a:r>
              <a:rPr sz="1500">
                <a:solidFill>
                  <a:srgbClr val="46556A"/>
                </a:solidFill>
                <a:latin typeface="Arial"/>
              </a:rPr>
              <a:t>•</a:t>
            </a:r>
          </a:p>
        </p:txBody>
      </p:sp>
      <p:sp>
        <p:nvSpPr>
          <p:cNvPr id="11" name="TextBox 10"/>
          <p:cNvSpPr txBox="1"/>
          <p:nvPr/>
        </p:nvSpPr>
        <p:spPr>
          <a:xfrm>
            <a:off x="1320800" y="3025140"/>
            <a:ext cx="4419600" cy="533400"/>
          </a:xfrm>
          <a:prstGeom prst="rect">
            <a:avLst/>
          </a:prstGeom>
          <a:noFill/>
        </p:spPr>
        <p:txBody>
          <a:bodyPr wrap="square" lIns="0" rIns="0" tIns="0" bIns="0" anchor="t"/>
          <a:lstStyle/>
          <a:p>
            <a:pPr>
              <a:lnSpc>
                <a:spcPct val="140000"/>
              </a:lnSpc>
            </a:pPr>
            <a:r>
              <a:rPr sz="1500" b="0">
                <a:solidFill>
                  <a:srgbClr val="46556A"/>
                </a:solidFill>
                <a:latin typeface="Arial"/>
              </a:rPr>
              <a:t>Le SV et le BV ne gardent que le dernier fichier déposé, par ordre alphabétique.</a:t>
            </a:r>
          </a:p>
        </p:txBody>
      </p:sp>
      <p:sp>
        <p:nvSpPr>
          <p:cNvPr id="12" name="Rounded Rectangle 11"/>
          <p:cNvSpPr/>
          <p:nvPr/>
        </p:nvSpPr>
        <p:spPr>
          <a:xfrm>
            <a:off x="6197600" y="1831339"/>
            <a:ext cx="5181600" cy="2514600"/>
          </a:xfrm>
          <a:prstGeom prst="roundRect">
            <a:avLst>
              <a:gd name="adj" fmla="val 4040"/>
            </a:avLst>
          </a:prstGeom>
          <a:solidFill>
            <a:srgbClr val="FBFAF6"/>
          </a:solidFill>
          <a:ln w="12700">
            <a:solidFill>
              <a:srgbClr val="A953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51600" y="2034539"/>
            <a:ext cx="4673600" cy="304800"/>
          </a:xfrm>
          <a:prstGeom prst="rect">
            <a:avLst/>
          </a:prstGeom>
          <a:noFill/>
        </p:spPr>
        <p:txBody>
          <a:bodyPr wrap="square" lIns="0" rIns="0" tIns="0" bIns="0" anchor="t"/>
          <a:lstStyle/>
          <a:p>
            <a:pPr>
              <a:lnSpc>
                <a:spcPct val="120000"/>
              </a:lnSpc>
            </a:pPr>
            <a:r>
              <a:rPr sz="2000" b="1">
                <a:solidFill>
                  <a:srgbClr val="A9531C"/>
                </a:solidFill>
                <a:latin typeface="Arial"/>
              </a:rPr>
              <a:t>MYREO</a:t>
            </a:r>
          </a:p>
        </p:txBody>
      </p:sp>
      <p:sp>
        <p:nvSpPr>
          <p:cNvPr id="14" name="TextBox 13"/>
          <p:cNvSpPr txBox="1"/>
          <p:nvPr/>
        </p:nvSpPr>
        <p:spPr>
          <a:xfrm>
            <a:off x="6451600" y="2440940"/>
            <a:ext cx="203200" cy="533400"/>
          </a:xfrm>
          <a:prstGeom prst="rect">
            <a:avLst/>
          </a:prstGeom>
          <a:noFill/>
        </p:spPr>
        <p:txBody>
          <a:bodyPr wrap="none" lIns="0" tIns="0">
            <a:spAutoFit/>
          </a:bodyPr>
          <a:lstStyle/>
          <a:p>
            <a:r>
              <a:rPr sz="1500">
                <a:solidFill>
                  <a:srgbClr val="46556A"/>
                </a:solidFill>
                <a:latin typeface="Arial"/>
              </a:rPr>
              <a:t>•</a:t>
            </a:r>
          </a:p>
        </p:txBody>
      </p:sp>
      <p:sp>
        <p:nvSpPr>
          <p:cNvPr id="15" name="TextBox 14"/>
          <p:cNvSpPr txBox="1"/>
          <p:nvPr/>
        </p:nvSpPr>
        <p:spPr>
          <a:xfrm>
            <a:off x="6705600" y="2440940"/>
            <a:ext cx="4419600" cy="533400"/>
          </a:xfrm>
          <a:prstGeom prst="rect">
            <a:avLst/>
          </a:prstGeom>
          <a:noFill/>
        </p:spPr>
        <p:txBody>
          <a:bodyPr wrap="square" lIns="0" rIns="0" tIns="0" bIns="0" anchor="t"/>
          <a:lstStyle/>
          <a:p>
            <a:pPr>
              <a:lnSpc>
                <a:spcPct val="140000"/>
              </a:lnSpc>
            </a:pPr>
            <a:r>
              <a:rPr sz="1500" b="0">
                <a:solidFill>
                  <a:srgbClr val="46556A"/>
                </a:solidFill>
                <a:latin typeface="Arial"/>
              </a:rPr>
              <a:t>Plusieurs nouveaux fichiers : seul le dernier alimente le SV, tous sont marqués lus.</a:t>
            </a:r>
          </a:p>
        </p:txBody>
      </p:sp>
      <p:sp>
        <p:nvSpPr>
          <p:cNvPr id="16" name="TextBox 15"/>
          <p:cNvSpPr txBox="1"/>
          <p:nvPr/>
        </p:nvSpPr>
        <p:spPr>
          <a:xfrm>
            <a:off x="6451600" y="3025140"/>
            <a:ext cx="203200" cy="533400"/>
          </a:xfrm>
          <a:prstGeom prst="rect">
            <a:avLst/>
          </a:prstGeom>
          <a:noFill/>
        </p:spPr>
        <p:txBody>
          <a:bodyPr wrap="none" lIns="0" tIns="0">
            <a:spAutoFit/>
          </a:bodyPr>
          <a:lstStyle/>
          <a:p>
            <a:r>
              <a:rPr sz="1500">
                <a:solidFill>
                  <a:srgbClr val="46556A"/>
                </a:solidFill>
                <a:latin typeface="Arial"/>
              </a:rPr>
              <a:t>•</a:t>
            </a:r>
          </a:p>
        </p:txBody>
      </p:sp>
      <p:sp>
        <p:nvSpPr>
          <p:cNvPr id="17" name="TextBox 16"/>
          <p:cNvSpPr txBox="1"/>
          <p:nvPr/>
        </p:nvSpPr>
        <p:spPr>
          <a:xfrm>
            <a:off x="6705600" y="3025140"/>
            <a:ext cx="4419600" cy="533400"/>
          </a:xfrm>
          <a:prstGeom prst="rect">
            <a:avLst/>
          </a:prstGeom>
          <a:noFill/>
        </p:spPr>
        <p:txBody>
          <a:bodyPr wrap="square" lIns="0" rIns="0" tIns="0" bIns="0" anchor="t"/>
          <a:lstStyle/>
          <a:p>
            <a:pPr>
              <a:lnSpc>
                <a:spcPct val="140000"/>
              </a:lnSpc>
            </a:pPr>
            <a:r>
              <a:rPr sz="1500" b="0">
                <a:solidFill>
                  <a:srgbClr val="46556A"/>
                </a:solidFill>
                <a:latin typeface="Arial"/>
              </a:rPr>
              <a:t>Une ligne par type actif : une somme tous types confondus multiplie les montants.</a:t>
            </a:r>
          </a:p>
        </p:txBody>
      </p:sp>
      <p:sp>
        <p:nvSpPr>
          <p:cNvPr id="18" name="TextBox 17"/>
          <p:cNvSpPr txBox="1"/>
          <p:nvPr/>
        </p:nvSpPr>
        <p:spPr>
          <a:xfrm>
            <a:off x="6451600" y="3609340"/>
            <a:ext cx="203200" cy="533400"/>
          </a:xfrm>
          <a:prstGeom prst="rect">
            <a:avLst/>
          </a:prstGeom>
          <a:noFill/>
        </p:spPr>
        <p:txBody>
          <a:bodyPr wrap="none" lIns="0" tIns="0">
            <a:spAutoFit/>
          </a:bodyPr>
          <a:lstStyle/>
          <a:p>
            <a:r>
              <a:rPr sz="1500">
                <a:solidFill>
                  <a:srgbClr val="46556A"/>
                </a:solidFill>
                <a:latin typeface="Arial"/>
              </a:rPr>
              <a:t>•</a:t>
            </a:r>
          </a:p>
        </p:txBody>
      </p:sp>
      <p:sp>
        <p:nvSpPr>
          <p:cNvPr id="19" name="TextBox 18"/>
          <p:cNvSpPr txBox="1"/>
          <p:nvPr/>
        </p:nvSpPr>
        <p:spPr>
          <a:xfrm>
            <a:off x="6705600" y="3609340"/>
            <a:ext cx="4419600" cy="533400"/>
          </a:xfrm>
          <a:prstGeom prst="rect">
            <a:avLst/>
          </a:prstGeom>
          <a:noFill/>
        </p:spPr>
        <p:txBody>
          <a:bodyPr wrap="square" lIns="0" rIns="0" tIns="0" bIns="0" anchor="t"/>
          <a:lstStyle/>
          <a:p>
            <a:pPr>
              <a:lnSpc>
                <a:spcPct val="140000"/>
              </a:lnSpc>
            </a:pPr>
            <a:r>
              <a:rPr sz="1500" b="0">
                <a:solidFill>
                  <a:srgbClr val="46556A"/>
                </a:solidFill>
                <a:latin typeface="Arial"/>
              </a:rPr>
              <a:t>Montant invalide ou fichier CRLF : valeur 0.0, désormais signalée dans les logs.</a:t>
            </a:r>
          </a:p>
        </p:txBody>
      </p:sp>
      <p:sp>
        <p:nvSpPr>
          <p:cNvPr id="20" name="TextBox 19"/>
          <p:cNvSpPr txBox="1"/>
          <p:nvPr/>
        </p:nvSpPr>
        <p:spPr>
          <a:xfrm>
            <a:off x="812800" y="4599940"/>
            <a:ext cx="10566400" cy="266700"/>
          </a:xfrm>
          <a:prstGeom prst="rect">
            <a:avLst/>
          </a:prstGeom>
          <a:noFill/>
        </p:spPr>
        <p:txBody>
          <a:bodyPr wrap="square" lIns="0" rIns="0" tIns="0" bIns="0" anchor="t"/>
          <a:lstStyle/>
          <a:p>
            <a:pPr>
              <a:lnSpc>
                <a:spcPct val="140000"/>
              </a:lnSpc>
            </a:pPr>
            <a:r>
              <a:rPr sz="1500" b="0">
                <a:solidFill>
                  <a:srgbClr val="46556A"/>
                </a:solidFill>
                <a:latin typeface="Arial"/>
              </a:rPr>
              <a:t>Ces comportements Talend sont conservés à l’identique, en attendant une confirmation.</a:t>
            </a:r>
          </a:p>
        </p:txBody>
      </p:sp>
      <p:sp>
        <p:nvSpPr>
          <p:cNvPr id="21" name="TextBox 20"/>
          <p:cNvSpPr txBox="1"/>
          <p:nvPr/>
        </p:nvSpPr>
        <p:spPr>
          <a:xfrm>
            <a:off x="812800" y="6261100"/>
            <a:ext cx="3644503" cy="190500"/>
          </a:xfrm>
          <a:prstGeom prst="rect">
            <a:avLst/>
          </a:prstGeom>
          <a:noFill/>
        </p:spPr>
        <p:txBody>
          <a:bodyPr wrap="square" lIns="0" rIns="0" tIns="0" bIns="0" anchor="t"/>
          <a:lstStyle/>
          <a:p>
            <a:pPr>
              <a:lnSpc>
                <a:spcPct val="125000"/>
              </a:lnSpc>
            </a:pPr>
            <a:r>
              <a:rPr sz="1200" b="0">
                <a:solidFill>
                  <a:srgbClr val="5B6677"/>
                </a:solidFill>
                <a:latin typeface="Arial"/>
              </a:rPr>
              <a:t>BSY_REO · chaînes REO AJUST, MYREO et COVID</a:t>
            </a:r>
          </a:p>
        </p:txBody>
      </p:sp>
      <p:sp>
        <p:nvSpPr>
          <p:cNvPr id="22" name="TextBox 21"/>
          <p:cNvSpPr txBox="1"/>
          <p:nvPr/>
        </p:nvSpPr>
        <p:spPr>
          <a:xfrm>
            <a:off x="11201400" y="6261100"/>
            <a:ext cx="177800" cy="190500"/>
          </a:xfrm>
          <a:prstGeom prst="rect">
            <a:avLst/>
          </a:prstGeom>
          <a:noFill/>
        </p:spPr>
        <p:txBody>
          <a:bodyPr wrap="square" lIns="0" rIns="0" tIns="0" bIns="0" anchor="t"/>
          <a:lstStyle/>
          <a:p>
            <a:pPr>
              <a:lnSpc>
                <a:spcPct val="125000"/>
              </a:lnSpc>
            </a:pPr>
            <a:r>
              <a:rPr sz="1200" b="0">
                <a:solidFill>
                  <a:srgbClr val="5B6677"/>
                </a:solidFill>
                <a:latin typeface="Aria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6858000"/>
          </a:xfrm>
          <a:prstGeom prst="rect">
            <a:avLst/>
          </a:prstGeom>
          <a:solidFill>
            <a:srgbClr val="F5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12800" y="812800"/>
            <a:ext cx="10566400" cy="190500"/>
          </a:xfrm>
          <a:prstGeom prst="rect">
            <a:avLst/>
          </a:prstGeom>
          <a:noFill/>
        </p:spPr>
        <p:txBody>
          <a:bodyPr wrap="square" lIns="0" rIns="0" tIns="0" bIns="0" anchor="t"/>
          <a:lstStyle/>
          <a:p>
            <a:pPr>
              <a:lnSpc>
                <a:spcPct val="125000"/>
              </a:lnSpc>
            </a:pPr>
            <a:r>
              <a:rPr sz="1200" b="1" spc="150">
                <a:solidFill>
                  <a:srgbClr val="24685A"/>
                </a:solidFill>
                <a:latin typeface="Arial"/>
              </a:rPr>
              <a:t>POINTS OUVERTS · COVID</a:t>
            </a:r>
          </a:p>
        </p:txBody>
      </p:sp>
      <p:sp>
        <p:nvSpPr>
          <p:cNvPr id="5" name="TextBox 4"/>
          <p:cNvSpPr txBox="1"/>
          <p:nvPr/>
        </p:nvSpPr>
        <p:spPr>
          <a:xfrm>
            <a:off x="812800" y="1079500"/>
            <a:ext cx="10566400" cy="447040"/>
          </a:xfrm>
          <a:prstGeom prst="rect">
            <a:avLst/>
          </a:prstGeom>
          <a:noFill/>
        </p:spPr>
        <p:txBody>
          <a:bodyPr wrap="square" lIns="0" rIns="0" tIns="0" bIns="0" anchor="t"/>
          <a:lstStyle/>
          <a:p>
            <a:pPr>
              <a:lnSpc>
                <a:spcPct val="110000"/>
              </a:lnSpc>
            </a:pPr>
            <a:r>
              <a:rPr sz="3200" b="1">
                <a:solidFill>
                  <a:srgbClr val="12233B"/>
                </a:solidFill>
                <a:latin typeface="Arial"/>
              </a:rPr>
              <a:t>Points COVID à faire valider</a:t>
            </a:r>
          </a:p>
        </p:txBody>
      </p:sp>
      <p:sp>
        <p:nvSpPr>
          <p:cNvPr id="6" name="Rounded Rectangle 5"/>
          <p:cNvSpPr/>
          <p:nvPr/>
        </p:nvSpPr>
        <p:spPr>
          <a:xfrm>
            <a:off x="812800" y="1831339"/>
            <a:ext cx="5219700" cy="708660"/>
          </a:xfrm>
          <a:prstGeom prst="roundRect">
            <a:avLst>
              <a:gd name="adj" fmla="val 7168"/>
            </a:avLst>
          </a:prstGeom>
          <a:solidFill>
            <a:srgbClr val="FBF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12800" y="1831339"/>
            <a:ext cx="38100" cy="708660"/>
          </a:xfrm>
          <a:prstGeom prst="rect">
            <a:avLst/>
          </a:prstGeom>
          <a:solidFill>
            <a:srgbClr val="246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90600" y="1958339"/>
            <a:ext cx="4864100" cy="190500"/>
          </a:xfrm>
          <a:prstGeom prst="rect">
            <a:avLst/>
          </a:prstGeom>
          <a:noFill/>
        </p:spPr>
        <p:txBody>
          <a:bodyPr wrap="square" lIns="0" rIns="0" tIns="0" bIns="0" anchor="t"/>
          <a:lstStyle/>
          <a:p>
            <a:pPr>
              <a:lnSpc>
                <a:spcPct val="125000"/>
              </a:lnSpc>
            </a:pPr>
            <a:r>
              <a:rPr sz="1200" b="1">
                <a:solidFill>
                  <a:srgbClr val="12233B"/>
                </a:solidFill>
                <a:latin typeface="Arial"/>
              </a:rPr>
              <a:t>Chemin du SV lu par J1</a:t>
            </a:r>
          </a:p>
        </p:txBody>
      </p:sp>
      <p:sp>
        <p:nvSpPr>
          <p:cNvPr id="9" name="TextBox 8"/>
          <p:cNvSpPr txBox="1"/>
          <p:nvPr/>
        </p:nvSpPr>
        <p:spPr>
          <a:xfrm>
            <a:off x="990600" y="2199640"/>
            <a:ext cx="4864100" cy="213359"/>
          </a:xfrm>
          <a:prstGeom prst="rect">
            <a:avLst/>
          </a:prstGeom>
          <a:noFill/>
        </p:spPr>
        <p:txBody>
          <a:bodyPr wrap="square" lIns="0" rIns="0" tIns="0" bIns="0" anchor="t"/>
          <a:lstStyle/>
          <a:p>
            <a:pPr>
              <a:lnSpc>
                <a:spcPct val="140000"/>
              </a:lnSpc>
            </a:pPr>
            <a:r>
              <a:rPr sz="1200" b="0">
                <a:solidFill>
                  <a:srgbClr val="46556A"/>
                </a:solidFill>
                <a:latin typeface="Arial"/>
              </a:rPr>
              <a:t>Cassé en production chez Talend, corrigé ici</a:t>
            </a:r>
          </a:p>
        </p:txBody>
      </p:sp>
      <p:sp>
        <p:nvSpPr>
          <p:cNvPr id="10" name="Rounded Rectangle 9"/>
          <p:cNvSpPr/>
          <p:nvPr/>
        </p:nvSpPr>
        <p:spPr>
          <a:xfrm>
            <a:off x="6159500" y="1831339"/>
            <a:ext cx="5219700" cy="708660"/>
          </a:xfrm>
          <a:prstGeom prst="roundRect">
            <a:avLst>
              <a:gd name="adj" fmla="val 7168"/>
            </a:avLst>
          </a:prstGeom>
          <a:solidFill>
            <a:srgbClr val="FBF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59500" y="1831339"/>
            <a:ext cx="38100" cy="708660"/>
          </a:xfrm>
          <a:prstGeom prst="rect">
            <a:avLst/>
          </a:prstGeom>
          <a:solidFill>
            <a:srgbClr val="246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37300" y="1958339"/>
            <a:ext cx="4864100" cy="190500"/>
          </a:xfrm>
          <a:prstGeom prst="rect">
            <a:avLst/>
          </a:prstGeom>
          <a:noFill/>
        </p:spPr>
        <p:txBody>
          <a:bodyPr wrap="square" lIns="0" rIns="0" tIns="0" bIns="0" anchor="t"/>
          <a:lstStyle/>
          <a:p>
            <a:pPr>
              <a:lnSpc>
                <a:spcPct val="125000"/>
              </a:lnSpc>
            </a:pPr>
            <a:r>
              <a:rPr sz="1200" b="1">
                <a:solidFill>
                  <a:srgbClr val="12233B"/>
                </a:solidFill>
                <a:latin typeface="Arial"/>
              </a:rPr>
              <a:t>Fichier SV commun avec MYREO</a:t>
            </a:r>
          </a:p>
        </p:txBody>
      </p:sp>
      <p:sp>
        <p:nvSpPr>
          <p:cNvPr id="13" name="TextBox 12"/>
          <p:cNvSpPr txBox="1"/>
          <p:nvPr/>
        </p:nvSpPr>
        <p:spPr>
          <a:xfrm>
            <a:off x="6337300" y="2199640"/>
            <a:ext cx="4864100" cy="213359"/>
          </a:xfrm>
          <a:prstGeom prst="rect">
            <a:avLst/>
          </a:prstGeom>
          <a:noFill/>
        </p:spPr>
        <p:txBody>
          <a:bodyPr wrap="square" lIns="0" rIns="0" tIns="0" bIns="0" anchor="t"/>
          <a:lstStyle/>
          <a:p>
            <a:pPr>
              <a:lnSpc>
                <a:spcPct val="140000"/>
              </a:lnSpc>
            </a:pPr>
            <a:r>
              <a:rPr sz="1200" b="0">
                <a:solidFill>
                  <a:srgbClr val="46556A"/>
                </a:solidFill>
                <a:latin typeface="Arial"/>
              </a:rPr>
              <a:t>La dernière chaîne exécutée l’écrase</a:t>
            </a:r>
          </a:p>
        </p:txBody>
      </p:sp>
      <p:sp>
        <p:nvSpPr>
          <p:cNvPr id="14" name="Rounded Rectangle 13"/>
          <p:cNvSpPr/>
          <p:nvPr/>
        </p:nvSpPr>
        <p:spPr>
          <a:xfrm>
            <a:off x="812800" y="2667000"/>
            <a:ext cx="5219700" cy="708660"/>
          </a:xfrm>
          <a:prstGeom prst="roundRect">
            <a:avLst>
              <a:gd name="adj" fmla="val 7168"/>
            </a:avLst>
          </a:prstGeom>
          <a:solidFill>
            <a:srgbClr val="FBF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12800" y="2667000"/>
            <a:ext cx="38100" cy="708660"/>
          </a:xfrm>
          <a:prstGeom prst="rect">
            <a:avLst/>
          </a:prstGeom>
          <a:solidFill>
            <a:srgbClr val="246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90600" y="2794000"/>
            <a:ext cx="4864100" cy="190500"/>
          </a:xfrm>
          <a:prstGeom prst="rect">
            <a:avLst/>
          </a:prstGeom>
          <a:noFill/>
        </p:spPr>
        <p:txBody>
          <a:bodyPr wrap="square" lIns="0" rIns="0" tIns="0" bIns="0" anchor="t"/>
          <a:lstStyle/>
          <a:p>
            <a:pPr>
              <a:lnSpc>
                <a:spcPct val="125000"/>
              </a:lnSpc>
            </a:pPr>
            <a:r>
              <a:rPr sz="1200" b="1">
                <a:solidFill>
                  <a:srgbClr val="12233B"/>
                </a:solidFill>
                <a:latin typeface="Arial"/>
              </a:rPr>
              <a:t>Montants de la conso MyREO</a:t>
            </a:r>
          </a:p>
        </p:txBody>
      </p:sp>
      <p:sp>
        <p:nvSpPr>
          <p:cNvPr id="17" name="TextBox 16"/>
          <p:cNvSpPr txBox="1"/>
          <p:nvPr/>
        </p:nvSpPr>
        <p:spPr>
          <a:xfrm>
            <a:off x="990600" y="3035300"/>
            <a:ext cx="4864100" cy="213359"/>
          </a:xfrm>
          <a:prstGeom prst="rect">
            <a:avLst/>
          </a:prstGeom>
          <a:noFill/>
        </p:spPr>
        <p:txBody>
          <a:bodyPr wrap="square" lIns="0" rIns="0" tIns="0" bIns="0" anchor="t"/>
          <a:lstStyle/>
          <a:p>
            <a:pPr>
              <a:lnSpc>
                <a:spcPct val="140000"/>
              </a:lnSpc>
            </a:pPr>
            <a:r>
              <a:rPr sz="1200" b="0">
                <a:solidFill>
                  <a:srgbClr val="46556A"/>
                </a:solidFill>
                <a:latin typeface="Arial"/>
              </a:rPr>
              <a:t>DECIMAL(17,12) chez Talend : 100 000 et plus perdus</a:t>
            </a:r>
          </a:p>
        </p:txBody>
      </p:sp>
      <p:sp>
        <p:nvSpPr>
          <p:cNvPr id="18" name="Rounded Rectangle 17"/>
          <p:cNvSpPr/>
          <p:nvPr/>
        </p:nvSpPr>
        <p:spPr>
          <a:xfrm>
            <a:off x="6159500" y="2667000"/>
            <a:ext cx="5219700" cy="708660"/>
          </a:xfrm>
          <a:prstGeom prst="roundRect">
            <a:avLst>
              <a:gd name="adj" fmla="val 7168"/>
            </a:avLst>
          </a:prstGeom>
          <a:solidFill>
            <a:srgbClr val="FBF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59500" y="2667000"/>
            <a:ext cx="38100" cy="708660"/>
          </a:xfrm>
          <a:prstGeom prst="rect">
            <a:avLst/>
          </a:prstGeom>
          <a:solidFill>
            <a:srgbClr val="246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37300" y="2794000"/>
            <a:ext cx="4864100" cy="190500"/>
          </a:xfrm>
          <a:prstGeom prst="rect">
            <a:avLst/>
          </a:prstGeom>
          <a:noFill/>
        </p:spPr>
        <p:txBody>
          <a:bodyPr wrap="square" lIns="0" rIns="0" tIns="0" bIns="0" anchor="t"/>
          <a:lstStyle/>
          <a:p>
            <a:pPr>
              <a:lnSpc>
                <a:spcPct val="125000"/>
              </a:lnSpc>
            </a:pPr>
            <a:r>
              <a:rPr sz="1200" b="1">
                <a:solidFill>
                  <a:srgbClr val="12233B"/>
                </a:solidFill>
                <a:latin typeface="Arial"/>
              </a:rPr>
              <a:t>Taux en FQ et FY des effectifs</a:t>
            </a:r>
          </a:p>
        </p:txBody>
      </p:sp>
      <p:sp>
        <p:nvSpPr>
          <p:cNvPr id="21" name="TextBox 20"/>
          <p:cNvSpPr txBox="1"/>
          <p:nvPr/>
        </p:nvSpPr>
        <p:spPr>
          <a:xfrm>
            <a:off x="6337300" y="3035300"/>
            <a:ext cx="4864100" cy="213359"/>
          </a:xfrm>
          <a:prstGeom prst="rect">
            <a:avLst/>
          </a:prstGeom>
          <a:noFill/>
        </p:spPr>
        <p:txBody>
          <a:bodyPr wrap="square" lIns="0" rIns="0" tIns="0" bIns="0" anchor="t"/>
          <a:lstStyle/>
          <a:p>
            <a:pPr>
              <a:lnSpc>
                <a:spcPct val="140000"/>
              </a:lnSpc>
            </a:pPr>
            <a:r>
              <a:rPr sz="1200" b="0">
                <a:solidFill>
                  <a:srgbClr val="46556A"/>
                </a:solidFill>
                <a:latin typeface="Arial"/>
              </a:rPr>
              <a:t>Appliqué par J2, pas par J1 : une version est fausse</a:t>
            </a:r>
          </a:p>
        </p:txBody>
      </p:sp>
      <p:sp>
        <p:nvSpPr>
          <p:cNvPr id="22" name="Rounded Rectangle 21"/>
          <p:cNvSpPr/>
          <p:nvPr/>
        </p:nvSpPr>
        <p:spPr>
          <a:xfrm>
            <a:off x="812800" y="3502660"/>
            <a:ext cx="5219700" cy="708660"/>
          </a:xfrm>
          <a:prstGeom prst="roundRect">
            <a:avLst>
              <a:gd name="adj" fmla="val 7168"/>
            </a:avLst>
          </a:prstGeom>
          <a:solidFill>
            <a:srgbClr val="FBF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12800" y="3502660"/>
            <a:ext cx="38100" cy="708660"/>
          </a:xfrm>
          <a:prstGeom prst="rect">
            <a:avLst/>
          </a:prstGeom>
          <a:solidFill>
            <a:srgbClr val="246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90600" y="3629660"/>
            <a:ext cx="4864100" cy="190500"/>
          </a:xfrm>
          <a:prstGeom prst="rect">
            <a:avLst/>
          </a:prstGeom>
          <a:noFill/>
        </p:spPr>
        <p:txBody>
          <a:bodyPr wrap="square" lIns="0" rIns="0" tIns="0" bIns="0" anchor="t"/>
          <a:lstStyle/>
          <a:p>
            <a:pPr>
              <a:lnSpc>
                <a:spcPct val="125000"/>
              </a:lnSpc>
            </a:pPr>
            <a:r>
              <a:rPr sz="1200" b="1">
                <a:solidFill>
                  <a:srgbClr val="12233B"/>
                </a:solidFill>
                <a:latin typeface="Arial"/>
              </a:rPr>
              <a:t>Code retour des procédures</a:t>
            </a:r>
          </a:p>
        </p:txBody>
      </p:sp>
      <p:sp>
        <p:nvSpPr>
          <p:cNvPr id="25" name="TextBox 24"/>
          <p:cNvSpPr txBox="1"/>
          <p:nvPr/>
        </p:nvSpPr>
        <p:spPr>
          <a:xfrm>
            <a:off x="990600" y="3870960"/>
            <a:ext cx="4864100" cy="213359"/>
          </a:xfrm>
          <a:prstGeom prst="rect">
            <a:avLst/>
          </a:prstGeom>
          <a:noFill/>
        </p:spPr>
        <p:txBody>
          <a:bodyPr wrap="square" lIns="0" rIns="0" tIns="0" bIns="0" anchor="t"/>
          <a:lstStyle/>
          <a:p>
            <a:pPr>
              <a:lnSpc>
                <a:spcPct val="140000"/>
              </a:lnSpc>
            </a:pPr>
            <a:r>
              <a:rPr sz="1200" b="0">
                <a:solidFill>
                  <a:srgbClr val="46556A"/>
                </a:solidFill>
                <a:latin typeface="Arial"/>
              </a:rPr>
              <a:t>Contrat à obtenir du DBA ; alerte par défaut</a:t>
            </a:r>
          </a:p>
        </p:txBody>
      </p:sp>
      <p:sp>
        <p:nvSpPr>
          <p:cNvPr id="26" name="Rounded Rectangle 25"/>
          <p:cNvSpPr/>
          <p:nvPr/>
        </p:nvSpPr>
        <p:spPr>
          <a:xfrm>
            <a:off x="6159500" y="3502660"/>
            <a:ext cx="5219700" cy="708660"/>
          </a:xfrm>
          <a:prstGeom prst="roundRect">
            <a:avLst>
              <a:gd name="adj" fmla="val 7168"/>
            </a:avLst>
          </a:prstGeom>
          <a:solidFill>
            <a:srgbClr val="FBF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159500" y="3502660"/>
            <a:ext cx="38100" cy="708660"/>
          </a:xfrm>
          <a:prstGeom prst="rect">
            <a:avLst/>
          </a:prstGeom>
          <a:solidFill>
            <a:srgbClr val="246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37300" y="3629660"/>
            <a:ext cx="4864100" cy="190500"/>
          </a:xfrm>
          <a:prstGeom prst="rect">
            <a:avLst/>
          </a:prstGeom>
          <a:noFill/>
        </p:spPr>
        <p:txBody>
          <a:bodyPr wrap="square" lIns="0" rIns="0" tIns="0" bIns="0" anchor="t"/>
          <a:lstStyle/>
          <a:p>
            <a:pPr>
              <a:lnSpc>
                <a:spcPct val="125000"/>
              </a:lnSpc>
            </a:pPr>
            <a:r>
              <a:rPr sz="1200" b="1">
                <a:solidFill>
                  <a:srgbClr val="12233B"/>
                </a:solidFill>
                <a:latin typeface="Arial"/>
              </a:rPr>
              <a:t>Encodage du dépôt AJUST</a:t>
            </a:r>
          </a:p>
        </p:txBody>
      </p:sp>
      <p:sp>
        <p:nvSpPr>
          <p:cNvPr id="29" name="TextBox 28"/>
          <p:cNvSpPr txBox="1"/>
          <p:nvPr/>
        </p:nvSpPr>
        <p:spPr>
          <a:xfrm>
            <a:off x="6337300" y="3870960"/>
            <a:ext cx="4864100" cy="213359"/>
          </a:xfrm>
          <a:prstGeom prst="rect">
            <a:avLst/>
          </a:prstGeom>
          <a:noFill/>
        </p:spPr>
        <p:txBody>
          <a:bodyPr wrap="square" lIns="0" rIns="0" tIns="0" bIns="0" anchor="t"/>
          <a:lstStyle/>
          <a:p>
            <a:pPr>
              <a:lnSpc>
                <a:spcPct val="140000"/>
              </a:lnSpc>
            </a:pPr>
            <a:r>
              <a:rPr sz="1200" b="0">
                <a:solidFill>
                  <a:srgbClr val="46556A"/>
                </a:solidFill>
                <a:latin typeface="Arial"/>
              </a:rPr>
              <a:t>Écrit en UTF-8, relu en ISO-8859-15 par AJUST</a:t>
            </a:r>
          </a:p>
        </p:txBody>
      </p:sp>
      <p:sp>
        <p:nvSpPr>
          <p:cNvPr id="30" name="Rounded Rectangle 29"/>
          <p:cNvSpPr/>
          <p:nvPr/>
        </p:nvSpPr>
        <p:spPr>
          <a:xfrm>
            <a:off x="812800" y="4338320"/>
            <a:ext cx="5219700" cy="708660"/>
          </a:xfrm>
          <a:prstGeom prst="roundRect">
            <a:avLst>
              <a:gd name="adj" fmla="val 7168"/>
            </a:avLst>
          </a:prstGeom>
          <a:solidFill>
            <a:srgbClr val="FBF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12800" y="4338320"/>
            <a:ext cx="38100" cy="708660"/>
          </a:xfrm>
          <a:prstGeom prst="rect">
            <a:avLst/>
          </a:prstGeom>
          <a:solidFill>
            <a:srgbClr val="246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90600" y="4465320"/>
            <a:ext cx="4864100" cy="190500"/>
          </a:xfrm>
          <a:prstGeom prst="rect">
            <a:avLst/>
          </a:prstGeom>
          <a:noFill/>
        </p:spPr>
        <p:txBody>
          <a:bodyPr wrap="square" lIns="0" rIns="0" tIns="0" bIns="0" anchor="t"/>
          <a:lstStyle/>
          <a:p>
            <a:pPr>
              <a:lnSpc>
                <a:spcPct val="125000"/>
              </a:lnSpc>
            </a:pPr>
            <a:r>
              <a:rPr sz="1200" b="1">
                <a:solidFill>
                  <a:srgbClr val="12233B"/>
                </a:solidFill>
                <a:latin typeface="Arial"/>
              </a:rPr>
              <a:t>Clé de classification MyREO</a:t>
            </a:r>
          </a:p>
        </p:txBody>
      </p:sp>
      <p:sp>
        <p:nvSpPr>
          <p:cNvPr id="33" name="TextBox 32"/>
          <p:cNvSpPr txBox="1"/>
          <p:nvPr/>
        </p:nvSpPr>
        <p:spPr>
          <a:xfrm>
            <a:off x="990600" y="4706620"/>
            <a:ext cx="4864100" cy="213359"/>
          </a:xfrm>
          <a:prstGeom prst="rect">
            <a:avLst/>
          </a:prstGeom>
          <a:noFill/>
        </p:spPr>
        <p:txBody>
          <a:bodyPr wrap="square" lIns="0" rIns="0" tIns="0" bIns="0" anchor="t"/>
          <a:lstStyle/>
          <a:p>
            <a:pPr>
              <a:lnSpc>
                <a:spcPct val="140000"/>
              </a:lnSpc>
            </a:pPr>
            <a:r>
              <a:rPr sz="1200" b="0">
                <a:solidFill>
                  <a:srgbClr val="46556A"/>
                </a:solidFill>
                <a:latin typeface="Arial"/>
              </a:rPr>
              <a:t>code_centre_activite au lieu de Code_CA, NULL gardé</a:t>
            </a:r>
          </a:p>
        </p:txBody>
      </p:sp>
      <p:sp>
        <p:nvSpPr>
          <p:cNvPr id="34" name="Rounded Rectangle 33"/>
          <p:cNvSpPr/>
          <p:nvPr/>
        </p:nvSpPr>
        <p:spPr>
          <a:xfrm>
            <a:off x="6159500" y="4338320"/>
            <a:ext cx="5219700" cy="708660"/>
          </a:xfrm>
          <a:prstGeom prst="roundRect">
            <a:avLst>
              <a:gd name="adj" fmla="val 7168"/>
            </a:avLst>
          </a:prstGeom>
          <a:solidFill>
            <a:srgbClr val="FBF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159500" y="4338320"/>
            <a:ext cx="38100" cy="708660"/>
          </a:xfrm>
          <a:prstGeom prst="rect">
            <a:avLst/>
          </a:prstGeom>
          <a:solidFill>
            <a:srgbClr val="246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337300" y="4465320"/>
            <a:ext cx="4864100" cy="190500"/>
          </a:xfrm>
          <a:prstGeom prst="rect">
            <a:avLst/>
          </a:prstGeom>
          <a:noFill/>
        </p:spPr>
        <p:txBody>
          <a:bodyPr wrap="square" lIns="0" rIns="0" tIns="0" bIns="0" anchor="t"/>
          <a:lstStyle/>
          <a:p>
            <a:pPr>
              <a:lnSpc>
                <a:spcPct val="125000"/>
              </a:lnSpc>
            </a:pPr>
            <a:r>
              <a:rPr sz="1200" b="1">
                <a:solidFill>
                  <a:srgbClr val="12233B"/>
                </a:solidFill>
                <a:latin typeface="Arial"/>
              </a:rPr>
              <a:t>Effets de bord non repris</a:t>
            </a:r>
          </a:p>
        </p:txBody>
      </p:sp>
      <p:sp>
        <p:nvSpPr>
          <p:cNvPr id="37" name="TextBox 36"/>
          <p:cNvSpPr txBox="1"/>
          <p:nvPr/>
        </p:nvSpPr>
        <p:spPr>
          <a:xfrm>
            <a:off x="6337300" y="4706620"/>
            <a:ext cx="4864100" cy="213359"/>
          </a:xfrm>
          <a:prstGeom prst="rect">
            <a:avLst/>
          </a:prstGeom>
          <a:noFill/>
        </p:spPr>
        <p:txBody>
          <a:bodyPr wrap="square" lIns="0" rIns="0" tIns="0" bIns="0" anchor="t"/>
          <a:lstStyle/>
          <a:p>
            <a:pPr>
              <a:lnSpc>
                <a:spcPct val="140000"/>
              </a:lnSpc>
            </a:pPr>
            <a:r>
              <a:rPr sz="1200" b="0">
                <a:solidFill>
                  <a:srgbClr val="46556A"/>
                </a:solidFill>
                <a:latin typeface="Arial"/>
              </a:rPr>
              <a:t>Listing du dépôt MyREO, lignes ;;1 de l’historique</a:t>
            </a:r>
          </a:p>
        </p:txBody>
      </p:sp>
      <p:sp>
        <p:nvSpPr>
          <p:cNvPr id="38" name="TextBox 37"/>
          <p:cNvSpPr txBox="1"/>
          <p:nvPr/>
        </p:nvSpPr>
        <p:spPr>
          <a:xfrm>
            <a:off x="812800" y="6261100"/>
            <a:ext cx="3644503" cy="190500"/>
          </a:xfrm>
          <a:prstGeom prst="rect">
            <a:avLst/>
          </a:prstGeom>
          <a:noFill/>
        </p:spPr>
        <p:txBody>
          <a:bodyPr wrap="square" lIns="0" rIns="0" tIns="0" bIns="0" anchor="t"/>
          <a:lstStyle/>
          <a:p>
            <a:pPr>
              <a:lnSpc>
                <a:spcPct val="125000"/>
              </a:lnSpc>
            </a:pPr>
            <a:r>
              <a:rPr sz="1200" b="0">
                <a:solidFill>
                  <a:srgbClr val="5B6677"/>
                </a:solidFill>
                <a:latin typeface="Arial"/>
              </a:rPr>
              <a:t>BSY_REO · chaînes REO AJUST, MYREO et COVID</a:t>
            </a:r>
          </a:p>
        </p:txBody>
      </p:sp>
      <p:sp>
        <p:nvSpPr>
          <p:cNvPr id="39" name="TextBox 38"/>
          <p:cNvSpPr txBox="1"/>
          <p:nvPr/>
        </p:nvSpPr>
        <p:spPr>
          <a:xfrm>
            <a:off x="11201400" y="6261100"/>
            <a:ext cx="177800" cy="190500"/>
          </a:xfrm>
          <a:prstGeom prst="rect">
            <a:avLst/>
          </a:prstGeom>
          <a:noFill/>
        </p:spPr>
        <p:txBody>
          <a:bodyPr wrap="square" lIns="0" rIns="0" tIns="0" bIns="0" anchor="t"/>
          <a:lstStyle/>
          <a:p>
            <a:pPr>
              <a:lnSpc>
                <a:spcPct val="125000"/>
              </a:lnSpc>
            </a:pPr>
            <a:r>
              <a:rPr sz="1200" b="0">
                <a:solidFill>
                  <a:srgbClr val="5B6677"/>
                </a:solidFill>
                <a:latin typeface="Arial"/>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2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6858000"/>
          </a:xfrm>
          <a:prstGeom prst="rect">
            <a:avLst/>
          </a:prstGeom>
          <a:solidFill>
            <a:srgbClr val="12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12800" y="1351280"/>
            <a:ext cx="10566400" cy="447040"/>
          </a:xfrm>
          <a:prstGeom prst="rect">
            <a:avLst/>
          </a:prstGeom>
          <a:noFill/>
        </p:spPr>
        <p:txBody>
          <a:bodyPr wrap="square" lIns="0" rIns="0" tIns="0" bIns="0" anchor="t"/>
          <a:lstStyle/>
          <a:p>
            <a:pPr>
              <a:lnSpc>
                <a:spcPct val="110000"/>
              </a:lnSpc>
            </a:pPr>
            <a:r>
              <a:rPr sz="3200" b="1">
                <a:solidFill>
                  <a:srgbClr val="F5F3EE"/>
                </a:solidFill>
                <a:latin typeface="Arial"/>
              </a:rPr>
              <a:t>Prochaines étapes</a:t>
            </a:r>
          </a:p>
        </p:txBody>
      </p:sp>
      <p:sp>
        <p:nvSpPr>
          <p:cNvPr id="5" name="TextBox 4"/>
          <p:cNvSpPr txBox="1"/>
          <p:nvPr/>
        </p:nvSpPr>
        <p:spPr>
          <a:xfrm>
            <a:off x="812800" y="2153920"/>
            <a:ext cx="457200" cy="508000"/>
          </a:xfrm>
          <a:prstGeom prst="rect">
            <a:avLst/>
          </a:prstGeom>
          <a:noFill/>
        </p:spPr>
        <p:txBody>
          <a:bodyPr wrap="square" lIns="0" rIns="0" tIns="0" bIns="0" anchor="t"/>
          <a:lstStyle/>
          <a:p>
            <a:pPr>
              <a:lnSpc>
                <a:spcPct val="125000"/>
              </a:lnSpc>
            </a:pPr>
            <a:r>
              <a:rPr sz="3200" b="1">
                <a:solidFill>
                  <a:srgbClr val="E9A06A"/>
                </a:solidFill>
                <a:latin typeface="Arial"/>
              </a:rPr>
              <a:t>1</a:t>
            </a:r>
          </a:p>
        </p:txBody>
      </p:sp>
      <p:sp>
        <p:nvSpPr>
          <p:cNvPr id="6" name="TextBox 5"/>
          <p:cNvSpPr txBox="1"/>
          <p:nvPr/>
        </p:nvSpPr>
        <p:spPr>
          <a:xfrm>
            <a:off x="1524000" y="2274570"/>
            <a:ext cx="9855200" cy="266700"/>
          </a:xfrm>
          <a:prstGeom prst="rect">
            <a:avLst/>
          </a:prstGeom>
          <a:noFill/>
        </p:spPr>
        <p:txBody>
          <a:bodyPr wrap="square" lIns="0" rIns="0" tIns="0" bIns="0" anchor="t"/>
          <a:lstStyle/>
          <a:p>
            <a:pPr>
              <a:lnSpc>
                <a:spcPct val="140000"/>
              </a:lnSpc>
            </a:pPr>
            <a:r>
              <a:rPr sz="1500" b="0">
                <a:solidFill>
                  <a:srgbClr val="F5F3EE"/>
                </a:solidFill>
                <a:latin typeface="Arial"/>
              </a:rPr>
              <a:t>Recette parallèle sur HOM : mêmes entrées pour Talend et Spark, sorties comparées ligne à ligne</a:t>
            </a:r>
          </a:p>
        </p:txBody>
      </p:sp>
      <p:sp>
        <p:nvSpPr>
          <p:cNvPr id="7" name="TextBox 6"/>
          <p:cNvSpPr txBox="1"/>
          <p:nvPr/>
        </p:nvSpPr>
        <p:spPr>
          <a:xfrm>
            <a:off x="812800" y="2865120"/>
            <a:ext cx="457200" cy="508000"/>
          </a:xfrm>
          <a:prstGeom prst="rect">
            <a:avLst/>
          </a:prstGeom>
          <a:noFill/>
        </p:spPr>
        <p:txBody>
          <a:bodyPr wrap="square" lIns="0" rIns="0" tIns="0" bIns="0" anchor="t"/>
          <a:lstStyle/>
          <a:p>
            <a:pPr>
              <a:lnSpc>
                <a:spcPct val="125000"/>
              </a:lnSpc>
            </a:pPr>
            <a:r>
              <a:rPr sz="3200" b="1">
                <a:solidFill>
                  <a:srgbClr val="E9A06A"/>
                </a:solidFill>
                <a:latin typeface="Arial"/>
              </a:rPr>
              <a:t>2</a:t>
            </a:r>
          </a:p>
        </p:txBody>
      </p:sp>
      <p:sp>
        <p:nvSpPr>
          <p:cNvPr id="8" name="TextBox 7"/>
          <p:cNvSpPr txBox="1"/>
          <p:nvPr/>
        </p:nvSpPr>
        <p:spPr>
          <a:xfrm>
            <a:off x="1524000" y="2985770"/>
            <a:ext cx="9855200" cy="266700"/>
          </a:xfrm>
          <a:prstGeom prst="rect">
            <a:avLst/>
          </a:prstGeom>
          <a:noFill/>
        </p:spPr>
        <p:txBody>
          <a:bodyPr wrap="square" lIns="0" rIns="0" tIns="0" bIns="0" anchor="t"/>
          <a:lstStyle/>
          <a:p>
            <a:pPr>
              <a:lnSpc>
                <a:spcPct val="140000"/>
              </a:lnSpc>
            </a:pPr>
            <a:r>
              <a:rPr sz="1500" b="0">
                <a:solidFill>
                  <a:srgbClr val="F5F3EE"/>
                </a:solidFill>
                <a:latin typeface="Arial"/>
              </a:rPr>
              <a:t>Validation métier des comportements Talend conservés</a:t>
            </a:r>
          </a:p>
        </p:txBody>
      </p:sp>
      <p:sp>
        <p:nvSpPr>
          <p:cNvPr id="9" name="TextBox 8"/>
          <p:cNvSpPr txBox="1"/>
          <p:nvPr/>
        </p:nvSpPr>
        <p:spPr>
          <a:xfrm>
            <a:off x="812800" y="3576320"/>
            <a:ext cx="457200" cy="508000"/>
          </a:xfrm>
          <a:prstGeom prst="rect">
            <a:avLst/>
          </a:prstGeom>
          <a:noFill/>
        </p:spPr>
        <p:txBody>
          <a:bodyPr wrap="square" lIns="0" rIns="0" tIns="0" bIns="0" anchor="t"/>
          <a:lstStyle/>
          <a:p>
            <a:pPr>
              <a:lnSpc>
                <a:spcPct val="125000"/>
              </a:lnSpc>
            </a:pPr>
            <a:r>
              <a:rPr sz="3200" b="1">
                <a:solidFill>
                  <a:srgbClr val="E9A06A"/>
                </a:solidFill>
                <a:latin typeface="Arial"/>
              </a:rPr>
              <a:t>3</a:t>
            </a:r>
          </a:p>
        </p:txBody>
      </p:sp>
      <p:sp>
        <p:nvSpPr>
          <p:cNvPr id="10" name="TextBox 9"/>
          <p:cNvSpPr txBox="1"/>
          <p:nvPr/>
        </p:nvSpPr>
        <p:spPr>
          <a:xfrm>
            <a:off x="1524000" y="3696970"/>
            <a:ext cx="9855200" cy="266700"/>
          </a:xfrm>
          <a:prstGeom prst="rect">
            <a:avLst/>
          </a:prstGeom>
          <a:noFill/>
        </p:spPr>
        <p:txBody>
          <a:bodyPr wrap="square" lIns="0" rIns="0" tIns="0" bIns="0" anchor="t"/>
          <a:lstStyle/>
          <a:p>
            <a:pPr>
              <a:lnSpc>
                <a:spcPct val="140000"/>
              </a:lnSpc>
            </a:pPr>
            <a:r>
              <a:rPr sz="1500" b="0">
                <a:solidFill>
                  <a:srgbClr val="F5F3EE"/>
                </a:solidFill>
                <a:latin typeface="Arial"/>
              </a:rPr>
              <a:t>Validation par l’équipe CI du déploiement des trois fichiers de configuration</a:t>
            </a:r>
          </a:p>
        </p:txBody>
      </p:sp>
      <p:sp>
        <p:nvSpPr>
          <p:cNvPr id="11" name="TextBox 10"/>
          <p:cNvSpPr txBox="1"/>
          <p:nvPr/>
        </p:nvSpPr>
        <p:spPr>
          <a:xfrm>
            <a:off x="812800" y="4287520"/>
            <a:ext cx="457200" cy="508000"/>
          </a:xfrm>
          <a:prstGeom prst="rect">
            <a:avLst/>
          </a:prstGeom>
          <a:noFill/>
        </p:spPr>
        <p:txBody>
          <a:bodyPr wrap="square" lIns="0" rIns="0" tIns="0" bIns="0" anchor="t"/>
          <a:lstStyle/>
          <a:p>
            <a:pPr>
              <a:lnSpc>
                <a:spcPct val="125000"/>
              </a:lnSpc>
            </a:pPr>
            <a:r>
              <a:rPr sz="3200" b="1">
                <a:solidFill>
                  <a:srgbClr val="E9A06A"/>
                </a:solidFill>
                <a:latin typeface="Arial"/>
              </a:rPr>
              <a:t>4</a:t>
            </a:r>
          </a:p>
        </p:txBody>
      </p:sp>
      <p:sp>
        <p:nvSpPr>
          <p:cNvPr id="12" name="TextBox 11"/>
          <p:cNvSpPr txBox="1"/>
          <p:nvPr/>
        </p:nvSpPr>
        <p:spPr>
          <a:xfrm>
            <a:off x="1524000" y="4408170"/>
            <a:ext cx="9855200" cy="266700"/>
          </a:xfrm>
          <a:prstGeom prst="rect">
            <a:avLst/>
          </a:prstGeom>
          <a:noFill/>
        </p:spPr>
        <p:txBody>
          <a:bodyPr wrap="square" lIns="0" rIns="0" tIns="0" bIns="0" anchor="t"/>
          <a:lstStyle/>
          <a:p>
            <a:pPr>
              <a:lnSpc>
                <a:spcPct val="140000"/>
              </a:lnSpc>
            </a:pPr>
            <a:r>
              <a:rPr sz="1500" b="0">
                <a:solidFill>
                  <a:srgbClr val="F5F3EE"/>
                </a:solidFill>
                <a:latin typeface="Arial"/>
              </a:rPr>
              <a:t>COVID : serveur et compte SQL Server renseignés, magasin jceks créé, contrat des procédures obtenu</a:t>
            </a:r>
          </a:p>
        </p:txBody>
      </p:sp>
      <p:sp>
        <p:nvSpPr>
          <p:cNvPr id="13" name="TextBox 12"/>
          <p:cNvSpPr txBox="1"/>
          <p:nvPr/>
        </p:nvSpPr>
        <p:spPr>
          <a:xfrm>
            <a:off x="812800" y="4998720"/>
            <a:ext cx="457200" cy="508000"/>
          </a:xfrm>
          <a:prstGeom prst="rect">
            <a:avLst/>
          </a:prstGeom>
          <a:noFill/>
        </p:spPr>
        <p:txBody>
          <a:bodyPr wrap="square" lIns="0" rIns="0" tIns="0" bIns="0" anchor="t"/>
          <a:lstStyle/>
          <a:p>
            <a:pPr>
              <a:lnSpc>
                <a:spcPct val="125000"/>
              </a:lnSpc>
            </a:pPr>
            <a:r>
              <a:rPr sz="3200" b="1">
                <a:solidFill>
                  <a:srgbClr val="E9A06A"/>
                </a:solidFill>
                <a:latin typeface="Arial"/>
              </a:rPr>
              <a:t>5</a:t>
            </a:r>
          </a:p>
        </p:txBody>
      </p:sp>
      <p:sp>
        <p:nvSpPr>
          <p:cNvPr id="14" name="TextBox 13"/>
          <p:cNvSpPr txBox="1"/>
          <p:nvPr/>
        </p:nvSpPr>
        <p:spPr>
          <a:xfrm>
            <a:off x="1524000" y="5119370"/>
            <a:ext cx="9855200" cy="266700"/>
          </a:xfrm>
          <a:prstGeom prst="rect">
            <a:avLst/>
          </a:prstGeom>
          <a:noFill/>
        </p:spPr>
        <p:txBody>
          <a:bodyPr wrap="square" lIns="0" rIns="0" tIns="0" bIns="0" anchor="t"/>
          <a:lstStyle/>
          <a:p>
            <a:pPr>
              <a:lnSpc>
                <a:spcPct val="140000"/>
              </a:lnSpc>
            </a:pPr>
            <a:r>
              <a:rPr sz="1500" b="0">
                <a:solidFill>
                  <a:srgbClr val="F5F3EE"/>
                </a:solidFill>
                <a:latin typeface="Arial"/>
              </a:rPr>
              <a:t>Bascule en production chaîne par chaîne, une fois la recette validée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